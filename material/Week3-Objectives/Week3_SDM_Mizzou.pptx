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64"/>
  </p:notesMasterIdLst>
  <p:sldIdLst>
    <p:sldId id="434" r:id="rId5"/>
    <p:sldId id="509" r:id="rId6"/>
    <p:sldId id="291" r:id="rId7"/>
    <p:sldId id="436" r:id="rId8"/>
    <p:sldId id="467" r:id="rId9"/>
    <p:sldId id="511" r:id="rId10"/>
    <p:sldId id="512" r:id="rId11"/>
    <p:sldId id="317" r:id="rId12"/>
    <p:sldId id="318" r:id="rId13"/>
    <p:sldId id="465" r:id="rId14"/>
    <p:sldId id="319" r:id="rId15"/>
    <p:sldId id="320" r:id="rId16"/>
    <p:sldId id="321" r:id="rId17"/>
    <p:sldId id="466" r:id="rId18"/>
    <p:sldId id="468" r:id="rId19"/>
    <p:sldId id="469" r:id="rId20"/>
    <p:sldId id="471" r:id="rId21"/>
    <p:sldId id="472" r:id="rId22"/>
    <p:sldId id="507" r:id="rId23"/>
    <p:sldId id="324" r:id="rId24"/>
    <p:sldId id="325" r:id="rId25"/>
    <p:sldId id="474" r:id="rId26"/>
    <p:sldId id="475" r:id="rId27"/>
    <p:sldId id="326" r:id="rId28"/>
    <p:sldId id="476" r:id="rId29"/>
    <p:sldId id="477" r:id="rId30"/>
    <p:sldId id="478" r:id="rId31"/>
    <p:sldId id="479" r:id="rId32"/>
    <p:sldId id="328" r:id="rId33"/>
    <p:sldId id="329" r:id="rId34"/>
    <p:sldId id="330" r:id="rId35"/>
    <p:sldId id="331" r:id="rId36"/>
    <p:sldId id="481" r:id="rId37"/>
    <p:sldId id="482" r:id="rId38"/>
    <p:sldId id="483" r:id="rId39"/>
    <p:sldId id="485" r:id="rId40"/>
    <p:sldId id="484" r:id="rId41"/>
    <p:sldId id="487" r:id="rId42"/>
    <p:sldId id="488" r:id="rId43"/>
    <p:sldId id="495" r:id="rId44"/>
    <p:sldId id="496" r:id="rId45"/>
    <p:sldId id="332" r:id="rId46"/>
    <p:sldId id="498" r:id="rId47"/>
    <p:sldId id="499" r:id="rId48"/>
    <p:sldId id="500" r:id="rId49"/>
    <p:sldId id="333" r:id="rId50"/>
    <p:sldId id="283" r:id="rId51"/>
    <p:sldId id="501" r:id="rId52"/>
    <p:sldId id="502" r:id="rId53"/>
    <p:sldId id="503" r:id="rId54"/>
    <p:sldId id="510" r:id="rId55"/>
    <p:sldId id="452" r:id="rId56"/>
    <p:sldId id="384" r:id="rId57"/>
    <p:sldId id="459" r:id="rId58"/>
    <p:sldId id="497" r:id="rId59"/>
    <p:sldId id="504" r:id="rId60"/>
    <p:sldId id="505" r:id="rId61"/>
    <p:sldId id="506" r:id="rId62"/>
    <p:sldId id="464"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8F8"/>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B8809AF-57EE-46A8-9FFB-5C73D92D8713}" v="310" dt="2025-08-27T21:16:59.9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69" autoAdjust="0"/>
    <p:restoredTop sz="91880" autoAdjust="0"/>
  </p:normalViewPr>
  <p:slideViewPr>
    <p:cSldViewPr snapToGrid="0">
      <p:cViewPr varScale="1">
        <p:scale>
          <a:sx n="99" d="100"/>
          <a:sy n="99" d="100"/>
        </p:scale>
        <p:origin x="108"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notesMaster" Target="notesMasters/notesMaster1.xml"/><Relationship Id="rId69" Type="http://schemas.microsoft.com/office/2016/11/relationships/changesInfo" Target="changesInfos/changesInfo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pson, Brielle" userId="f0ea580a-03ee-4a63-bd84-436803179175" providerId="ADAL" clId="{A8653F06-0B99-4EE0-815C-EAA8C98FAF5D}"/>
    <pc:docChg chg="undo custSel addSld delSld modSld sldOrd">
      <pc:chgData name="Thompson, Brielle" userId="f0ea580a-03ee-4a63-bd84-436803179175" providerId="ADAL" clId="{A8653F06-0B99-4EE0-815C-EAA8C98FAF5D}" dt="2025-08-19T14:02:35.544" v="3161" actId="115"/>
      <pc:docMkLst>
        <pc:docMk/>
      </pc:docMkLst>
      <pc:sldChg chg="add del">
        <pc:chgData name="Thompson, Brielle" userId="f0ea580a-03ee-4a63-bd84-436803179175" providerId="ADAL" clId="{A8653F06-0B99-4EE0-815C-EAA8C98FAF5D}" dt="2025-08-18T20:38:28.781" v="1200" actId="47"/>
        <pc:sldMkLst>
          <pc:docMk/>
          <pc:sldMk cId="0" sldId="271"/>
        </pc:sldMkLst>
      </pc:sldChg>
      <pc:sldChg chg="add del">
        <pc:chgData name="Thompson, Brielle" userId="f0ea580a-03ee-4a63-bd84-436803179175" providerId="ADAL" clId="{A8653F06-0B99-4EE0-815C-EAA8C98FAF5D}" dt="2025-08-18T20:42:15.163" v="1269" actId="47"/>
        <pc:sldMkLst>
          <pc:docMk/>
          <pc:sldMk cId="0" sldId="272"/>
        </pc:sldMkLst>
      </pc:sldChg>
      <pc:sldChg chg="modSp add del mod">
        <pc:chgData name="Thompson, Brielle" userId="f0ea580a-03ee-4a63-bd84-436803179175" providerId="ADAL" clId="{A8653F06-0B99-4EE0-815C-EAA8C98FAF5D}" dt="2025-08-18T20:42:58.466" v="1294" actId="47"/>
        <pc:sldMkLst>
          <pc:docMk/>
          <pc:sldMk cId="0" sldId="273"/>
        </pc:sldMkLst>
      </pc:sldChg>
      <pc:sldChg chg="modSp add del mod">
        <pc:chgData name="Thompson, Brielle" userId="f0ea580a-03ee-4a63-bd84-436803179175" providerId="ADAL" clId="{A8653F06-0B99-4EE0-815C-EAA8C98FAF5D}" dt="2025-08-18T20:44:36.668" v="1316" actId="47"/>
        <pc:sldMkLst>
          <pc:docMk/>
          <pc:sldMk cId="0" sldId="274"/>
        </pc:sldMkLst>
      </pc:sldChg>
      <pc:sldChg chg="modSp add mod">
        <pc:chgData name="Thompson, Brielle" userId="f0ea580a-03ee-4a63-bd84-436803179175" providerId="ADAL" clId="{A8653F06-0B99-4EE0-815C-EAA8C98FAF5D}" dt="2025-08-18T22:23:56.336" v="1900" actId="20577"/>
        <pc:sldMkLst>
          <pc:docMk/>
          <pc:sldMk cId="606874343" sldId="283"/>
        </pc:sldMkLst>
        <pc:spChg chg="mod">
          <ac:chgData name="Thompson, Brielle" userId="f0ea580a-03ee-4a63-bd84-436803179175" providerId="ADAL" clId="{A8653F06-0B99-4EE0-815C-EAA8C98FAF5D}" dt="2025-08-18T22:23:56.336" v="1900" actId="20577"/>
          <ac:spMkLst>
            <pc:docMk/>
            <pc:sldMk cId="606874343" sldId="283"/>
            <ac:spMk id="2" creationId="{C206431B-29EA-A246-A6F7-DF77C71ED6EC}"/>
          </ac:spMkLst>
        </pc:spChg>
      </pc:sldChg>
      <pc:sldChg chg="modSp add mod">
        <pc:chgData name="Thompson, Brielle" userId="f0ea580a-03ee-4a63-bd84-436803179175" providerId="ADAL" clId="{A8653F06-0B99-4EE0-815C-EAA8C98FAF5D}" dt="2025-08-18T17:17:45.949" v="49" actId="313"/>
        <pc:sldMkLst>
          <pc:docMk/>
          <pc:sldMk cId="201371984" sldId="317"/>
        </pc:sldMkLst>
        <pc:spChg chg="mod">
          <ac:chgData name="Thompson, Brielle" userId="f0ea580a-03ee-4a63-bd84-436803179175" providerId="ADAL" clId="{A8653F06-0B99-4EE0-815C-EAA8C98FAF5D}" dt="2025-08-18T17:17:45.949" v="49" actId="313"/>
          <ac:spMkLst>
            <pc:docMk/>
            <pc:sldMk cId="201371984" sldId="317"/>
            <ac:spMk id="3" creationId="{A41088DE-BC8B-5541-8FA1-0906461E1896}"/>
          </ac:spMkLst>
        </pc:spChg>
      </pc:sldChg>
      <pc:sldChg chg="addSp modSp add mod">
        <pc:chgData name="Thompson, Brielle" userId="f0ea580a-03ee-4a63-bd84-436803179175" providerId="ADAL" clId="{A8653F06-0B99-4EE0-815C-EAA8C98FAF5D}" dt="2025-08-18T17:18:38.930" v="67" actId="313"/>
        <pc:sldMkLst>
          <pc:docMk/>
          <pc:sldMk cId="1279739453" sldId="318"/>
        </pc:sldMkLst>
        <pc:spChg chg="add mod">
          <ac:chgData name="Thompson, Brielle" userId="f0ea580a-03ee-4a63-bd84-436803179175" providerId="ADAL" clId="{A8653F06-0B99-4EE0-815C-EAA8C98FAF5D}" dt="2025-08-18T17:18:38.930" v="67" actId="313"/>
          <ac:spMkLst>
            <pc:docMk/>
            <pc:sldMk cId="1279739453" sldId="318"/>
            <ac:spMk id="8" creationId="{09A6E814-A3F2-23D0-3597-B69C234A5022}"/>
          </ac:spMkLst>
        </pc:spChg>
      </pc:sldChg>
      <pc:sldChg chg="add">
        <pc:chgData name="Thompson, Brielle" userId="f0ea580a-03ee-4a63-bd84-436803179175" providerId="ADAL" clId="{A8653F06-0B99-4EE0-815C-EAA8C98FAF5D}" dt="2025-08-18T17:06:18.942" v="0"/>
        <pc:sldMkLst>
          <pc:docMk/>
          <pc:sldMk cId="754799561" sldId="319"/>
        </pc:sldMkLst>
      </pc:sldChg>
      <pc:sldChg chg="add">
        <pc:chgData name="Thompson, Brielle" userId="f0ea580a-03ee-4a63-bd84-436803179175" providerId="ADAL" clId="{A8653F06-0B99-4EE0-815C-EAA8C98FAF5D}" dt="2025-08-18T17:06:18.942" v="0"/>
        <pc:sldMkLst>
          <pc:docMk/>
          <pc:sldMk cId="943169494" sldId="320"/>
        </pc:sldMkLst>
      </pc:sldChg>
      <pc:sldChg chg="addSp delSp modSp add mod modAnim">
        <pc:chgData name="Thompson, Brielle" userId="f0ea580a-03ee-4a63-bd84-436803179175" providerId="ADAL" clId="{A8653F06-0B99-4EE0-815C-EAA8C98FAF5D}" dt="2025-08-18T19:57:21.697" v="576"/>
        <pc:sldMkLst>
          <pc:docMk/>
          <pc:sldMk cId="382481239" sldId="321"/>
        </pc:sldMkLst>
        <pc:spChg chg="ord">
          <ac:chgData name="Thompson, Brielle" userId="f0ea580a-03ee-4a63-bd84-436803179175" providerId="ADAL" clId="{A8653F06-0B99-4EE0-815C-EAA8C98FAF5D}" dt="2025-08-18T19:56:21.355" v="560" actId="167"/>
          <ac:spMkLst>
            <pc:docMk/>
            <pc:sldMk cId="382481239" sldId="321"/>
            <ac:spMk id="9" creationId="{2F366992-F516-7FE4-2B93-015999141ADD}"/>
          </ac:spMkLst>
        </pc:spChg>
        <pc:spChg chg="add mod">
          <ac:chgData name="Thompson, Brielle" userId="f0ea580a-03ee-4a63-bd84-436803179175" providerId="ADAL" clId="{A8653F06-0B99-4EE0-815C-EAA8C98FAF5D}" dt="2025-08-18T19:57:10.793" v="575" actId="1076"/>
          <ac:spMkLst>
            <pc:docMk/>
            <pc:sldMk cId="382481239" sldId="321"/>
            <ac:spMk id="14" creationId="{42E77B37-8E24-ADB5-9090-71A18391FBAB}"/>
          </ac:spMkLst>
        </pc:spChg>
        <pc:spChg chg="add mod">
          <ac:chgData name="Thompson, Brielle" userId="f0ea580a-03ee-4a63-bd84-436803179175" providerId="ADAL" clId="{A8653F06-0B99-4EE0-815C-EAA8C98FAF5D}" dt="2025-08-18T19:56:35.512" v="564" actId="207"/>
          <ac:spMkLst>
            <pc:docMk/>
            <pc:sldMk cId="382481239" sldId="321"/>
            <ac:spMk id="16" creationId="{00D08980-E15D-FE83-8138-EF6C7237D7AF}"/>
          </ac:spMkLst>
        </pc:spChg>
      </pc:sldChg>
      <pc:sldChg chg="add del">
        <pc:chgData name="Thompson, Brielle" userId="f0ea580a-03ee-4a63-bd84-436803179175" providerId="ADAL" clId="{A8653F06-0B99-4EE0-815C-EAA8C98FAF5D}" dt="2025-08-18T20:08:10.336" v="763" actId="47"/>
        <pc:sldMkLst>
          <pc:docMk/>
          <pc:sldMk cId="3594457772" sldId="323"/>
        </pc:sldMkLst>
      </pc:sldChg>
      <pc:sldChg chg="addSp delSp modSp add mod">
        <pc:chgData name="Thompson, Brielle" userId="f0ea580a-03ee-4a63-bd84-436803179175" providerId="ADAL" clId="{A8653F06-0B99-4EE0-815C-EAA8C98FAF5D}" dt="2025-08-19T14:01:56.602" v="3156" actId="20577"/>
        <pc:sldMkLst>
          <pc:docMk/>
          <pc:sldMk cId="343525391" sldId="324"/>
        </pc:sldMkLst>
        <pc:spChg chg="add mod">
          <ac:chgData name="Thompson, Brielle" userId="f0ea580a-03ee-4a63-bd84-436803179175" providerId="ADAL" clId="{A8653F06-0B99-4EE0-815C-EAA8C98FAF5D}" dt="2025-08-19T14:01:56.602" v="3156" actId="20577"/>
          <ac:spMkLst>
            <pc:docMk/>
            <pc:sldMk cId="343525391" sldId="324"/>
            <ac:spMk id="9" creationId="{90980E55-8ED0-B0DF-B01E-07511DF952BC}"/>
          </ac:spMkLst>
        </pc:spChg>
      </pc:sldChg>
      <pc:sldChg chg="addSp delSp modSp add mod">
        <pc:chgData name="Thompson, Brielle" userId="f0ea580a-03ee-4a63-bd84-436803179175" providerId="ADAL" clId="{A8653F06-0B99-4EE0-815C-EAA8C98FAF5D}" dt="2025-08-18T20:25:22.543" v="1012" actId="20577"/>
        <pc:sldMkLst>
          <pc:docMk/>
          <pc:sldMk cId="2100928310" sldId="325"/>
        </pc:sldMkLst>
        <pc:spChg chg="add mod">
          <ac:chgData name="Thompson, Brielle" userId="f0ea580a-03ee-4a63-bd84-436803179175" providerId="ADAL" clId="{A8653F06-0B99-4EE0-815C-EAA8C98FAF5D}" dt="2025-08-18T20:25:22.543" v="1012" actId="20577"/>
          <ac:spMkLst>
            <pc:docMk/>
            <pc:sldMk cId="2100928310" sldId="325"/>
            <ac:spMk id="8" creationId="{0BDA7182-07E4-8B7C-E809-9B8FE8267057}"/>
          </ac:spMkLst>
        </pc:spChg>
      </pc:sldChg>
      <pc:sldChg chg="addSp delSp modSp add mod">
        <pc:chgData name="Thompson, Brielle" userId="f0ea580a-03ee-4a63-bd84-436803179175" providerId="ADAL" clId="{A8653F06-0B99-4EE0-815C-EAA8C98FAF5D}" dt="2025-08-18T20:36:40.258" v="1180" actId="20577"/>
        <pc:sldMkLst>
          <pc:docMk/>
          <pc:sldMk cId="211886428" sldId="326"/>
        </pc:sldMkLst>
        <pc:spChg chg="mod">
          <ac:chgData name="Thompson, Brielle" userId="f0ea580a-03ee-4a63-bd84-436803179175" providerId="ADAL" clId="{A8653F06-0B99-4EE0-815C-EAA8C98FAF5D}" dt="2025-08-18T20:36:40.258" v="1180" actId="20577"/>
          <ac:spMkLst>
            <pc:docMk/>
            <pc:sldMk cId="211886428" sldId="326"/>
            <ac:spMk id="2" creationId="{D7F7711D-537C-9634-4887-F79EF0217D7F}"/>
          </ac:spMkLst>
        </pc:spChg>
        <pc:spChg chg="add mod">
          <ac:chgData name="Thompson, Brielle" userId="f0ea580a-03ee-4a63-bd84-436803179175" providerId="ADAL" clId="{A8653F06-0B99-4EE0-815C-EAA8C98FAF5D}" dt="2025-08-18T20:04:39.669" v="759"/>
          <ac:spMkLst>
            <pc:docMk/>
            <pc:sldMk cId="211886428" sldId="326"/>
            <ac:spMk id="7" creationId="{D77F982F-75AC-FCB1-FAA7-E44FE4765BC8}"/>
          </ac:spMkLst>
        </pc:spChg>
      </pc:sldChg>
      <pc:sldChg chg="modSp add del mod ord">
        <pc:chgData name="Thompson, Brielle" userId="f0ea580a-03ee-4a63-bd84-436803179175" providerId="ADAL" clId="{A8653F06-0B99-4EE0-815C-EAA8C98FAF5D}" dt="2025-08-18T22:18:00.187" v="1793" actId="47"/>
        <pc:sldMkLst>
          <pc:docMk/>
          <pc:sldMk cId="0" sldId="327"/>
        </pc:sldMkLst>
      </pc:sldChg>
      <pc:sldChg chg="addSp modSp add mod">
        <pc:chgData name="Thompson, Brielle" userId="f0ea580a-03ee-4a63-bd84-436803179175" providerId="ADAL" clId="{A8653F06-0B99-4EE0-815C-EAA8C98FAF5D}" dt="2025-08-18T20:44:43.052" v="1318" actId="20577"/>
        <pc:sldMkLst>
          <pc:docMk/>
          <pc:sldMk cId="2283546291" sldId="328"/>
        </pc:sldMkLst>
        <pc:spChg chg="add mod">
          <ac:chgData name="Thompson, Brielle" userId="f0ea580a-03ee-4a63-bd84-436803179175" providerId="ADAL" clId="{A8653F06-0B99-4EE0-815C-EAA8C98FAF5D}" dt="2025-08-18T20:04:46.669" v="760"/>
          <ac:spMkLst>
            <pc:docMk/>
            <pc:sldMk cId="2283546291" sldId="328"/>
            <ac:spMk id="3" creationId="{2F3B4C70-1B37-0429-6DA8-51675AA37D5A}"/>
          </ac:spMkLst>
        </pc:spChg>
        <pc:spChg chg="mod">
          <ac:chgData name="Thompson, Brielle" userId="f0ea580a-03ee-4a63-bd84-436803179175" providerId="ADAL" clId="{A8653F06-0B99-4EE0-815C-EAA8C98FAF5D}" dt="2025-08-18T20:44:43.052" v="1318" actId="20577"/>
          <ac:spMkLst>
            <pc:docMk/>
            <pc:sldMk cId="2283546291" sldId="328"/>
            <ac:spMk id="5" creationId="{93E9D839-E905-C3B1-0473-27EC5A3D1FCD}"/>
          </ac:spMkLst>
        </pc:spChg>
      </pc:sldChg>
      <pc:sldChg chg="addSp modSp add mod">
        <pc:chgData name="Thompson, Brielle" userId="f0ea580a-03ee-4a63-bd84-436803179175" providerId="ADAL" clId="{A8653F06-0B99-4EE0-815C-EAA8C98FAF5D}" dt="2025-08-18T20:45:19.485" v="1346" actId="20577"/>
        <pc:sldMkLst>
          <pc:docMk/>
          <pc:sldMk cId="368993062" sldId="329"/>
        </pc:sldMkLst>
        <pc:spChg chg="add mod">
          <ac:chgData name="Thompson, Brielle" userId="f0ea580a-03ee-4a63-bd84-436803179175" providerId="ADAL" clId="{A8653F06-0B99-4EE0-815C-EAA8C98FAF5D}" dt="2025-08-18T20:45:19.485" v="1346" actId="20577"/>
          <ac:spMkLst>
            <pc:docMk/>
            <pc:sldMk cId="368993062" sldId="329"/>
            <ac:spMk id="3" creationId="{06D5D7E5-F091-B5BD-5A93-2AB4D9B277E6}"/>
          </ac:spMkLst>
        </pc:spChg>
        <pc:spChg chg="mod">
          <ac:chgData name="Thompson, Brielle" userId="f0ea580a-03ee-4a63-bd84-436803179175" providerId="ADAL" clId="{A8653F06-0B99-4EE0-815C-EAA8C98FAF5D}" dt="2025-08-18T20:44:47.165" v="1320" actId="20577"/>
          <ac:spMkLst>
            <pc:docMk/>
            <pc:sldMk cId="368993062" sldId="329"/>
            <ac:spMk id="9" creationId="{D7E0AA0D-2769-374B-F047-D918C15374E7}"/>
          </ac:spMkLst>
        </pc:spChg>
      </pc:sldChg>
      <pc:sldChg chg="addSp modSp add mod">
        <pc:chgData name="Thompson, Brielle" userId="f0ea580a-03ee-4a63-bd84-436803179175" providerId="ADAL" clId="{A8653F06-0B99-4EE0-815C-EAA8C98FAF5D}" dt="2025-08-18T20:45:31.728" v="1349"/>
        <pc:sldMkLst>
          <pc:docMk/>
          <pc:sldMk cId="2429975983" sldId="330"/>
        </pc:sldMkLst>
        <pc:spChg chg="add mod">
          <ac:chgData name="Thompson, Brielle" userId="f0ea580a-03ee-4a63-bd84-436803179175" providerId="ADAL" clId="{A8653F06-0B99-4EE0-815C-EAA8C98FAF5D}" dt="2025-08-18T20:45:31.728" v="1349"/>
          <ac:spMkLst>
            <pc:docMk/>
            <pc:sldMk cId="2429975983" sldId="330"/>
            <ac:spMk id="3" creationId="{D4A32DEF-3668-1504-5943-4E6C3142A358}"/>
          </ac:spMkLst>
        </pc:spChg>
        <pc:spChg chg="mod">
          <ac:chgData name="Thompson, Brielle" userId="f0ea580a-03ee-4a63-bd84-436803179175" providerId="ADAL" clId="{A8653F06-0B99-4EE0-815C-EAA8C98FAF5D}" dt="2025-08-18T20:45:29.928" v="1348" actId="20577"/>
          <ac:spMkLst>
            <pc:docMk/>
            <pc:sldMk cId="2429975983" sldId="330"/>
            <ac:spMk id="10" creationId="{7F732C5E-A823-E684-4E67-AD1E0ABC133B}"/>
          </ac:spMkLst>
        </pc:spChg>
      </pc:sldChg>
      <pc:sldChg chg="modSp add mod">
        <pc:chgData name="Thompson, Brielle" userId="f0ea580a-03ee-4a63-bd84-436803179175" providerId="ADAL" clId="{A8653F06-0B99-4EE0-815C-EAA8C98FAF5D}" dt="2025-08-18T21:06:46.881" v="1449" actId="1076"/>
        <pc:sldMkLst>
          <pc:docMk/>
          <pc:sldMk cId="2662060584" sldId="331"/>
        </pc:sldMkLst>
        <pc:spChg chg="mod">
          <ac:chgData name="Thompson, Brielle" userId="f0ea580a-03ee-4a63-bd84-436803179175" providerId="ADAL" clId="{A8653F06-0B99-4EE0-815C-EAA8C98FAF5D}" dt="2025-08-18T21:06:46.881" v="1449" actId="1076"/>
          <ac:spMkLst>
            <pc:docMk/>
            <pc:sldMk cId="2662060584" sldId="331"/>
            <ac:spMk id="36" creationId="{1025E34F-AB6E-DB9A-079E-74CAE3F9474F}"/>
          </ac:spMkLst>
        </pc:spChg>
      </pc:sldChg>
      <pc:sldChg chg="addSp modSp add mod modAnim">
        <pc:chgData name="Thompson, Brielle" userId="f0ea580a-03ee-4a63-bd84-436803179175" providerId="ADAL" clId="{A8653F06-0B99-4EE0-815C-EAA8C98FAF5D}" dt="2025-08-18T22:23:00.920" v="1888"/>
        <pc:sldMkLst>
          <pc:docMk/>
          <pc:sldMk cId="30920658" sldId="332"/>
        </pc:sldMkLst>
        <pc:spChg chg="mod">
          <ac:chgData name="Thompson, Brielle" userId="f0ea580a-03ee-4a63-bd84-436803179175" providerId="ADAL" clId="{A8653F06-0B99-4EE0-815C-EAA8C98FAF5D}" dt="2025-08-18T21:16:02.783" v="1647" actId="113"/>
          <ac:spMkLst>
            <pc:docMk/>
            <pc:sldMk cId="30920658" sldId="332"/>
            <ac:spMk id="2" creationId="{6CD6B5E5-18AB-4966-B36A-2254E0DAD242}"/>
          </ac:spMkLst>
        </pc:spChg>
        <pc:spChg chg="add mod">
          <ac:chgData name="Thompson, Brielle" userId="f0ea580a-03ee-4a63-bd84-436803179175" providerId="ADAL" clId="{A8653F06-0B99-4EE0-815C-EAA8C98FAF5D}" dt="2025-08-18T22:22:17.531" v="1882" actId="14100"/>
          <ac:spMkLst>
            <pc:docMk/>
            <pc:sldMk cId="30920658" sldId="332"/>
            <ac:spMk id="5" creationId="{2634D187-49EB-1C8D-D649-D8B1A11EA7C5}"/>
          </ac:spMkLst>
        </pc:spChg>
      </pc:sldChg>
      <pc:sldChg chg="modSp add mod">
        <pc:chgData name="Thompson, Brielle" userId="f0ea580a-03ee-4a63-bd84-436803179175" providerId="ADAL" clId="{A8653F06-0B99-4EE0-815C-EAA8C98FAF5D}" dt="2025-08-18T22:35:23.982" v="2016" actId="20577"/>
        <pc:sldMkLst>
          <pc:docMk/>
          <pc:sldMk cId="2398906164" sldId="333"/>
        </pc:sldMkLst>
        <pc:spChg chg="mod">
          <ac:chgData name="Thompson, Brielle" userId="f0ea580a-03ee-4a63-bd84-436803179175" providerId="ADAL" clId="{A8653F06-0B99-4EE0-815C-EAA8C98FAF5D}" dt="2025-08-18T22:35:23.982" v="2016" actId="20577"/>
          <ac:spMkLst>
            <pc:docMk/>
            <pc:sldMk cId="2398906164" sldId="333"/>
            <ac:spMk id="13" creationId="{C4EA2A06-96D1-5854-EF2F-842EA8227DC2}"/>
          </ac:spMkLst>
        </pc:spChg>
      </pc:sldChg>
      <pc:sldChg chg="modSp add del mod">
        <pc:chgData name="Thompson, Brielle" userId="f0ea580a-03ee-4a63-bd84-436803179175" providerId="ADAL" clId="{A8653F06-0B99-4EE0-815C-EAA8C98FAF5D}" dt="2025-08-18T22:41:51.470" v="2347" actId="47"/>
        <pc:sldMkLst>
          <pc:docMk/>
          <pc:sldMk cId="0" sldId="338"/>
        </pc:sldMkLst>
      </pc:sldChg>
      <pc:sldChg chg="add del">
        <pc:chgData name="Thompson, Brielle" userId="f0ea580a-03ee-4a63-bd84-436803179175" providerId="ADAL" clId="{A8653F06-0B99-4EE0-815C-EAA8C98FAF5D}" dt="2025-08-18T21:18:43.359" v="1667" actId="47"/>
        <pc:sldMkLst>
          <pc:docMk/>
          <pc:sldMk cId="2084462249" sldId="339"/>
        </pc:sldMkLst>
      </pc:sldChg>
      <pc:sldChg chg="add del">
        <pc:chgData name="Thompson, Brielle" userId="f0ea580a-03ee-4a63-bd84-436803179175" providerId="ADAL" clId="{A8653F06-0B99-4EE0-815C-EAA8C98FAF5D}" dt="2025-08-18T21:18:39.718" v="1666" actId="47"/>
        <pc:sldMkLst>
          <pc:docMk/>
          <pc:sldMk cId="3574892176" sldId="340"/>
        </pc:sldMkLst>
      </pc:sldChg>
      <pc:sldChg chg="add del">
        <pc:chgData name="Thompson, Brielle" userId="f0ea580a-03ee-4a63-bd84-436803179175" providerId="ADAL" clId="{A8653F06-0B99-4EE0-815C-EAA8C98FAF5D}" dt="2025-08-18T22:39:53.194" v="2311" actId="47"/>
        <pc:sldMkLst>
          <pc:docMk/>
          <pc:sldMk cId="0" sldId="341"/>
        </pc:sldMkLst>
      </pc:sldChg>
      <pc:sldChg chg="add del">
        <pc:chgData name="Thompson, Brielle" userId="f0ea580a-03ee-4a63-bd84-436803179175" providerId="ADAL" clId="{A8653F06-0B99-4EE0-815C-EAA8C98FAF5D}" dt="2025-08-18T21:18:46.719" v="1668" actId="47"/>
        <pc:sldMkLst>
          <pc:docMk/>
          <pc:sldMk cId="1423802778" sldId="341"/>
        </pc:sldMkLst>
      </pc:sldChg>
      <pc:sldChg chg="add del">
        <pc:chgData name="Thompson, Brielle" userId="f0ea580a-03ee-4a63-bd84-436803179175" providerId="ADAL" clId="{A8653F06-0B99-4EE0-815C-EAA8C98FAF5D}" dt="2025-08-18T22:24:20.880" v="1902" actId="47"/>
        <pc:sldMkLst>
          <pc:docMk/>
          <pc:sldMk cId="0" sldId="349"/>
        </pc:sldMkLst>
      </pc:sldChg>
      <pc:sldChg chg="modSp add del mod ord">
        <pc:chgData name="Thompson, Brielle" userId="f0ea580a-03ee-4a63-bd84-436803179175" providerId="ADAL" clId="{A8653F06-0B99-4EE0-815C-EAA8C98FAF5D}" dt="2025-08-18T22:35:02.687" v="1998" actId="47"/>
        <pc:sldMkLst>
          <pc:docMk/>
          <pc:sldMk cId="0" sldId="350"/>
        </pc:sldMkLst>
      </pc:sldChg>
      <pc:sldChg chg="modSp add del mod ord">
        <pc:chgData name="Thompson, Brielle" userId="f0ea580a-03ee-4a63-bd84-436803179175" providerId="ADAL" clId="{A8653F06-0B99-4EE0-815C-EAA8C98FAF5D}" dt="2025-08-18T22:16:04.441" v="1785" actId="47"/>
        <pc:sldMkLst>
          <pc:docMk/>
          <pc:sldMk cId="0" sldId="373"/>
        </pc:sldMkLst>
      </pc:sldChg>
      <pc:sldChg chg="add del">
        <pc:chgData name="Thompson, Brielle" userId="f0ea580a-03ee-4a63-bd84-436803179175" providerId="ADAL" clId="{A8653F06-0B99-4EE0-815C-EAA8C98FAF5D}" dt="2025-08-18T22:24:36.563" v="1909" actId="47"/>
        <pc:sldMkLst>
          <pc:docMk/>
          <pc:sldMk cId="0" sldId="374"/>
        </pc:sldMkLst>
      </pc:sldChg>
      <pc:sldChg chg="modSp add del mod">
        <pc:chgData name="Thompson, Brielle" userId="f0ea580a-03ee-4a63-bd84-436803179175" providerId="ADAL" clId="{A8653F06-0B99-4EE0-815C-EAA8C98FAF5D}" dt="2025-08-18T22:43:09.549" v="2456" actId="47"/>
        <pc:sldMkLst>
          <pc:docMk/>
          <pc:sldMk cId="0" sldId="376"/>
        </pc:sldMkLst>
      </pc:sldChg>
      <pc:sldChg chg="add del">
        <pc:chgData name="Thompson, Brielle" userId="f0ea580a-03ee-4a63-bd84-436803179175" providerId="ADAL" clId="{A8653F06-0B99-4EE0-815C-EAA8C98FAF5D}" dt="2025-08-18T22:24:41.240" v="1910" actId="47"/>
        <pc:sldMkLst>
          <pc:docMk/>
          <pc:sldMk cId="2481012355" sldId="383"/>
        </pc:sldMkLst>
      </pc:sldChg>
      <pc:sldChg chg="modSp add del mod">
        <pc:chgData name="Thompson, Brielle" userId="f0ea580a-03ee-4a63-bd84-436803179175" providerId="ADAL" clId="{A8653F06-0B99-4EE0-815C-EAA8C98FAF5D}" dt="2025-08-18T21:16:46.475" v="1664" actId="47"/>
        <pc:sldMkLst>
          <pc:docMk/>
          <pc:sldMk cId="2371150064" sldId="385"/>
        </pc:sldMkLst>
      </pc:sldChg>
      <pc:sldChg chg="modSp add del mod">
        <pc:chgData name="Thompson, Brielle" userId="f0ea580a-03ee-4a63-bd84-436803179175" providerId="ADAL" clId="{A8653F06-0B99-4EE0-815C-EAA8C98FAF5D}" dt="2025-08-18T22:40:43.209" v="2313" actId="47"/>
        <pc:sldMkLst>
          <pc:docMk/>
          <pc:sldMk cId="1908182355" sldId="404"/>
        </pc:sldMkLst>
      </pc:sldChg>
      <pc:sldChg chg="modSp add mod">
        <pc:chgData name="Thompson, Brielle" userId="f0ea580a-03ee-4a63-bd84-436803179175" providerId="ADAL" clId="{A8653F06-0B99-4EE0-815C-EAA8C98FAF5D}" dt="2025-08-18T22:43:03.074" v="2455" actId="1076"/>
        <pc:sldMkLst>
          <pc:docMk/>
          <pc:sldMk cId="3247257364" sldId="435"/>
        </pc:sldMkLst>
      </pc:sldChg>
      <pc:sldChg chg="modSp add mod setBg">
        <pc:chgData name="Thompson, Brielle" userId="f0ea580a-03ee-4a63-bd84-436803179175" providerId="ADAL" clId="{A8653F06-0B99-4EE0-815C-EAA8C98FAF5D}" dt="2025-08-18T19:59:01.695" v="585" actId="20577"/>
        <pc:sldMkLst>
          <pc:docMk/>
          <pc:sldMk cId="1238645798" sldId="436"/>
        </pc:sldMkLst>
        <pc:spChg chg="mod">
          <ac:chgData name="Thompson, Brielle" userId="f0ea580a-03ee-4a63-bd84-436803179175" providerId="ADAL" clId="{A8653F06-0B99-4EE0-815C-EAA8C98FAF5D}" dt="2025-08-18T19:59:01.695" v="585" actId="20577"/>
          <ac:spMkLst>
            <pc:docMk/>
            <pc:sldMk cId="1238645798" sldId="436"/>
            <ac:spMk id="6" creationId="{FFF1FE7A-91EC-86CE-B4B6-381DAE00F597}"/>
          </ac:spMkLst>
        </pc:spChg>
      </pc:sldChg>
      <pc:sldChg chg="modSp mod">
        <pc:chgData name="Thompson, Brielle" userId="f0ea580a-03ee-4a63-bd84-436803179175" providerId="ADAL" clId="{A8653F06-0B99-4EE0-815C-EAA8C98FAF5D}" dt="2025-08-18T23:23:28.695" v="3049" actId="404"/>
        <pc:sldMkLst>
          <pc:docMk/>
          <pc:sldMk cId="3019933041" sldId="459"/>
        </pc:sldMkLst>
        <pc:spChg chg="mod">
          <ac:chgData name="Thompson, Brielle" userId="f0ea580a-03ee-4a63-bd84-436803179175" providerId="ADAL" clId="{A8653F06-0B99-4EE0-815C-EAA8C98FAF5D}" dt="2025-08-18T23:23:28.695" v="3049" actId="404"/>
          <ac:spMkLst>
            <pc:docMk/>
            <pc:sldMk cId="3019933041" sldId="459"/>
            <ac:spMk id="2" creationId="{137ED602-EC27-67AB-41A7-EA2E6E2F1A3F}"/>
          </ac:spMkLst>
        </pc:spChg>
        <pc:spChg chg="mod">
          <ac:chgData name="Thompson, Brielle" userId="f0ea580a-03ee-4a63-bd84-436803179175" providerId="ADAL" clId="{A8653F06-0B99-4EE0-815C-EAA8C98FAF5D}" dt="2025-08-18T23:22:44.452" v="3013" actId="33524"/>
          <ac:spMkLst>
            <pc:docMk/>
            <pc:sldMk cId="3019933041" sldId="459"/>
            <ac:spMk id="3" creationId="{532F6CCB-9497-D52A-E563-EA564D079580}"/>
          </ac:spMkLst>
        </pc:spChg>
      </pc:sldChg>
      <pc:sldChg chg="modSp del mod ord">
        <pc:chgData name="Thompson, Brielle" userId="f0ea580a-03ee-4a63-bd84-436803179175" providerId="ADAL" clId="{A8653F06-0B99-4EE0-815C-EAA8C98FAF5D}" dt="2025-08-18T19:45:59.001" v="88" actId="47"/>
        <pc:sldMkLst>
          <pc:docMk/>
          <pc:sldMk cId="2448043726" sldId="460"/>
        </pc:sldMkLst>
      </pc:sldChg>
      <pc:sldChg chg="del">
        <pc:chgData name="Thompson, Brielle" userId="f0ea580a-03ee-4a63-bd84-436803179175" providerId="ADAL" clId="{A8653F06-0B99-4EE0-815C-EAA8C98FAF5D}" dt="2025-08-18T21:18:49.813" v="1669" actId="47"/>
        <pc:sldMkLst>
          <pc:docMk/>
          <pc:sldMk cId="1888484659" sldId="461"/>
        </pc:sldMkLst>
      </pc:sldChg>
      <pc:sldChg chg="del">
        <pc:chgData name="Thompson, Brielle" userId="f0ea580a-03ee-4a63-bd84-436803179175" providerId="ADAL" clId="{A8653F06-0B99-4EE0-815C-EAA8C98FAF5D}" dt="2025-08-18T21:18:53.085" v="1670" actId="47"/>
        <pc:sldMkLst>
          <pc:docMk/>
          <pc:sldMk cId="418225438" sldId="462"/>
        </pc:sldMkLst>
      </pc:sldChg>
      <pc:sldChg chg="del">
        <pc:chgData name="Thompson, Brielle" userId="f0ea580a-03ee-4a63-bd84-436803179175" providerId="ADAL" clId="{A8653F06-0B99-4EE0-815C-EAA8C98FAF5D}" dt="2025-08-18T21:18:53.898" v="1671" actId="47"/>
        <pc:sldMkLst>
          <pc:docMk/>
          <pc:sldMk cId="4221440965" sldId="463"/>
        </pc:sldMkLst>
      </pc:sldChg>
      <pc:sldChg chg="addSp modSp mod ord">
        <pc:chgData name="Thompson, Brielle" userId="f0ea580a-03ee-4a63-bd84-436803179175" providerId="ADAL" clId="{A8653F06-0B99-4EE0-815C-EAA8C98FAF5D}" dt="2025-08-18T23:24:44.954" v="3053" actId="20577"/>
        <pc:sldMkLst>
          <pc:docMk/>
          <pc:sldMk cId="342380599" sldId="464"/>
        </pc:sldMkLst>
        <pc:spChg chg="add mod">
          <ac:chgData name="Thompson, Brielle" userId="f0ea580a-03ee-4a63-bd84-436803179175" providerId="ADAL" clId="{A8653F06-0B99-4EE0-815C-EAA8C98FAF5D}" dt="2025-08-18T23:24:44.954" v="3053" actId="20577"/>
          <ac:spMkLst>
            <pc:docMk/>
            <pc:sldMk cId="342380599" sldId="464"/>
            <ac:spMk id="3" creationId="{C8A118F7-5447-E6FF-2019-B7976571F66A}"/>
          </ac:spMkLst>
        </pc:spChg>
        <pc:picChg chg="mod">
          <ac:chgData name="Thompson, Brielle" userId="f0ea580a-03ee-4a63-bd84-436803179175" providerId="ADAL" clId="{A8653F06-0B99-4EE0-815C-EAA8C98FAF5D}" dt="2025-08-18T21:19:01.906" v="1673" actId="1076"/>
          <ac:picMkLst>
            <pc:docMk/>
            <pc:sldMk cId="342380599" sldId="464"/>
            <ac:picMk id="5" creationId="{6106EBAA-0570-C401-E020-6608718B3820}"/>
          </ac:picMkLst>
        </pc:picChg>
      </pc:sldChg>
      <pc:sldChg chg="addSp delSp modSp add mod">
        <pc:chgData name="Thompson, Brielle" userId="f0ea580a-03ee-4a63-bd84-436803179175" providerId="ADAL" clId="{A8653F06-0B99-4EE0-815C-EAA8C98FAF5D}" dt="2025-08-18T19:45:56.503" v="87" actId="22"/>
        <pc:sldMkLst>
          <pc:docMk/>
          <pc:sldMk cId="645106111" sldId="465"/>
        </pc:sldMkLst>
      </pc:sldChg>
      <pc:sldChg chg="addSp delSp modSp new mod modAnim">
        <pc:chgData name="Thompson, Brielle" userId="f0ea580a-03ee-4a63-bd84-436803179175" providerId="ADAL" clId="{A8653F06-0B99-4EE0-815C-EAA8C98FAF5D}" dt="2025-08-19T14:01:28.073" v="3152"/>
        <pc:sldMkLst>
          <pc:docMk/>
          <pc:sldMk cId="2111722268" sldId="466"/>
        </pc:sldMkLst>
        <pc:spChg chg="mod">
          <ac:chgData name="Thompson, Brielle" userId="f0ea580a-03ee-4a63-bd84-436803179175" providerId="ADAL" clId="{A8653F06-0B99-4EE0-815C-EAA8C98FAF5D}" dt="2025-08-18T19:48:29.923" v="190" actId="1076"/>
          <ac:spMkLst>
            <pc:docMk/>
            <pc:sldMk cId="2111722268" sldId="466"/>
            <ac:spMk id="2" creationId="{24930FBC-AFDF-89BE-E219-EA67919D535E}"/>
          </ac:spMkLst>
        </pc:spChg>
        <pc:spChg chg="add del mod">
          <ac:chgData name="Thompson, Brielle" userId="f0ea580a-03ee-4a63-bd84-436803179175" providerId="ADAL" clId="{A8653F06-0B99-4EE0-815C-EAA8C98FAF5D}" dt="2025-08-18T19:49:02.139" v="225" actId="113"/>
          <ac:spMkLst>
            <pc:docMk/>
            <pc:sldMk cId="2111722268" sldId="466"/>
            <ac:spMk id="3" creationId="{52E0E5DB-C787-DC97-F223-71575521C240}"/>
          </ac:spMkLst>
        </pc:spChg>
        <pc:picChg chg="add mod">
          <ac:chgData name="Thompson, Brielle" userId="f0ea580a-03ee-4a63-bd84-436803179175" providerId="ADAL" clId="{A8653F06-0B99-4EE0-815C-EAA8C98FAF5D}" dt="2025-08-18T19:48:43.812" v="197" actId="1076"/>
          <ac:picMkLst>
            <pc:docMk/>
            <pc:sldMk cId="2111722268" sldId="466"/>
            <ac:picMk id="7" creationId="{943050C7-6805-762B-5434-6D5A515A7DC2}"/>
          </ac:picMkLst>
        </pc:picChg>
        <pc:picChg chg="add mod">
          <ac:chgData name="Thompson, Brielle" userId="f0ea580a-03ee-4a63-bd84-436803179175" providerId="ADAL" clId="{A8653F06-0B99-4EE0-815C-EAA8C98FAF5D}" dt="2025-08-18T19:48:40.967" v="196" actId="1076"/>
          <ac:picMkLst>
            <pc:docMk/>
            <pc:sldMk cId="2111722268" sldId="466"/>
            <ac:picMk id="9" creationId="{75050A4B-9D30-54B6-E7C8-7E6907402EB5}"/>
          </ac:picMkLst>
        </pc:picChg>
        <pc:picChg chg="add mod">
          <ac:chgData name="Thompson, Brielle" userId="f0ea580a-03ee-4a63-bd84-436803179175" providerId="ADAL" clId="{A8653F06-0B99-4EE0-815C-EAA8C98FAF5D}" dt="2025-08-18T19:48:39.272" v="195" actId="1076"/>
          <ac:picMkLst>
            <pc:docMk/>
            <pc:sldMk cId="2111722268" sldId="466"/>
            <ac:picMk id="11" creationId="{442F26FE-3099-6EB2-0384-CC729F8EC4DA}"/>
          </ac:picMkLst>
        </pc:picChg>
      </pc:sldChg>
      <pc:sldChg chg="addSp modSp add mod modAnim">
        <pc:chgData name="Thompson, Brielle" userId="f0ea580a-03ee-4a63-bd84-436803179175" providerId="ADAL" clId="{A8653F06-0B99-4EE0-815C-EAA8C98FAF5D}" dt="2025-08-18T20:02:04.415" v="713"/>
        <pc:sldMkLst>
          <pc:docMk/>
          <pc:sldMk cId="2340138798" sldId="467"/>
        </pc:sldMkLst>
        <pc:spChg chg="mod">
          <ac:chgData name="Thompson, Brielle" userId="f0ea580a-03ee-4a63-bd84-436803179175" providerId="ADAL" clId="{A8653F06-0B99-4EE0-815C-EAA8C98FAF5D}" dt="2025-08-18T20:01:18.961" v="661" actId="20577"/>
          <ac:spMkLst>
            <pc:docMk/>
            <pc:sldMk cId="2340138798" sldId="467"/>
            <ac:spMk id="2" creationId="{1B69CB12-5CDF-5926-D2ED-FAACDB1D6F02}"/>
          </ac:spMkLst>
        </pc:spChg>
        <pc:spChg chg="mod">
          <ac:chgData name="Thompson, Brielle" userId="f0ea580a-03ee-4a63-bd84-436803179175" providerId="ADAL" clId="{A8653F06-0B99-4EE0-815C-EAA8C98FAF5D}" dt="2025-08-18T20:00:21.387" v="629" actId="1076"/>
          <ac:spMkLst>
            <pc:docMk/>
            <pc:sldMk cId="2340138798" sldId="467"/>
            <ac:spMk id="5" creationId="{A7C66E89-2507-E9F9-9309-88BA3EB35ECE}"/>
          </ac:spMkLst>
        </pc:spChg>
        <pc:spChg chg="add mod">
          <ac:chgData name="Thompson, Brielle" userId="f0ea580a-03ee-4a63-bd84-436803179175" providerId="ADAL" clId="{A8653F06-0B99-4EE0-815C-EAA8C98FAF5D}" dt="2025-08-18T20:02:02.703" v="712" actId="1076"/>
          <ac:spMkLst>
            <pc:docMk/>
            <pc:sldMk cId="2340138798" sldId="467"/>
            <ac:spMk id="8" creationId="{6C13EAD8-5CD7-1538-5E4E-CB09104C312C}"/>
          </ac:spMkLst>
        </pc:spChg>
      </pc:sldChg>
      <pc:sldChg chg="new del">
        <pc:chgData name="Thompson, Brielle" userId="f0ea580a-03ee-4a63-bd84-436803179175" providerId="ADAL" clId="{A8653F06-0B99-4EE0-815C-EAA8C98FAF5D}" dt="2025-08-18T19:58:58.272" v="579" actId="47"/>
        <pc:sldMkLst>
          <pc:docMk/>
          <pc:sldMk cId="3525463621" sldId="467"/>
        </pc:sldMkLst>
      </pc:sldChg>
      <pc:sldChg chg="add">
        <pc:chgData name="Thompson, Brielle" userId="f0ea580a-03ee-4a63-bd84-436803179175" providerId="ADAL" clId="{A8653F06-0B99-4EE0-815C-EAA8C98FAF5D}" dt="2025-08-18T20:08:04.373" v="761" actId="2890"/>
        <pc:sldMkLst>
          <pc:docMk/>
          <pc:sldMk cId="1671724641" sldId="468"/>
        </pc:sldMkLst>
      </pc:sldChg>
      <pc:sldChg chg="addSp delSp modSp add mod modAnim">
        <pc:chgData name="Thompson, Brielle" userId="f0ea580a-03ee-4a63-bd84-436803179175" providerId="ADAL" clId="{A8653F06-0B99-4EE0-815C-EAA8C98FAF5D}" dt="2025-08-19T14:01:40.882" v="3154" actId="115"/>
        <pc:sldMkLst>
          <pc:docMk/>
          <pc:sldMk cId="1227561630" sldId="469"/>
        </pc:sldMkLst>
        <pc:spChg chg="mod">
          <ac:chgData name="Thompson, Brielle" userId="f0ea580a-03ee-4a63-bd84-436803179175" providerId="ADAL" clId="{A8653F06-0B99-4EE0-815C-EAA8C98FAF5D}" dt="2025-08-19T14:01:40.882" v="3154" actId="115"/>
          <ac:spMkLst>
            <pc:docMk/>
            <pc:sldMk cId="1227561630" sldId="469"/>
            <ac:spMk id="2" creationId="{327B9617-58C2-8D60-5CA8-C6CD3881D7FC}"/>
          </ac:spMkLst>
        </pc:spChg>
        <pc:spChg chg="mod">
          <ac:chgData name="Thompson, Brielle" userId="f0ea580a-03ee-4a63-bd84-436803179175" providerId="ADAL" clId="{A8653F06-0B99-4EE0-815C-EAA8C98FAF5D}" dt="2025-08-18T20:08:54.630" v="804" actId="1076"/>
          <ac:spMkLst>
            <pc:docMk/>
            <pc:sldMk cId="1227561630" sldId="469"/>
            <ac:spMk id="4" creationId="{16813E78-8FB8-AF79-5FAE-AA7098D8D821}"/>
          </ac:spMkLst>
        </pc:spChg>
        <pc:spChg chg="add mod">
          <ac:chgData name="Thompson, Brielle" userId="f0ea580a-03ee-4a63-bd84-436803179175" providerId="ADAL" clId="{A8653F06-0B99-4EE0-815C-EAA8C98FAF5D}" dt="2025-08-18T20:10:51.854" v="830" actId="208"/>
          <ac:spMkLst>
            <pc:docMk/>
            <pc:sldMk cId="1227561630" sldId="469"/>
            <ac:spMk id="8" creationId="{84F68348-2DB7-56E1-76E1-AA515DEA7E67}"/>
          </ac:spMkLst>
        </pc:spChg>
        <pc:spChg chg="add mod">
          <ac:chgData name="Thompson, Brielle" userId="f0ea580a-03ee-4a63-bd84-436803179175" providerId="ADAL" clId="{A8653F06-0B99-4EE0-815C-EAA8C98FAF5D}" dt="2025-08-18T20:10:59.868" v="831" actId="207"/>
          <ac:spMkLst>
            <pc:docMk/>
            <pc:sldMk cId="1227561630" sldId="469"/>
            <ac:spMk id="9" creationId="{FBDA3E38-76E6-6755-D141-0B6254AA95D4}"/>
          </ac:spMkLst>
        </pc:spChg>
        <pc:spChg chg="add mod">
          <ac:chgData name="Thompson, Brielle" userId="f0ea580a-03ee-4a63-bd84-436803179175" providerId="ADAL" clId="{A8653F06-0B99-4EE0-815C-EAA8C98FAF5D}" dt="2025-08-18T20:11:15.702" v="835" actId="1582"/>
          <ac:spMkLst>
            <pc:docMk/>
            <pc:sldMk cId="1227561630" sldId="469"/>
            <ac:spMk id="10" creationId="{AA1F72A4-BC9C-B50D-454F-C0AC97746CED}"/>
          </ac:spMkLst>
        </pc:spChg>
        <pc:spChg chg="add mod">
          <ac:chgData name="Thompson, Brielle" userId="f0ea580a-03ee-4a63-bd84-436803179175" providerId="ADAL" clId="{A8653F06-0B99-4EE0-815C-EAA8C98FAF5D}" dt="2025-08-18T20:11:03.685" v="832" actId="207"/>
          <ac:spMkLst>
            <pc:docMk/>
            <pc:sldMk cId="1227561630" sldId="469"/>
            <ac:spMk id="11" creationId="{44CC66A6-0C12-F6F8-1AB4-C745B298D747}"/>
          </ac:spMkLst>
        </pc:spChg>
      </pc:sldChg>
      <pc:sldChg chg="addSp modSp add del mod">
        <pc:chgData name="Thompson, Brielle" userId="f0ea580a-03ee-4a63-bd84-436803179175" providerId="ADAL" clId="{A8653F06-0B99-4EE0-815C-EAA8C98FAF5D}" dt="2025-08-18T20:16:42.179" v="902" actId="47"/>
        <pc:sldMkLst>
          <pc:docMk/>
          <pc:sldMk cId="871794381" sldId="470"/>
        </pc:sldMkLst>
      </pc:sldChg>
      <pc:sldChg chg="addSp delSp modSp add mod">
        <pc:chgData name="Thompson, Brielle" userId="f0ea580a-03ee-4a63-bd84-436803179175" providerId="ADAL" clId="{A8653F06-0B99-4EE0-815C-EAA8C98FAF5D}" dt="2025-08-18T20:16:56.403" v="905" actId="20577"/>
        <pc:sldMkLst>
          <pc:docMk/>
          <pc:sldMk cId="1987270957" sldId="471"/>
        </pc:sldMkLst>
        <pc:spChg chg="mod">
          <ac:chgData name="Thompson, Brielle" userId="f0ea580a-03ee-4a63-bd84-436803179175" providerId="ADAL" clId="{A8653F06-0B99-4EE0-815C-EAA8C98FAF5D}" dt="2025-08-18T20:16:56.403" v="905" actId="20577"/>
          <ac:spMkLst>
            <pc:docMk/>
            <pc:sldMk cId="1987270957" sldId="471"/>
            <ac:spMk id="6" creationId="{D17B5C50-39CA-A11C-4C16-8027D0DC333F}"/>
          </ac:spMkLst>
        </pc:spChg>
        <pc:picChg chg="mod">
          <ac:chgData name="Thompson, Brielle" userId="f0ea580a-03ee-4a63-bd84-436803179175" providerId="ADAL" clId="{A8653F06-0B99-4EE0-815C-EAA8C98FAF5D}" dt="2025-08-18T20:16:36.101" v="900" actId="1076"/>
          <ac:picMkLst>
            <pc:docMk/>
            <pc:sldMk cId="1987270957" sldId="471"/>
            <ac:picMk id="8" creationId="{2507D211-77FC-9C99-5F68-7CD46A81A490}"/>
          </ac:picMkLst>
        </pc:picChg>
      </pc:sldChg>
      <pc:sldChg chg="addSp delSp modSp add mod">
        <pc:chgData name="Thompson, Brielle" userId="f0ea580a-03ee-4a63-bd84-436803179175" providerId="ADAL" clId="{A8653F06-0B99-4EE0-815C-EAA8C98FAF5D}" dt="2025-08-18T20:19:44.610" v="941" actId="1076"/>
        <pc:sldMkLst>
          <pc:docMk/>
          <pc:sldMk cId="1568879828" sldId="472"/>
        </pc:sldMkLst>
        <pc:spChg chg="mod">
          <ac:chgData name="Thompson, Brielle" userId="f0ea580a-03ee-4a63-bd84-436803179175" providerId="ADAL" clId="{A8653F06-0B99-4EE0-815C-EAA8C98FAF5D}" dt="2025-08-18T20:19:14.834" v="934" actId="1076"/>
          <ac:spMkLst>
            <pc:docMk/>
            <pc:sldMk cId="1568879828" sldId="472"/>
            <ac:spMk id="7" creationId="{B5AC8CB2-E436-6181-21E9-103A882B6083}"/>
          </ac:spMkLst>
        </pc:spChg>
        <pc:picChg chg="add mod">
          <ac:chgData name="Thompson, Brielle" userId="f0ea580a-03ee-4a63-bd84-436803179175" providerId="ADAL" clId="{A8653F06-0B99-4EE0-815C-EAA8C98FAF5D}" dt="2025-08-18T20:19:28.977" v="938" actId="196"/>
          <ac:picMkLst>
            <pc:docMk/>
            <pc:sldMk cId="1568879828" sldId="472"/>
            <ac:picMk id="13" creationId="{7B7267A0-F067-F08C-1591-5B0043519AA3}"/>
          </ac:picMkLst>
        </pc:picChg>
        <pc:picChg chg="add mod">
          <ac:chgData name="Thompson, Brielle" userId="f0ea580a-03ee-4a63-bd84-436803179175" providerId="ADAL" clId="{A8653F06-0B99-4EE0-815C-EAA8C98FAF5D}" dt="2025-08-18T20:19:44.610" v="941" actId="1076"/>
          <ac:picMkLst>
            <pc:docMk/>
            <pc:sldMk cId="1568879828" sldId="472"/>
            <ac:picMk id="15" creationId="{39C075B9-7ADF-438C-3AE2-A0C4A7B5FA99}"/>
          </ac:picMkLst>
        </pc:picChg>
      </pc:sldChg>
      <pc:sldChg chg="addSp delSp modSp add del mod modAnim">
        <pc:chgData name="Thompson, Brielle" userId="f0ea580a-03ee-4a63-bd84-436803179175" providerId="ADAL" clId="{A8653F06-0B99-4EE0-815C-EAA8C98FAF5D}" dt="2025-08-19T13:54:28.778" v="3060" actId="47"/>
        <pc:sldMkLst>
          <pc:docMk/>
          <pc:sldMk cId="282092907" sldId="473"/>
        </pc:sldMkLst>
      </pc:sldChg>
      <pc:sldChg chg="addSp delSp modSp add mod delAnim modNotesTx">
        <pc:chgData name="Thompson, Brielle" userId="f0ea580a-03ee-4a63-bd84-436803179175" providerId="ADAL" clId="{A8653F06-0B99-4EE0-815C-EAA8C98FAF5D}" dt="2025-08-18T22:38:24.503" v="2247" actId="20577"/>
        <pc:sldMkLst>
          <pc:docMk/>
          <pc:sldMk cId="233975140" sldId="474"/>
        </pc:sldMkLst>
        <pc:spChg chg="add mod">
          <ac:chgData name="Thompson, Brielle" userId="f0ea580a-03ee-4a63-bd84-436803179175" providerId="ADAL" clId="{A8653F06-0B99-4EE0-815C-EAA8C98FAF5D}" dt="2025-08-18T22:38:24.503" v="2247" actId="20577"/>
          <ac:spMkLst>
            <pc:docMk/>
            <pc:sldMk cId="233975140" sldId="474"/>
            <ac:spMk id="4" creationId="{6FC569A6-D8F6-C961-CC35-D5D53612E0E5}"/>
          </ac:spMkLst>
        </pc:spChg>
        <pc:spChg chg="add mod">
          <ac:chgData name="Thompson, Brielle" userId="f0ea580a-03ee-4a63-bd84-436803179175" providerId="ADAL" clId="{A8653F06-0B99-4EE0-815C-EAA8C98FAF5D}" dt="2025-08-18T20:33:24.069" v="1054" actId="1076"/>
          <ac:spMkLst>
            <pc:docMk/>
            <pc:sldMk cId="233975140" sldId="474"/>
            <ac:spMk id="5" creationId="{2E475C11-33F2-6A00-74A3-F5AB8F597221}"/>
          </ac:spMkLst>
        </pc:spChg>
        <pc:spChg chg="mod">
          <ac:chgData name="Thompson, Brielle" userId="f0ea580a-03ee-4a63-bd84-436803179175" providerId="ADAL" clId="{A8653F06-0B99-4EE0-815C-EAA8C98FAF5D}" dt="2025-08-18T21:01:37.183" v="1431" actId="207"/>
          <ac:spMkLst>
            <pc:docMk/>
            <pc:sldMk cId="233975140" sldId="474"/>
            <ac:spMk id="8" creationId="{46E688AA-1B5B-5A39-84E2-108F36A3B348}"/>
          </ac:spMkLst>
        </pc:spChg>
        <pc:spChg chg="add mod">
          <ac:chgData name="Thompson, Brielle" userId="f0ea580a-03ee-4a63-bd84-436803179175" providerId="ADAL" clId="{A8653F06-0B99-4EE0-815C-EAA8C98FAF5D}" dt="2025-08-18T21:00:47.818" v="1425" actId="313"/>
          <ac:spMkLst>
            <pc:docMk/>
            <pc:sldMk cId="233975140" sldId="474"/>
            <ac:spMk id="10" creationId="{A2E3C402-6F2F-B783-8226-C298230D54BF}"/>
          </ac:spMkLst>
        </pc:spChg>
        <pc:picChg chg="add mod">
          <ac:chgData name="Thompson, Brielle" userId="f0ea580a-03ee-4a63-bd84-436803179175" providerId="ADAL" clId="{A8653F06-0B99-4EE0-815C-EAA8C98FAF5D}" dt="2025-08-18T21:01:04.814" v="1428" actId="1076"/>
          <ac:picMkLst>
            <pc:docMk/>
            <pc:sldMk cId="233975140" sldId="474"/>
            <ac:picMk id="14" creationId="{9B2FED5D-01AE-B20D-15D8-272A12DDA67A}"/>
          </ac:picMkLst>
        </pc:picChg>
      </pc:sldChg>
      <pc:sldChg chg="addSp modSp add mod ord modAnim">
        <pc:chgData name="Thompson, Brielle" userId="f0ea580a-03ee-4a63-bd84-436803179175" providerId="ADAL" clId="{A8653F06-0B99-4EE0-815C-EAA8C98FAF5D}" dt="2025-08-19T14:02:09.493" v="3159" actId="115"/>
        <pc:sldMkLst>
          <pc:docMk/>
          <pc:sldMk cId="1834270088" sldId="475"/>
        </pc:sldMkLst>
        <pc:spChg chg="mod">
          <ac:chgData name="Thompson, Brielle" userId="f0ea580a-03ee-4a63-bd84-436803179175" providerId="ADAL" clId="{A8653F06-0B99-4EE0-815C-EAA8C98FAF5D}" dt="2025-08-19T13:55:46.958" v="3094" actId="14100"/>
          <ac:spMkLst>
            <pc:docMk/>
            <pc:sldMk cId="1834270088" sldId="475"/>
            <ac:spMk id="2" creationId="{9808512F-E758-9AEB-6152-E995DA059343}"/>
          </ac:spMkLst>
        </pc:spChg>
        <pc:spChg chg="add mod">
          <ac:chgData name="Thompson, Brielle" userId="f0ea580a-03ee-4a63-bd84-436803179175" providerId="ADAL" clId="{A8653F06-0B99-4EE0-815C-EAA8C98FAF5D}" dt="2025-08-19T14:02:09.493" v="3159" actId="115"/>
          <ac:spMkLst>
            <pc:docMk/>
            <pc:sldMk cId="1834270088" sldId="475"/>
            <ac:spMk id="3" creationId="{818293EC-055D-BFF1-6181-3F5F1EBABBAF}"/>
          </ac:spMkLst>
        </pc:spChg>
        <pc:spChg chg="mod">
          <ac:chgData name="Thompson, Brielle" userId="f0ea580a-03ee-4a63-bd84-436803179175" providerId="ADAL" clId="{A8653F06-0B99-4EE0-815C-EAA8C98FAF5D}" dt="2025-08-19T13:55:42.910" v="3093" actId="1038"/>
          <ac:spMkLst>
            <pc:docMk/>
            <pc:sldMk cId="1834270088" sldId="475"/>
            <ac:spMk id="6" creationId="{43F878BD-3479-5495-1C69-1B46E82BDFF5}"/>
          </ac:spMkLst>
        </pc:spChg>
        <pc:spChg chg="add mod">
          <ac:chgData name="Thompson, Brielle" userId="f0ea580a-03ee-4a63-bd84-436803179175" providerId="ADAL" clId="{A8653F06-0B99-4EE0-815C-EAA8C98FAF5D}" dt="2025-08-19T13:55:42.910" v="3093" actId="1038"/>
          <ac:spMkLst>
            <pc:docMk/>
            <pc:sldMk cId="1834270088" sldId="475"/>
            <ac:spMk id="11" creationId="{A816A236-CA83-5F13-090D-53D506E33714}"/>
          </ac:spMkLst>
        </pc:spChg>
        <pc:spChg chg="add mod">
          <ac:chgData name="Thompson, Brielle" userId="f0ea580a-03ee-4a63-bd84-436803179175" providerId="ADAL" clId="{A8653F06-0B99-4EE0-815C-EAA8C98FAF5D}" dt="2025-08-19T13:55:49.991" v="3095" actId="1076"/>
          <ac:spMkLst>
            <pc:docMk/>
            <pc:sldMk cId="1834270088" sldId="475"/>
            <ac:spMk id="12" creationId="{0F8BBA50-9EC1-81A4-4164-0BF31EF81F57}"/>
          </ac:spMkLst>
        </pc:spChg>
        <pc:spChg chg="add mod">
          <ac:chgData name="Thompson, Brielle" userId="f0ea580a-03ee-4a63-bd84-436803179175" providerId="ADAL" clId="{A8653F06-0B99-4EE0-815C-EAA8C98FAF5D}" dt="2025-08-19T13:55:54.943" v="3097" actId="14100"/>
          <ac:spMkLst>
            <pc:docMk/>
            <pc:sldMk cId="1834270088" sldId="475"/>
            <ac:spMk id="13" creationId="{DBA5F525-8859-A8F0-AA0D-24DD55B49C24}"/>
          </ac:spMkLst>
        </pc:spChg>
        <pc:spChg chg="add mod">
          <ac:chgData name="Thompson, Brielle" userId="f0ea580a-03ee-4a63-bd84-436803179175" providerId="ADAL" clId="{A8653F06-0B99-4EE0-815C-EAA8C98FAF5D}" dt="2025-08-19T13:55:58.084" v="3098" actId="1076"/>
          <ac:spMkLst>
            <pc:docMk/>
            <pc:sldMk cId="1834270088" sldId="475"/>
            <ac:spMk id="14" creationId="{9D317673-EC26-5D5D-2D9E-98BD62C79F80}"/>
          </ac:spMkLst>
        </pc:spChg>
      </pc:sldChg>
      <pc:sldChg chg="addSp delSp modSp add mod delAnim">
        <pc:chgData name="Thompson, Brielle" userId="f0ea580a-03ee-4a63-bd84-436803179175" providerId="ADAL" clId="{A8653F06-0B99-4EE0-815C-EAA8C98FAF5D}" dt="2025-08-18T20:43:59.339" v="1303" actId="13926"/>
        <pc:sldMkLst>
          <pc:docMk/>
          <pc:sldMk cId="2903616126" sldId="476"/>
        </pc:sldMkLst>
        <pc:spChg chg="add mod">
          <ac:chgData name="Thompson, Brielle" userId="f0ea580a-03ee-4a63-bd84-436803179175" providerId="ADAL" clId="{A8653F06-0B99-4EE0-815C-EAA8C98FAF5D}" dt="2025-08-18T20:43:59.339" v="1303" actId="13926"/>
          <ac:spMkLst>
            <pc:docMk/>
            <pc:sldMk cId="2903616126" sldId="476"/>
            <ac:spMk id="6" creationId="{7C5D92CC-4B97-CD4C-2C9E-B1D0288777B5}"/>
          </ac:spMkLst>
        </pc:spChg>
      </pc:sldChg>
      <pc:sldChg chg="modSp add mod modNotesTx">
        <pc:chgData name="Thompson, Brielle" userId="f0ea580a-03ee-4a63-bd84-436803179175" providerId="ADAL" clId="{A8653F06-0B99-4EE0-815C-EAA8C98FAF5D}" dt="2025-08-18T20:43:52.375" v="1301" actId="13926"/>
        <pc:sldMkLst>
          <pc:docMk/>
          <pc:sldMk cId="1805789959" sldId="477"/>
        </pc:sldMkLst>
        <pc:spChg chg="mod">
          <ac:chgData name="Thompson, Brielle" userId="f0ea580a-03ee-4a63-bd84-436803179175" providerId="ADAL" clId="{A8653F06-0B99-4EE0-815C-EAA8C98FAF5D}" dt="2025-08-18T20:43:52.375" v="1301" actId="13926"/>
          <ac:spMkLst>
            <pc:docMk/>
            <pc:sldMk cId="1805789959" sldId="477"/>
            <ac:spMk id="6" creationId="{58EA3128-528B-30CD-E4D2-4B7D6764B919}"/>
          </ac:spMkLst>
        </pc:spChg>
      </pc:sldChg>
      <pc:sldChg chg="modSp add mod">
        <pc:chgData name="Thompson, Brielle" userId="f0ea580a-03ee-4a63-bd84-436803179175" providerId="ADAL" clId="{A8653F06-0B99-4EE0-815C-EAA8C98FAF5D}" dt="2025-08-18T20:44:03.348" v="1304" actId="13926"/>
        <pc:sldMkLst>
          <pc:docMk/>
          <pc:sldMk cId="3125949323" sldId="478"/>
        </pc:sldMkLst>
        <pc:spChg chg="mod">
          <ac:chgData name="Thompson, Brielle" userId="f0ea580a-03ee-4a63-bd84-436803179175" providerId="ADAL" clId="{A8653F06-0B99-4EE0-815C-EAA8C98FAF5D}" dt="2025-08-18T20:44:03.348" v="1304" actId="13926"/>
          <ac:spMkLst>
            <pc:docMk/>
            <pc:sldMk cId="3125949323" sldId="478"/>
            <ac:spMk id="6" creationId="{45002718-FBE9-9225-8334-3D50FBD215B8}"/>
          </ac:spMkLst>
        </pc:spChg>
      </pc:sldChg>
      <pc:sldChg chg="modSp add mod">
        <pc:chgData name="Thompson, Brielle" userId="f0ea580a-03ee-4a63-bd84-436803179175" providerId="ADAL" clId="{A8653F06-0B99-4EE0-815C-EAA8C98FAF5D}" dt="2025-08-18T20:44:31.062" v="1315" actId="14100"/>
        <pc:sldMkLst>
          <pc:docMk/>
          <pc:sldMk cId="3901892510" sldId="479"/>
        </pc:sldMkLst>
        <pc:spChg chg="mod">
          <ac:chgData name="Thompson, Brielle" userId="f0ea580a-03ee-4a63-bd84-436803179175" providerId="ADAL" clId="{A8653F06-0B99-4EE0-815C-EAA8C98FAF5D}" dt="2025-08-18T20:44:31.062" v="1315" actId="14100"/>
          <ac:spMkLst>
            <pc:docMk/>
            <pc:sldMk cId="3901892510" sldId="479"/>
            <ac:spMk id="6" creationId="{64C85DF4-1D3B-8DC2-6D6F-B6A6E8889AC1}"/>
          </ac:spMkLst>
        </pc:spChg>
      </pc:sldChg>
      <pc:sldChg chg="new del">
        <pc:chgData name="Thompson, Brielle" userId="f0ea580a-03ee-4a63-bd84-436803179175" providerId="ADAL" clId="{A8653F06-0B99-4EE0-815C-EAA8C98FAF5D}" dt="2025-08-18T21:05:18.317" v="1434" actId="47"/>
        <pc:sldMkLst>
          <pc:docMk/>
          <pc:sldMk cId="2295889465" sldId="480"/>
        </pc:sldMkLst>
      </pc:sldChg>
      <pc:sldChg chg="addSp delSp modSp add mod delAnim">
        <pc:chgData name="Thompson, Brielle" userId="f0ea580a-03ee-4a63-bd84-436803179175" providerId="ADAL" clId="{A8653F06-0B99-4EE0-815C-EAA8C98FAF5D}" dt="2025-08-18T21:06:56.415" v="1452"/>
        <pc:sldMkLst>
          <pc:docMk/>
          <pc:sldMk cId="3054094753" sldId="481"/>
        </pc:sldMkLst>
        <pc:spChg chg="add mod">
          <ac:chgData name="Thompson, Brielle" userId="f0ea580a-03ee-4a63-bd84-436803179175" providerId="ADAL" clId="{A8653F06-0B99-4EE0-815C-EAA8C98FAF5D}" dt="2025-08-18T21:06:05.067" v="1440" actId="1076"/>
          <ac:spMkLst>
            <pc:docMk/>
            <pc:sldMk cId="3054094753" sldId="481"/>
            <ac:spMk id="5" creationId="{F52C98FE-A9FF-307B-AD46-398F952E52AA}"/>
          </ac:spMkLst>
        </pc:spChg>
        <pc:spChg chg="add mod">
          <ac:chgData name="Thompson, Brielle" userId="f0ea580a-03ee-4a63-bd84-436803179175" providerId="ADAL" clId="{A8653F06-0B99-4EE0-815C-EAA8C98FAF5D}" dt="2025-08-18T21:05:57.544" v="1438" actId="1076"/>
          <ac:spMkLst>
            <pc:docMk/>
            <pc:sldMk cId="3054094753" sldId="481"/>
            <ac:spMk id="6" creationId="{D55CE791-4EA6-6071-AB36-517BB38F1E53}"/>
          </ac:spMkLst>
        </pc:spChg>
        <pc:spChg chg="add mod">
          <ac:chgData name="Thompson, Brielle" userId="f0ea580a-03ee-4a63-bd84-436803179175" providerId="ADAL" clId="{A8653F06-0B99-4EE0-815C-EAA8C98FAF5D}" dt="2025-08-18T21:06:56.415" v="1452"/>
          <ac:spMkLst>
            <pc:docMk/>
            <pc:sldMk cId="3054094753" sldId="481"/>
            <ac:spMk id="34" creationId="{08FA047D-4897-B7CB-AC39-86B3296BD091}"/>
          </ac:spMkLst>
        </pc:spChg>
        <pc:picChg chg="add mod">
          <ac:chgData name="Thompson, Brielle" userId="f0ea580a-03ee-4a63-bd84-436803179175" providerId="ADAL" clId="{A8653F06-0B99-4EE0-815C-EAA8C98FAF5D}" dt="2025-08-18T21:05:57.544" v="1438" actId="1076"/>
          <ac:picMkLst>
            <pc:docMk/>
            <pc:sldMk cId="3054094753" sldId="481"/>
            <ac:picMk id="3" creationId="{FBFFE66D-B37C-45FA-0603-883A194C7502}"/>
          </ac:picMkLst>
        </pc:picChg>
      </pc:sldChg>
      <pc:sldChg chg="addSp delSp modSp add mod">
        <pc:chgData name="Thompson, Brielle" userId="f0ea580a-03ee-4a63-bd84-436803179175" providerId="ADAL" clId="{A8653F06-0B99-4EE0-815C-EAA8C98FAF5D}" dt="2025-08-18T21:07:19.491" v="1460" actId="14100"/>
        <pc:sldMkLst>
          <pc:docMk/>
          <pc:sldMk cId="3855034562" sldId="482"/>
        </pc:sldMkLst>
        <pc:spChg chg="add mod">
          <ac:chgData name="Thompson, Brielle" userId="f0ea580a-03ee-4a63-bd84-436803179175" providerId="ADAL" clId="{A8653F06-0B99-4EE0-815C-EAA8C98FAF5D}" dt="2025-08-18T21:07:19.491" v="1460" actId="14100"/>
          <ac:spMkLst>
            <pc:docMk/>
            <pc:sldMk cId="3855034562" sldId="482"/>
            <ac:spMk id="7" creationId="{75F55C06-DF17-F625-A0CB-88B19E8A0DDE}"/>
          </ac:spMkLst>
        </pc:spChg>
        <pc:spChg chg="add mod">
          <ac:chgData name="Thompson, Brielle" userId="f0ea580a-03ee-4a63-bd84-436803179175" providerId="ADAL" clId="{A8653F06-0B99-4EE0-815C-EAA8C98FAF5D}" dt="2025-08-18T21:07:10.082" v="1457" actId="1076"/>
          <ac:spMkLst>
            <pc:docMk/>
            <pc:sldMk cId="3855034562" sldId="482"/>
            <ac:spMk id="8" creationId="{FBADFB4D-5E02-6643-4A8B-5D4373251578}"/>
          </ac:spMkLst>
        </pc:spChg>
        <pc:spChg chg="add mod">
          <ac:chgData name="Thompson, Brielle" userId="f0ea580a-03ee-4a63-bd84-436803179175" providerId="ADAL" clId="{A8653F06-0B99-4EE0-815C-EAA8C98FAF5D}" dt="2025-08-18T21:07:04.899" v="1455"/>
          <ac:spMkLst>
            <pc:docMk/>
            <pc:sldMk cId="3855034562" sldId="482"/>
            <ac:spMk id="11" creationId="{23CC4A5B-0066-D89B-FA74-E6FD485BC80B}"/>
          </ac:spMkLst>
        </pc:spChg>
        <pc:picChg chg="add mod">
          <ac:chgData name="Thompson, Brielle" userId="f0ea580a-03ee-4a63-bd84-436803179175" providerId="ADAL" clId="{A8653F06-0B99-4EE0-815C-EAA8C98FAF5D}" dt="2025-08-18T21:07:07.390" v="1456" actId="1076"/>
          <ac:picMkLst>
            <pc:docMk/>
            <pc:sldMk cId="3855034562" sldId="482"/>
            <ac:picMk id="4" creationId="{724C0D88-62C8-E230-D488-A95DA59FA841}"/>
          </ac:picMkLst>
        </pc:picChg>
      </pc:sldChg>
      <pc:sldChg chg="addSp delSp modSp add mod">
        <pc:chgData name="Thompson, Brielle" userId="f0ea580a-03ee-4a63-bd84-436803179175" providerId="ADAL" clId="{A8653F06-0B99-4EE0-815C-EAA8C98FAF5D}" dt="2025-08-19T14:02:26.287" v="3160" actId="403"/>
        <pc:sldMkLst>
          <pc:docMk/>
          <pc:sldMk cId="1128108140" sldId="483"/>
        </pc:sldMkLst>
        <pc:spChg chg="add mod">
          <ac:chgData name="Thompson, Brielle" userId="f0ea580a-03ee-4a63-bd84-436803179175" providerId="ADAL" clId="{A8653F06-0B99-4EE0-815C-EAA8C98FAF5D}" dt="2025-08-19T14:02:26.287" v="3160" actId="403"/>
          <ac:spMkLst>
            <pc:docMk/>
            <pc:sldMk cId="1128108140" sldId="483"/>
            <ac:spMk id="3" creationId="{C563D6C1-145D-1199-8F13-091F6C5A9E2F}"/>
          </ac:spMkLst>
        </pc:spChg>
        <pc:spChg chg="add mod">
          <ac:chgData name="Thompson, Brielle" userId="f0ea580a-03ee-4a63-bd84-436803179175" providerId="ADAL" clId="{A8653F06-0B99-4EE0-815C-EAA8C98FAF5D}" dt="2025-08-18T21:08:29.751" v="1482" actId="115"/>
          <ac:spMkLst>
            <pc:docMk/>
            <pc:sldMk cId="1128108140" sldId="483"/>
            <ac:spMk id="5" creationId="{5DB36E9B-21D0-B2B8-4E4E-C8272F4AF95B}"/>
          </ac:spMkLst>
        </pc:spChg>
      </pc:sldChg>
      <pc:sldChg chg="addSp delSp modSp add mod">
        <pc:chgData name="Thompson, Brielle" userId="f0ea580a-03ee-4a63-bd84-436803179175" providerId="ADAL" clId="{A8653F06-0B99-4EE0-815C-EAA8C98FAF5D}" dt="2025-08-18T22:38:51.145" v="2310" actId="20577"/>
        <pc:sldMkLst>
          <pc:docMk/>
          <pc:sldMk cId="1111021876" sldId="484"/>
        </pc:sldMkLst>
        <pc:spChg chg="add del mod">
          <ac:chgData name="Thompson, Brielle" userId="f0ea580a-03ee-4a63-bd84-436803179175" providerId="ADAL" clId="{A8653F06-0B99-4EE0-815C-EAA8C98FAF5D}" dt="2025-08-18T22:38:51.145" v="2310" actId="20577"/>
          <ac:spMkLst>
            <pc:docMk/>
            <pc:sldMk cId="1111021876" sldId="484"/>
            <ac:spMk id="4" creationId="{727D4EE4-F2E1-B1F6-554C-865B6500618B}"/>
          </ac:spMkLst>
        </pc:spChg>
        <pc:spChg chg="mod">
          <ac:chgData name="Thompson, Brielle" userId="f0ea580a-03ee-4a63-bd84-436803179175" providerId="ADAL" clId="{A8653F06-0B99-4EE0-815C-EAA8C98FAF5D}" dt="2025-08-18T21:08:51.380" v="1485" actId="20577"/>
          <ac:spMkLst>
            <pc:docMk/>
            <pc:sldMk cId="1111021876" sldId="484"/>
            <ac:spMk id="8" creationId="{3CDA6DDA-1B27-C8C7-C885-9895E0F73CEF}"/>
          </ac:spMkLst>
        </pc:spChg>
        <pc:picChg chg="add mod">
          <ac:chgData name="Thompson, Brielle" userId="f0ea580a-03ee-4a63-bd84-436803179175" providerId="ADAL" clId="{A8653F06-0B99-4EE0-815C-EAA8C98FAF5D}" dt="2025-08-18T21:11:16.080" v="1619" actId="1076"/>
          <ac:picMkLst>
            <pc:docMk/>
            <pc:sldMk cId="1111021876" sldId="484"/>
            <ac:picMk id="6" creationId="{DAF0B574-30B0-DC5F-361F-3F8788B5E197}"/>
          </ac:picMkLst>
        </pc:picChg>
        <pc:picChg chg="mod">
          <ac:chgData name="Thompson, Brielle" userId="f0ea580a-03ee-4a63-bd84-436803179175" providerId="ADAL" clId="{A8653F06-0B99-4EE0-815C-EAA8C98FAF5D}" dt="2025-08-18T21:11:22.365" v="1622" actId="1076"/>
          <ac:picMkLst>
            <pc:docMk/>
            <pc:sldMk cId="1111021876" sldId="484"/>
            <ac:picMk id="14" creationId="{E35711C9-2F16-5A9C-2B26-553DBC1C5300}"/>
          </ac:picMkLst>
        </pc:picChg>
      </pc:sldChg>
      <pc:sldChg chg="addSp delSp modSp add mod">
        <pc:chgData name="Thompson, Brielle" userId="f0ea580a-03ee-4a63-bd84-436803179175" providerId="ADAL" clId="{A8653F06-0B99-4EE0-815C-EAA8C98FAF5D}" dt="2025-08-18T21:12:57.462" v="1636" actId="1076"/>
        <pc:sldMkLst>
          <pc:docMk/>
          <pc:sldMk cId="590293170" sldId="485"/>
        </pc:sldMkLst>
        <pc:spChg chg="add mod">
          <ac:chgData name="Thompson, Brielle" userId="f0ea580a-03ee-4a63-bd84-436803179175" providerId="ADAL" clId="{A8653F06-0B99-4EE0-815C-EAA8C98FAF5D}" dt="2025-08-18T21:12:57.462" v="1636" actId="1076"/>
          <ac:spMkLst>
            <pc:docMk/>
            <pc:sldMk cId="590293170" sldId="485"/>
            <ac:spMk id="2" creationId="{1AF772B1-3D2B-343F-C1FC-64E1FD6EC2D9}"/>
          </ac:spMkLst>
        </pc:spChg>
      </pc:sldChg>
      <pc:sldChg chg="new del">
        <pc:chgData name="Thompson, Brielle" userId="f0ea580a-03ee-4a63-bd84-436803179175" providerId="ADAL" clId="{A8653F06-0B99-4EE0-815C-EAA8C98FAF5D}" dt="2025-08-18T21:15:22.981" v="1639" actId="47"/>
        <pc:sldMkLst>
          <pc:docMk/>
          <pc:sldMk cId="4041922252" sldId="486"/>
        </pc:sldMkLst>
      </pc:sldChg>
      <pc:sldChg chg="modSp add mod modAnim">
        <pc:chgData name="Thompson, Brielle" userId="f0ea580a-03ee-4a63-bd84-436803179175" providerId="ADAL" clId="{A8653F06-0B99-4EE0-815C-EAA8C98FAF5D}" dt="2025-08-19T14:02:35.544" v="3161" actId="115"/>
        <pc:sldMkLst>
          <pc:docMk/>
          <pc:sldMk cId="242563890" sldId="487"/>
        </pc:sldMkLst>
        <pc:spChg chg="mod">
          <ac:chgData name="Thompson, Brielle" userId="f0ea580a-03ee-4a63-bd84-436803179175" providerId="ADAL" clId="{A8653F06-0B99-4EE0-815C-EAA8C98FAF5D}" dt="2025-08-19T14:02:35.544" v="3161" actId="115"/>
          <ac:spMkLst>
            <pc:docMk/>
            <pc:sldMk cId="242563890" sldId="487"/>
            <ac:spMk id="2" creationId="{98928EE0-CEE6-9BC2-CB29-86B093AA87CC}"/>
          </ac:spMkLst>
        </pc:spChg>
      </pc:sldChg>
      <pc:sldChg chg="addSp modSp new mod">
        <pc:chgData name="Thompson, Brielle" userId="f0ea580a-03ee-4a63-bd84-436803179175" providerId="ADAL" clId="{A8653F06-0B99-4EE0-815C-EAA8C98FAF5D}" dt="2025-08-19T13:57:42.498" v="3108" actId="1076"/>
        <pc:sldMkLst>
          <pc:docMk/>
          <pc:sldMk cId="2639429256" sldId="488"/>
        </pc:sldMkLst>
        <pc:spChg chg="mod">
          <ac:chgData name="Thompson, Brielle" userId="f0ea580a-03ee-4a63-bd84-436803179175" providerId="ADAL" clId="{A8653F06-0B99-4EE0-815C-EAA8C98FAF5D}" dt="2025-08-19T13:57:08.741" v="3104" actId="403"/>
          <ac:spMkLst>
            <pc:docMk/>
            <pc:sldMk cId="2639429256" sldId="488"/>
            <ac:spMk id="2" creationId="{4440CD3D-59D1-E340-4872-CFCDFE5802FF}"/>
          </ac:spMkLst>
        </pc:spChg>
        <pc:spChg chg="mod">
          <ac:chgData name="Thompson, Brielle" userId="f0ea580a-03ee-4a63-bd84-436803179175" providerId="ADAL" clId="{A8653F06-0B99-4EE0-815C-EAA8C98FAF5D}" dt="2025-08-19T13:57:05.516" v="3102" actId="403"/>
          <ac:spMkLst>
            <pc:docMk/>
            <pc:sldMk cId="2639429256" sldId="488"/>
            <ac:spMk id="3" creationId="{EDA44CFE-A67C-FF4B-DA84-A264C16F0EB5}"/>
          </ac:spMkLst>
        </pc:spChg>
        <pc:spChg chg="add mod">
          <ac:chgData name="Thompson, Brielle" userId="f0ea580a-03ee-4a63-bd84-436803179175" providerId="ADAL" clId="{A8653F06-0B99-4EE0-815C-EAA8C98FAF5D}" dt="2025-08-18T22:16:25.171" v="1788"/>
          <ac:spMkLst>
            <pc:docMk/>
            <pc:sldMk cId="2639429256" sldId="488"/>
            <ac:spMk id="4" creationId="{FC1FB5ED-3858-626D-71A7-FDA4BEBCAEDF}"/>
          </ac:spMkLst>
        </pc:spChg>
        <pc:picChg chg="add mod">
          <ac:chgData name="Thompson, Brielle" userId="f0ea580a-03ee-4a63-bd84-436803179175" providerId="ADAL" clId="{A8653F06-0B99-4EE0-815C-EAA8C98FAF5D}" dt="2025-08-19T13:57:36.333" v="3106" actId="1076"/>
          <ac:picMkLst>
            <pc:docMk/>
            <pc:sldMk cId="2639429256" sldId="488"/>
            <ac:picMk id="6" creationId="{226E050F-DD5A-1BAD-C6D0-7E7800C18E4A}"/>
          </ac:picMkLst>
        </pc:picChg>
        <pc:picChg chg="add mod">
          <ac:chgData name="Thompson, Brielle" userId="f0ea580a-03ee-4a63-bd84-436803179175" providerId="ADAL" clId="{A8653F06-0B99-4EE0-815C-EAA8C98FAF5D}" dt="2025-08-19T13:57:42.498" v="3108" actId="1076"/>
          <ac:picMkLst>
            <pc:docMk/>
            <pc:sldMk cId="2639429256" sldId="488"/>
            <ac:picMk id="7" creationId="{0B147975-EB14-C201-0176-0F666B975A87}"/>
          </ac:picMkLst>
        </pc:picChg>
      </pc:sldChg>
      <pc:sldChg chg="add del ord">
        <pc:chgData name="Thompson, Brielle" userId="f0ea580a-03ee-4a63-bd84-436803179175" providerId="ADAL" clId="{A8653F06-0B99-4EE0-815C-EAA8C98FAF5D}" dt="2025-08-18T21:58:57.862" v="1722" actId="47"/>
        <pc:sldMkLst>
          <pc:docMk/>
          <pc:sldMk cId="0" sldId="489"/>
        </pc:sldMkLst>
      </pc:sldChg>
      <pc:sldChg chg="modSp add del mod">
        <pc:chgData name="Thompson, Brielle" userId="f0ea580a-03ee-4a63-bd84-436803179175" providerId="ADAL" clId="{A8653F06-0B99-4EE0-815C-EAA8C98FAF5D}" dt="2025-08-18T22:24:12.008" v="1901" actId="47"/>
        <pc:sldMkLst>
          <pc:docMk/>
          <pc:sldMk cId="0" sldId="490"/>
        </pc:sldMkLst>
      </pc:sldChg>
      <pc:sldChg chg="modSp add del mod ord">
        <pc:chgData name="Thompson, Brielle" userId="f0ea580a-03ee-4a63-bd84-436803179175" providerId="ADAL" clId="{A8653F06-0B99-4EE0-815C-EAA8C98FAF5D}" dt="2025-08-18T22:21:25.747" v="1873" actId="47"/>
        <pc:sldMkLst>
          <pc:docMk/>
          <pc:sldMk cId="0" sldId="491"/>
        </pc:sldMkLst>
      </pc:sldChg>
      <pc:sldChg chg="delSp modSp add del mod ord">
        <pc:chgData name="Thompson, Brielle" userId="f0ea580a-03ee-4a63-bd84-436803179175" providerId="ADAL" clId="{A8653F06-0B99-4EE0-815C-EAA8C98FAF5D}" dt="2025-08-18T22:32:42.097" v="1959" actId="47"/>
        <pc:sldMkLst>
          <pc:docMk/>
          <pc:sldMk cId="0" sldId="492"/>
        </pc:sldMkLst>
      </pc:sldChg>
      <pc:sldChg chg="modSp add del mod ord">
        <pc:chgData name="Thompson, Brielle" userId="f0ea580a-03ee-4a63-bd84-436803179175" providerId="ADAL" clId="{A8653F06-0B99-4EE0-815C-EAA8C98FAF5D}" dt="2025-08-18T22:33:19.488" v="1971" actId="47"/>
        <pc:sldMkLst>
          <pc:docMk/>
          <pc:sldMk cId="0" sldId="493"/>
        </pc:sldMkLst>
      </pc:sldChg>
      <pc:sldChg chg="modSp add del mod ord modAnim">
        <pc:chgData name="Thompson, Brielle" userId="f0ea580a-03ee-4a63-bd84-436803179175" providerId="ADAL" clId="{A8653F06-0B99-4EE0-815C-EAA8C98FAF5D}" dt="2025-08-18T22:18:04.667" v="1794" actId="47"/>
        <pc:sldMkLst>
          <pc:docMk/>
          <pc:sldMk cId="3472890590" sldId="494"/>
        </pc:sldMkLst>
      </pc:sldChg>
      <pc:sldChg chg="modSp add mod">
        <pc:chgData name="Thompson, Brielle" userId="f0ea580a-03ee-4a63-bd84-436803179175" providerId="ADAL" clId="{A8653F06-0B99-4EE0-815C-EAA8C98FAF5D}" dt="2025-08-18T22:11:36.242" v="1780" actId="20577"/>
        <pc:sldMkLst>
          <pc:docMk/>
          <pc:sldMk cId="4236574390" sldId="495"/>
        </pc:sldMkLst>
        <pc:spChg chg="mod">
          <ac:chgData name="Thompson, Brielle" userId="f0ea580a-03ee-4a63-bd84-436803179175" providerId="ADAL" clId="{A8653F06-0B99-4EE0-815C-EAA8C98FAF5D}" dt="2025-08-18T22:11:36.242" v="1780" actId="20577"/>
          <ac:spMkLst>
            <pc:docMk/>
            <pc:sldMk cId="4236574390" sldId="495"/>
            <ac:spMk id="2" creationId="{A2381B13-C058-6DB0-6F3C-869AE714F379}"/>
          </ac:spMkLst>
        </pc:spChg>
      </pc:sldChg>
      <pc:sldChg chg="add del ord">
        <pc:chgData name="Thompson, Brielle" userId="f0ea580a-03ee-4a63-bd84-436803179175" providerId="ADAL" clId="{A8653F06-0B99-4EE0-815C-EAA8C98FAF5D}" dt="2025-08-18T22:17:32.352" v="1792" actId="47"/>
        <pc:sldMkLst>
          <pc:docMk/>
          <pc:sldMk cId="379710093" sldId="496"/>
        </pc:sldMkLst>
      </pc:sldChg>
      <pc:sldChg chg="addSp delSp modSp add mod ord delAnim modAnim">
        <pc:chgData name="Thompson, Brielle" userId="f0ea580a-03ee-4a63-bd84-436803179175" providerId="ADAL" clId="{A8653F06-0B99-4EE0-815C-EAA8C98FAF5D}" dt="2025-08-18T22:21:19.406" v="1872"/>
        <pc:sldMkLst>
          <pc:docMk/>
          <pc:sldMk cId="944645202" sldId="496"/>
        </pc:sldMkLst>
        <pc:spChg chg="mod">
          <ac:chgData name="Thompson, Brielle" userId="f0ea580a-03ee-4a63-bd84-436803179175" providerId="ADAL" clId="{A8653F06-0B99-4EE0-815C-EAA8C98FAF5D}" dt="2025-08-18T22:20:13.868" v="1837" actId="14100"/>
          <ac:spMkLst>
            <pc:docMk/>
            <pc:sldMk cId="944645202" sldId="496"/>
            <ac:spMk id="3" creationId="{8C608641-1906-69C9-56DA-476DE503AE43}"/>
          </ac:spMkLst>
        </pc:spChg>
        <pc:spChg chg="add mod">
          <ac:chgData name="Thompson, Brielle" userId="f0ea580a-03ee-4a63-bd84-436803179175" providerId="ADAL" clId="{A8653F06-0B99-4EE0-815C-EAA8C98FAF5D}" dt="2025-08-18T22:20:50.280" v="1866" actId="1076"/>
          <ac:spMkLst>
            <pc:docMk/>
            <pc:sldMk cId="944645202" sldId="496"/>
            <ac:spMk id="5" creationId="{B545BDD7-1B6B-3D19-906A-8464469F0762}"/>
          </ac:spMkLst>
        </pc:spChg>
      </pc:sldChg>
      <pc:sldChg chg="modSp new mod">
        <pc:chgData name="Thompson, Brielle" userId="f0ea580a-03ee-4a63-bd84-436803179175" providerId="ADAL" clId="{A8653F06-0B99-4EE0-815C-EAA8C98FAF5D}" dt="2025-08-18T23:13:06.534" v="2780" actId="20577"/>
        <pc:sldMkLst>
          <pc:docMk/>
          <pc:sldMk cId="4127597803" sldId="497"/>
        </pc:sldMkLst>
        <pc:spChg chg="mod">
          <ac:chgData name="Thompson, Brielle" userId="f0ea580a-03ee-4a63-bd84-436803179175" providerId="ADAL" clId="{A8653F06-0B99-4EE0-815C-EAA8C98FAF5D}" dt="2025-08-18T23:12:08.755" v="2689" actId="122"/>
          <ac:spMkLst>
            <pc:docMk/>
            <pc:sldMk cId="4127597803" sldId="497"/>
            <ac:spMk id="2" creationId="{FD7112BA-4D3C-A18A-34FC-81590254E2D6}"/>
          </ac:spMkLst>
        </pc:spChg>
        <pc:spChg chg="mod">
          <ac:chgData name="Thompson, Brielle" userId="f0ea580a-03ee-4a63-bd84-436803179175" providerId="ADAL" clId="{A8653F06-0B99-4EE0-815C-EAA8C98FAF5D}" dt="2025-08-18T23:13:06.534" v="2780" actId="20577"/>
          <ac:spMkLst>
            <pc:docMk/>
            <pc:sldMk cId="4127597803" sldId="497"/>
            <ac:spMk id="3" creationId="{5916745D-A10B-0161-9475-F41157ABFD12}"/>
          </ac:spMkLst>
        </pc:spChg>
      </pc:sldChg>
      <pc:sldChg chg="addSp delSp modSp add mod delAnim modAnim">
        <pc:chgData name="Thompson, Brielle" userId="f0ea580a-03ee-4a63-bd84-436803179175" providerId="ADAL" clId="{A8653F06-0B99-4EE0-815C-EAA8C98FAF5D}" dt="2025-08-19T14:00:21.999" v="3143"/>
        <pc:sldMkLst>
          <pc:docMk/>
          <pc:sldMk cId="4261700994" sldId="498"/>
        </pc:sldMkLst>
        <pc:spChg chg="add mod">
          <ac:chgData name="Thompson, Brielle" userId="f0ea580a-03ee-4a63-bd84-436803179175" providerId="ADAL" clId="{A8653F06-0B99-4EE0-815C-EAA8C98FAF5D}" dt="2025-08-19T13:58:33.940" v="3114" actId="1582"/>
          <ac:spMkLst>
            <pc:docMk/>
            <pc:sldMk cId="4261700994" sldId="498"/>
            <ac:spMk id="3" creationId="{BEC3AD04-B98C-CEB4-329B-BEE07637541A}"/>
          </ac:spMkLst>
        </pc:spChg>
        <pc:spChg chg="add mod">
          <ac:chgData name="Thompson, Brielle" userId="f0ea580a-03ee-4a63-bd84-436803179175" providerId="ADAL" clId="{A8653F06-0B99-4EE0-815C-EAA8C98FAF5D}" dt="2025-08-18T22:32:15.976" v="1951" actId="20577"/>
          <ac:spMkLst>
            <pc:docMk/>
            <pc:sldMk cId="4261700994" sldId="498"/>
            <ac:spMk id="11" creationId="{742C975E-8E1B-5FF3-631D-B2A8A58DA5C7}"/>
          </ac:spMkLst>
        </pc:spChg>
        <pc:spChg chg="add mod">
          <ac:chgData name="Thompson, Brielle" userId="f0ea580a-03ee-4a63-bd84-436803179175" providerId="ADAL" clId="{A8653F06-0B99-4EE0-815C-EAA8C98FAF5D}" dt="2025-08-18T22:32:33.311" v="1958" actId="27636"/>
          <ac:spMkLst>
            <pc:docMk/>
            <pc:sldMk cId="4261700994" sldId="498"/>
            <ac:spMk id="12" creationId="{B9FE2CAE-12AE-A582-B6E1-2049831B1AEE}"/>
          </ac:spMkLst>
        </pc:spChg>
      </pc:sldChg>
      <pc:sldChg chg="addSp delSp modSp add mod modAnim">
        <pc:chgData name="Thompson, Brielle" userId="f0ea580a-03ee-4a63-bd84-436803179175" providerId="ADAL" clId="{A8653F06-0B99-4EE0-815C-EAA8C98FAF5D}" dt="2025-08-19T13:59:57.605" v="3135"/>
        <pc:sldMkLst>
          <pc:docMk/>
          <pc:sldMk cId="547573310" sldId="499"/>
        </pc:sldMkLst>
        <pc:spChg chg="add mod">
          <ac:chgData name="Thompson, Brielle" userId="f0ea580a-03ee-4a63-bd84-436803179175" providerId="ADAL" clId="{A8653F06-0B99-4EE0-815C-EAA8C98FAF5D}" dt="2025-08-19T13:59:38.852" v="3132" actId="5793"/>
          <ac:spMkLst>
            <pc:docMk/>
            <pc:sldMk cId="547573310" sldId="499"/>
            <ac:spMk id="6" creationId="{04EA326E-DE95-848D-11A9-56E9CC6A4A7F}"/>
          </ac:spMkLst>
        </pc:spChg>
        <pc:spChg chg="mod">
          <ac:chgData name="Thompson, Brielle" userId="f0ea580a-03ee-4a63-bd84-436803179175" providerId="ADAL" clId="{A8653F06-0B99-4EE0-815C-EAA8C98FAF5D}" dt="2025-08-18T22:32:50.447" v="1962" actId="20577"/>
          <ac:spMkLst>
            <pc:docMk/>
            <pc:sldMk cId="547573310" sldId="499"/>
            <ac:spMk id="11" creationId="{722E98A6-9E46-4F78-2228-70FAF14CC7A5}"/>
          </ac:spMkLst>
        </pc:spChg>
      </pc:sldChg>
      <pc:sldChg chg="addSp delSp modSp add mod modAnim">
        <pc:chgData name="Thompson, Brielle" userId="f0ea580a-03ee-4a63-bd84-436803179175" providerId="ADAL" clId="{A8653F06-0B99-4EE0-815C-EAA8C98FAF5D}" dt="2025-08-18T22:34:52.212" v="1997"/>
        <pc:sldMkLst>
          <pc:docMk/>
          <pc:sldMk cId="3921891920" sldId="500"/>
        </pc:sldMkLst>
        <pc:spChg chg="add mod">
          <ac:chgData name="Thompson, Brielle" userId="f0ea580a-03ee-4a63-bd84-436803179175" providerId="ADAL" clId="{A8653F06-0B99-4EE0-815C-EAA8C98FAF5D}" dt="2025-08-18T22:34:12.034" v="1992" actId="1076"/>
          <ac:spMkLst>
            <pc:docMk/>
            <pc:sldMk cId="3921891920" sldId="500"/>
            <ac:spMk id="9" creationId="{1731215B-D566-1990-9839-2B90D47A6EF0}"/>
          </ac:spMkLst>
        </pc:spChg>
        <pc:spChg chg="add del mod">
          <ac:chgData name="Thompson, Brielle" userId="f0ea580a-03ee-4a63-bd84-436803179175" providerId="ADAL" clId="{A8653F06-0B99-4EE0-815C-EAA8C98FAF5D}" dt="2025-08-18T22:33:55.404" v="1983" actId="20577"/>
          <ac:spMkLst>
            <pc:docMk/>
            <pc:sldMk cId="3921891920" sldId="500"/>
            <ac:spMk id="11" creationId="{135BB315-6C9E-6B72-166F-8F28255E21D2}"/>
          </ac:spMkLst>
        </pc:spChg>
        <pc:picChg chg="add mod">
          <ac:chgData name="Thompson, Brielle" userId="f0ea580a-03ee-4a63-bd84-436803179175" providerId="ADAL" clId="{A8653F06-0B99-4EE0-815C-EAA8C98FAF5D}" dt="2025-08-18T22:34:43.185" v="1995" actId="1076"/>
          <ac:picMkLst>
            <pc:docMk/>
            <pc:sldMk cId="3921891920" sldId="500"/>
            <ac:picMk id="12" creationId="{D6B11222-241C-95AC-CFE5-9E104CF6D864}"/>
          </ac:picMkLst>
        </pc:picChg>
      </pc:sldChg>
      <pc:sldChg chg="delSp modSp add mod">
        <pc:chgData name="Thompson, Brielle" userId="f0ea580a-03ee-4a63-bd84-436803179175" providerId="ADAL" clId="{A8653F06-0B99-4EE0-815C-EAA8C98FAF5D}" dt="2025-08-18T22:38:05.357" v="2206" actId="20577"/>
        <pc:sldMkLst>
          <pc:docMk/>
          <pc:sldMk cId="977869094" sldId="501"/>
        </pc:sldMkLst>
        <pc:spChg chg="mod">
          <ac:chgData name="Thompson, Brielle" userId="f0ea580a-03ee-4a63-bd84-436803179175" providerId="ADAL" clId="{A8653F06-0B99-4EE0-815C-EAA8C98FAF5D}" dt="2025-08-18T22:37:56.167" v="2202" actId="27636"/>
          <ac:spMkLst>
            <pc:docMk/>
            <pc:sldMk cId="977869094" sldId="501"/>
            <ac:spMk id="4" creationId="{9B9B1E2E-89F1-FF15-5EB3-801CB605AC1A}"/>
          </ac:spMkLst>
        </pc:spChg>
        <pc:spChg chg="mod">
          <ac:chgData name="Thompson, Brielle" userId="f0ea580a-03ee-4a63-bd84-436803179175" providerId="ADAL" clId="{A8653F06-0B99-4EE0-815C-EAA8C98FAF5D}" dt="2025-08-18T22:38:05.357" v="2206" actId="20577"/>
          <ac:spMkLst>
            <pc:docMk/>
            <pc:sldMk cId="977869094" sldId="501"/>
            <ac:spMk id="8" creationId="{128C1BEF-82EC-C38A-F907-7A4E21EDF9DC}"/>
          </ac:spMkLst>
        </pc:spChg>
      </pc:sldChg>
      <pc:sldChg chg="modSp add mod">
        <pc:chgData name="Thompson, Brielle" userId="f0ea580a-03ee-4a63-bd84-436803179175" providerId="ADAL" clId="{A8653F06-0B99-4EE0-815C-EAA8C98FAF5D}" dt="2025-08-19T14:00:56.318" v="3151" actId="115"/>
        <pc:sldMkLst>
          <pc:docMk/>
          <pc:sldMk cId="3117204857" sldId="502"/>
        </pc:sldMkLst>
        <pc:spChg chg="mod">
          <ac:chgData name="Thompson, Brielle" userId="f0ea580a-03ee-4a63-bd84-436803179175" providerId="ADAL" clId="{A8653F06-0B99-4EE0-815C-EAA8C98FAF5D}" dt="2025-08-19T14:00:56.318" v="3151" actId="115"/>
          <ac:spMkLst>
            <pc:docMk/>
            <pc:sldMk cId="3117204857" sldId="502"/>
            <ac:spMk id="2" creationId="{F46F93C8-BFBF-89CA-9C75-E844CA4538EC}"/>
          </ac:spMkLst>
        </pc:spChg>
      </pc:sldChg>
      <pc:sldChg chg="addSp delSp modSp add mod">
        <pc:chgData name="Thompson, Brielle" userId="f0ea580a-03ee-4a63-bd84-436803179175" providerId="ADAL" clId="{A8653F06-0B99-4EE0-815C-EAA8C98FAF5D}" dt="2025-08-18T22:41:47.469" v="2346" actId="1076"/>
        <pc:sldMkLst>
          <pc:docMk/>
          <pc:sldMk cId="2262764080" sldId="503"/>
        </pc:sldMkLst>
        <pc:spChg chg="mod">
          <ac:chgData name="Thompson, Brielle" userId="f0ea580a-03ee-4a63-bd84-436803179175" providerId="ADAL" clId="{A8653F06-0B99-4EE0-815C-EAA8C98FAF5D}" dt="2025-08-18T22:41:47.469" v="2346" actId="1076"/>
          <ac:spMkLst>
            <pc:docMk/>
            <pc:sldMk cId="2262764080" sldId="503"/>
            <ac:spMk id="4" creationId="{3ECF5C02-B233-DC82-31EF-D46497A552EB}"/>
          </ac:spMkLst>
        </pc:spChg>
        <pc:spChg chg="add mod">
          <ac:chgData name="Thompson, Brielle" userId="f0ea580a-03ee-4a63-bd84-436803179175" providerId="ADAL" clId="{A8653F06-0B99-4EE0-815C-EAA8C98FAF5D}" dt="2025-08-18T22:41:43.223" v="2345" actId="1076"/>
          <ac:spMkLst>
            <pc:docMk/>
            <pc:sldMk cId="2262764080" sldId="503"/>
            <ac:spMk id="12" creationId="{9BE5F49D-F5A2-7BAB-1F57-2B700D51C74D}"/>
          </ac:spMkLst>
        </pc:spChg>
      </pc:sldChg>
      <pc:sldChg chg="modSp add mod">
        <pc:chgData name="Thompson, Brielle" userId="f0ea580a-03ee-4a63-bd84-436803179175" providerId="ADAL" clId="{A8653F06-0B99-4EE0-815C-EAA8C98FAF5D}" dt="2025-08-18T23:13:26.888" v="2846" actId="20577"/>
        <pc:sldMkLst>
          <pc:docMk/>
          <pc:sldMk cId="1790468939" sldId="504"/>
        </pc:sldMkLst>
        <pc:spChg chg="mod">
          <ac:chgData name="Thompson, Brielle" userId="f0ea580a-03ee-4a63-bd84-436803179175" providerId="ADAL" clId="{A8653F06-0B99-4EE0-815C-EAA8C98FAF5D}" dt="2025-08-18T23:12:29.601" v="2698" actId="122"/>
          <ac:spMkLst>
            <pc:docMk/>
            <pc:sldMk cId="1790468939" sldId="504"/>
            <ac:spMk id="2" creationId="{206359EE-47A5-0919-A6B9-0A41693E484D}"/>
          </ac:spMkLst>
        </pc:spChg>
        <pc:spChg chg="mod">
          <ac:chgData name="Thompson, Brielle" userId="f0ea580a-03ee-4a63-bd84-436803179175" providerId="ADAL" clId="{A8653F06-0B99-4EE0-815C-EAA8C98FAF5D}" dt="2025-08-18T23:13:26.888" v="2846" actId="20577"/>
          <ac:spMkLst>
            <pc:docMk/>
            <pc:sldMk cId="1790468939" sldId="504"/>
            <ac:spMk id="3" creationId="{5CC7CC99-CE58-13B4-7E98-A4808353429D}"/>
          </ac:spMkLst>
        </pc:spChg>
      </pc:sldChg>
      <pc:sldChg chg="modSp add mod">
        <pc:chgData name="Thompson, Brielle" userId="f0ea580a-03ee-4a63-bd84-436803179175" providerId="ADAL" clId="{A8653F06-0B99-4EE0-815C-EAA8C98FAF5D}" dt="2025-08-18T23:18:41.147" v="2957" actId="122"/>
        <pc:sldMkLst>
          <pc:docMk/>
          <pc:sldMk cId="882619258" sldId="505"/>
        </pc:sldMkLst>
        <pc:spChg chg="mod">
          <ac:chgData name="Thompson, Brielle" userId="f0ea580a-03ee-4a63-bd84-436803179175" providerId="ADAL" clId="{A8653F06-0B99-4EE0-815C-EAA8C98FAF5D}" dt="2025-08-18T23:17:38.432" v="2885" actId="20577"/>
          <ac:spMkLst>
            <pc:docMk/>
            <pc:sldMk cId="882619258" sldId="505"/>
            <ac:spMk id="2" creationId="{866F5731-F6FE-3ED3-69ED-94CA2ACE9233}"/>
          </ac:spMkLst>
        </pc:spChg>
        <pc:spChg chg="mod">
          <ac:chgData name="Thompson, Brielle" userId="f0ea580a-03ee-4a63-bd84-436803179175" providerId="ADAL" clId="{A8653F06-0B99-4EE0-815C-EAA8C98FAF5D}" dt="2025-08-18T23:18:41.147" v="2957" actId="122"/>
          <ac:spMkLst>
            <pc:docMk/>
            <pc:sldMk cId="882619258" sldId="505"/>
            <ac:spMk id="3" creationId="{63D864B0-28DE-A01E-9984-1997F8F753A3}"/>
          </ac:spMkLst>
        </pc:spChg>
      </pc:sldChg>
      <pc:sldChg chg="modSp add mod">
        <pc:chgData name="Thompson, Brielle" userId="f0ea580a-03ee-4a63-bd84-436803179175" providerId="ADAL" clId="{A8653F06-0B99-4EE0-815C-EAA8C98FAF5D}" dt="2025-08-18T23:19:29.324" v="2961" actId="20577"/>
        <pc:sldMkLst>
          <pc:docMk/>
          <pc:sldMk cId="3553281912" sldId="506"/>
        </pc:sldMkLst>
        <pc:spChg chg="mod">
          <ac:chgData name="Thompson, Brielle" userId="f0ea580a-03ee-4a63-bd84-436803179175" providerId="ADAL" clId="{A8653F06-0B99-4EE0-815C-EAA8C98FAF5D}" dt="2025-08-18T23:19:29.324" v="2961" actId="20577"/>
          <ac:spMkLst>
            <pc:docMk/>
            <pc:sldMk cId="3553281912" sldId="506"/>
            <ac:spMk id="3" creationId="{BB68C857-2206-20A4-A9EF-FBB118FF5B93}"/>
          </ac:spMkLst>
        </pc:spChg>
      </pc:sldChg>
      <pc:sldChg chg="delSp modSp add mod ord delAnim">
        <pc:chgData name="Thompson, Brielle" userId="f0ea580a-03ee-4a63-bd84-436803179175" providerId="ADAL" clId="{A8653F06-0B99-4EE0-815C-EAA8C98FAF5D}" dt="2025-08-19T14:01:48.043" v="3155" actId="115"/>
        <pc:sldMkLst>
          <pc:docMk/>
          <pc:sldMk cId="1527614094" sldId="507"/>
        </pc:sldMkLst>
        <pc:spChg chg="mod">
          <ac:chgData name="Thompson, Brielle" userId="f0ea580a-03ee-4a63-bd84-436803179175" providerId="ADAL" clId="{A8653F06-0B99-4EE0-815C-EAA8C98FAF5D}" dt="2025-08-19T14:01:48.043" v="3155" actId="115"/>
          <ac:spMkLst>
            <pc:docMk/>
            <pc:sldMk cId="1527614094" sldId="507"/>
            <ac:spMk id="2" creationId="{AD50A41E-8BCE-299F-D93F-7B2787210A5C}"/>
          </ac:spMkLst>
        </pc:spChg>
      </pc:sldChg>
      <pc:sldMasterChg chg="delSldLayout">
        <pc:chgData name="Thompson, Brielle" userId="f0ea580a-03ee-4a63-bd84-436803179175" providerId="ADAL" clId="{A8653F06-0B99-4EE0-815C-EAA8C98FAF5D}" dt="2025-08-18T22:43:09.549" v="2456" actId="47"/>
        <pc:sldMasterMkLst>
          <pc:docMk/>
          <pc:sldMasterMk cId="3623083998" sldId="2147483672"/>
        </pc:sldMasterMkLst>
        <pc:sldLayoutChg chg="del">
          <pc:chgData name="Thompson, Brielle" userId="f0ea580a-03ee-4a63-bd84-436803179175" providerId="ADAL" clId="{A8653F06-0B99-4EE0-815C-EAA8C98FAF5D}" dt="2025-08-18T21:16:46.475" v="1664" actId="47"/>
          <pc:sldLayoutMkLst>
            <pc:docMk/>
            <pc:sldMasterMk cId="3623083998" sldId="2147483672"/>
            <pc:sldLayoutMk cId="312103659" sldId="2147483684"/>
          </pc:sldLayoutMkLst>
        </pc:sldLayoutChg>
        <pc:sldLayoutChg chg="del">
          <pc:chgData name="Thompson, Brielle" userId="f0ea580a-03ee-4a63-bd84-436803179175" providerId="ADAL" clId="{A8653F06-0B99-4EE0-815C-EAA8C98FAF5D}" dt="2025-08-18T22:43:09.549" v="2456" actId="47"/>
          <pc:sldLayoutMkLst>
            <pc:docMk/>
            <pc:sldMasterMk cId="3623083998" sldId="2147483672"/>
            <pc:sldLayoutMk cId="2887979869" sldId="2147483684"/>
          </pc:sldLayoutMkLst>
        </pc:sldLayoutChg>
        <pc:sldLayoutChg chg="del">
          <pc:chgData name="Thompson, Brielle" userId="f0ea580a-03ee-4a63-bd84-436803179175" providerId="ADAL" clId="{A8653F06-0B99-4EE0-815C-EAA8C98FAF5D}" dt="2025-08-18T20:44:36.668" v="1316" actId="47"/>
          <pc:sldLayoutMkLst>
            <pc:docMk/>
            <pc:sldMasterMk cId="3623083998" sldId="2147483672"/>
            <pc:sldLayoutMk cId="3470513207" sldId="2147483684"/>
          </pc:sldLayoutMkLst>
        </pc:sldLayoutChg>
      </pc:sldMasterChg>
    </pc:docChg>
  </pc:docChgLst>
  <pc:docChgLst>
    <pc:chgData name="Thompson, Brielle" userId="f0ea580a-03ee-4a63-bd84-436803179175" providerId="ADAL" clId="{7B8809AF-57EE-46A8-9FFB-5C73D92D8713}"/>
    <pc:docChg chg="undo custSel addSld delSld modSld">
      <pc:chgData name="Thompson, Brielle" userId="f0ea580a-03ee-4a63-bd84-436803179175" providerId="ADAL" clId="{7B8809AF-57EE-46A8-9FFB-5C73D92D8713}" dt="2025-08-27T21:16:59.933" v="893"/>
      <pc:docMkLst>
        <pc:docMk/>
      </pc:docMkLst>
      <pc:sldChg chg="addSp modSp mod">
        <pc:chgData name="Thompson, Brielle" userId="f0ea580a-03ee-4a63-bd84-436803179175" providerId="ADAL" clId="{7B8809AF-57EE-46A8-9FFB-5C73D92D8713}" dt="2025-08-21T16:49:08.603" v="414" actId="1582"/>
        <pc:sldMkLst>
          <pc:docMk/>
          <pc:sldMk cId="2342776510" sldId="291"/>
        </pc:sldMkLst>
        <pc:spChg chg="add mod">
          <ac:chgData name="Thompson, Brielle" userId="f0ea580a-03ee-4a63-bd84-436803179175" providerId="ADAL" clId="{7B8809AF-57EE-46A8-9FFB-5C73D92D8713}" dt="2025-08-21T16:49:08.603" v="414" actId="1582"/>
          <ac:spMkLst>
            <pc:docMk/>
            <pc:sldMk cId="2342776510" sldId="291"/>
            <ac:spMk id="2" creationId="{6FB75B1D-D86B-0D64-10CD-A08AF3960B26}"/>
          </ac:spMkLst>
        </pc:spChg>
      </pc:sldChg>
      <pc:sldChg chg="modSp del mod">
        <pc:chgData name="Thompson, Brielle" userId="f0ea580a-03ee-4a63-bd84-436803179175" providerId="ADAL" clId="{7B8809AF-57EE-46A8-9FFB-5C73D92D8713}" dt="2025-08-21T19:48:26.401" v="692" actId="47"/>
        <pc:sldMkLst>
          <pc:docMk/>
          <pc:sldMk cId="3247257364" sldId="435"/>
        </pc:sldMkLst>
      </pc:sldChg>
      <pc:sldChg chg="new del">
        <pc:chgData name="Thompson, Brielle" userId="f0ea580a-03ee-4a63-bd84-436803179175" providerId="ADAL" clId="{7B8809AF-57EE-46A8-9FFB-5C73D92D8713}" dt="2025-08-20T22:19:09.732" v="2" actId="47"/>
        <pc:sldMkLst>
          <pc:docMk/>
          <pc:sldMk cId="270712822" sldId="508"/>
        </pc:sldMkLst>
      </pc:sldChg>
      <pc:sldChg chg="addSp delSp modSp add mod setBg modAnim">
        <pc:chgData name="Thompson, Brielle" userId="f0ea580a-03ee-4a63-bd84-436803179175" providerId="ADAL" clId="{7B8809AF-57EE-46A8-9FFB-5C73D92D8713}" dt="2025-08-20T22:28:29.372" v="337" actId="207"/>
        <pc:sldMkLst>
          <pc:docMk/>
          <pc:sldMk cId="2716345525" sldId="509"/>
        </pc:sldMkLst>
        <pc:spChg chg="mod">
          <ac:chgData name="Thompson, Brielle" userId="f0ea580a-03ee-4a63-bd84-436803179175" providerId="ADAL" clId="{7B8809AF-57EE-46A8-9FFB-5C73D92D8713}" dt="2025-08-20T22:28:29.372" v="337" actId="207"/>
          <ac:spMkLst>
            <pc:docMk/>
            <pc:sldMk cId="2716345525" sldId="509"/>
            <ac:spMk id="2" creationId="{7A40B144-4F84-4904-5069-E111693C7CAA}"/>
          </ac:spMkLst>
        </pc:spChg>
        <pc:spChg chg="mod">
          <ac:chgData name="Thompson, Brielle" userId="f0ea580a-03ee-4a63-bd84-436803179175" providerId="ADAL" clId="{7B8809AF-57EE-46A8-9FFB-5C73D92D8713}" dt="2025-08-20T22:22:28.986" v="314" actId="14100"/>
          <ac:spMkLst>
            <pc:docMk/>
            <pc:sldMk cId="2716345525" sldId="509"/>
            <ac:spMk id="3" creationId="{835A3ACB-323F-C124-5084-39A44120C243}"/>
          </ac:spMkLst>
        </pc:spChg>
        <pc:picChg chg="add mod">
          <ac:chgData name="Thompson, Brielle" userId="f0ea580a-03ee-4a63-bd84-436803179175" providerId="ADAL" clId="{7B8809AF-57EE-46A8-9FFB-5C73D92D8713}" dt="2025-08-20T22:28:21.310" v="336" actId="14861"/>
          <ac:picMkLst>
            <pc:docMk/>
            <pc:sldMk cId="2716345525" sldId="509"/>
            <ac:picMk id="6" creationId="{60FFCAA1-5EA6-0815-A67C-EE7A38664C03}"/>
          </ac:picMkLst>
        </pc:picChg>
      </pc:sldChg>
      <pc:sldChg chg="add">
        <pc:chgData name="Thompson, Brielle" userId="f0ea580a-03ee-4a63-bd84-436803179175" providerId="ADAL" clId="{7B8809AF-57EE-46A8-9FFB-5C73D92D8713}" dt="2025-08-21T19:48:25.107" v="691"/>
        <pc:sldMkLst>
          <pc:docMk/>
          <pc:sldMk cId="3190765445" sldId="510"/>
        </pc:sldMkLst>
      </pc:sldChg>
      <pc:sldChg chg="addSp modSp new mod">
        <pc:chgData name="Thompson, Brielle" userId="f0ea580a-03ee-4a63-bd84-436803179175" providerId="ADAL" clId="{7B8809AF-57EE-46A8-9FFB-5C73D92D8713}" dt="2025-08-27T21:14:39.550" v="851" actId="115"/>
        <pc:sldMkLst>
          <pc:docMk/>
          <pc:sldMk cId="3763813171" sldId="511"/>
        </pc:sldMkLst>
        <pc:spChg chg="mod">
          <ac:chgData name="Thompson, Brielle" userId="f0ea580a-03ee-4a63-bd84-436803179175" providerId="ADAL" clId="{7B8809AF-57EE-46A8-9FFB-5C73D92D8713}" dt="2025-08-27T21:13:27.566" v="785" actId="20577"/>
          <ac:spMkLst>
            <pc:docMk/>
            <pc:sldMk cId="3763813171" sldId="511"/>
            <ac:spMk id="2" creationId="{20AE7182-5B2E-CB12-B9ED-AD0DCDD74C3C}"/>
          </ac:spMkLst>
        </pc:spChg>
        <pc:spChg chg="mod">
          <ac:chgData name="Thompson, Brielle" userId="f0ea580a-03ee-4a63-bd84-436803179175" providerId="ADAL" clId="{7B8809AF-57EE-46A8-9FFB-5C73D92D8713}" dt="2025-08-27T21:14:39.550" v="851" actId="115"/>
          <ac:spMkLst>
            <pc:docMk/>
            <pc:sldMk cId="3763813171" sldId="511"/>
            <ac:spMk id="3" creationId="{536F1B1B-CCA7-3A54-0573-A47067789982}"/>
          </ac:spMkLst>
        </pc:spChg>
        <pc:spChg chg="add mod">
          <ac:chgData name="Thompson, Brielle" userId="f0ea580a-03ee-4a63-bd84-436803179175" providerId="ADAL" clId="{7B8809AF-57EE-46A8-9FFB-5C73D92D8713}" dt="2025-08-27T21:14:07.753" v="839" actId="1076"/>
          <ac:spMkLst>
            <pc:docMk/>
            <pc:sldMk cId="3763813171" sldId="511"/>
            <ac:spMk id="4" creationId="{AF342606-5283-4735-BCB9-C89B56AD8B56}"/>
          </ac:spMkLst>
        </pc:spChg>
      </pc:sldChg>
      <pc:sldChg chg="modSp new mod setBg">
        <pc:chgData name="Thompson, Brielle" userId="f0ea580a-03ee-4a63-bd84-436803179175" providerId="ADAL" clId="{7B8809AF-57EE-46A8-9FFB-5C73D92D8713}" dt="2025-08-27T21:16:59.933" v="893"/>
        <pc:sldMkLst>
          <pc:docMk/>
          <pc:sldMk cId="1017658349" sldId="512"/>
        </pc:sldMkLst>
        <pc:spChg chg="mod">
          <ac:chgData name="Thompson, Brielle" userId="f0ea580a-03ee-4a63-bd84-436803179175" providerId="ADAL" clId="{7B8809AF-57EE-46A8-9FFB-5C73D92D8713}" dt="2025-08-27T21:16:51.021" v="891" actId="20577"/>
          <ac:spMkLst>
            <pc:docMk/>
            <pc:sldMk cId="1017658349" sldId="512"/>
            <ac:spMk id="2" creationId="{B6558E6E-3886-145B-C746-06A0223ABC1B}"/>
          </ac:spMkLst>
        </pc:spChg>
        <pc:spChg chg="mod">
          <ac:chgData name="Thompson, Brielle" userId="f0ea580a-03ee-4a63-bd84-436803179175" providerId="ADAL" clId="{7B8809AF-57EE-46A8-9FFB-5C73D92D8713}" dt="2025-08-27T21:16:52.016" v="892"/>
          <ac:spMkLst>
            <pc:docMk/>
            <pc:sldMk cId="1017658349" sldId="512"/>
            <ac:spMk id="3" creationId="{C54BE161-5499-BC2D-B20E-D58ED0CF99B4}"/>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svg"/><Relationship Id="rId1" Type="http://schemas.openxmlformats.org/officeDocument/2006/relationships/image" Target="../media/image40.png"/><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4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svg"/><Relationship Id="rId1" Type="http://schemas.openxmlformats.org/officeDocument/2006/relationships/image" Target="../media/image40.png"/><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43.svg"/></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388796C-84E5-4B6B-9CF7-B61E4C15B5E0}" type="doc">
      <dgm:prSet loTypeId="urn:microsoft.com/office/officeart/2018/2/layout/IconVerticalSolidList" loCatId="icon" qsTypeId="urn:microsoft.com/office/officeart/2005/8/quickstyle/simple1" qsCatId="simple" csTypeId="urn:microsoft.com/office/officeart/2005/8/colors/colorful4" csCatId="colorful" phldr="1"/>
      <dgm:spPr/>
      <dgm:t>
        <a:bodyPr/>
        <a:lstStyle/>
        <a:p>
          <a:endParaRPr lang="en-US"/>
        </a:p>
      </dgm:t>
    </dgm:pt>
    <dgm:pt modelId="{485AC4E0-BF2D-4AD8-8D3B-2D6E3819ABC4}">
      <dgm:prSet custT="1"/>
      <dgm:spPr/>
      <dgm:t>
        <a:bodyPr/>
        <a:lstStyle/>
        <a:p>
          <a:pPr>
            <a:lnSpc>
              <a:spcPct val="100000"/>
            </a:lnSpc>
          </a:pPr>
          <a:r>
            <a:rPr lang="en-US" sz="3200" b="1" dirty="0"/>
            <a:t>Next week: </a:t>
          </a:r>
          <a:r>
            <a:rPr lang="en-US" sz="3200" b="0" u="sng" dirty="0"/>
            <a:t>A</a:t>
          </a:r>
          <a:r>
            <a:rPr lang="en-US" sz="3200" dirty="0"/>
            <a:t> step of </a:t>
          </a:r>
          <a:r>
            <a:rPr lang="en-US" sz="3200" b="0" u="none" dirty="0" err="1"/>
            <a:t>Pr</a:t>
          </a:r>
          <a:r>
            <a:rPr lang="en-US" sz="3200" u="none" dirty="0" err="1"/>
            <a:t>O</a:t>
          </a:r>
          <a:r>
            <a:rPr lang="en-US" sz="3200" u="sng" dirty="0" err="1"/>
            <a:t>A</a:t>
          </a:r>
          <a:r>
            <a:rPr lang="en-US" sz="3200" dirty="0" err="1"/>
            <a:t>CT</a:t>
          </a:r>
          <a:endParaRPr lang="en-US" sz="3200" dirty="0"/>
        </a:p>
      </dgm:t>
    </dgm:pt>
    <dgm:pt modelId="{36C2114D-F4EA-42E7-814C-72914715A2A4}" type="parTrans" cxnId="{6811D09C-7CAC-4829-880E-1C2C940E1881}">
      <dgm:prSet/>
      <dgm:spPr/>
      <dgm:t>
        <a:bodyPr/>
        <a:lstStyle/>
        <a:p>
          <a:endParaRPr lang="en-US"/>
        </a:p>
      </dgm:t>
    </dgm:pt>
    <dgm:pt modelId="{FB2191A4-4516-4618-9786-89D3A73692B0}" type="sibTrans" cxnId="{6811D09C-7CAC-4829-880E-1C2C940E1881}">
      <dgm:prSet/>
      <dgm:spPr/>
      <dgm:t>
        <a:bodyPr/>
        <a:lstStyle/>
        <a:p>
          <a:endParaRPr lang="en-US"/>
        </a:p>
      </dgm:t>
    </dgm:pt>
    <dgm:pt modelId="{0A3C7FC9-664A-4038-A0D3-B06A5E396FBA}">
      <dgm:prSet custT="1"/>
      <dgm:spPr/>
      <dgm:t>
        <a:bodyPr/>
        <a:lstStyle/>
        <a:p>
          <a:pPr>
            <a:lnSpc>
              <a:spcPct val="100000"/>
            </a:lnSpc>
          </a:pPr>
          <a:r>
            <a:rPr lang="en-US" sz="3200" b="1" dirty="0"/>
            <a:t>Weekly: </a:t>
          </a:r>
          <a:r>
            <a:rPr lang="en-US" sz="3200" dirty="0"/>
            <a:t>Work through a step of the </a:t>
          </a:r>
          <a:r>
            <a:rPr lang="en-US" sz="3200" dirty="0" err="1"/>
            <a:t>PrOACT</a:t>
          </a:r>
          <a:r>
            <a:rPr lang="en-US" sz="3200" dirty="0"/>
            <a:t> process/ learn extra tools</a:t>
          </a:r>
        </a:p>
      </dgm:t>
    </dgm:pt>
    <dgm:pt modelId="{82FE7222-0AB0-4379-B7C9-AF298ABCAA86}" type="parTrans" cxnId="{3C8F8CC0-D43F-47FF-B1EE-19524A265068}">
      <dgm:prSet/>
      <dgm:spPr/>
      <dgm:t>
        <a:bodyPr/>
        <a:lstStyle/>
        <a:p>
          <a:endParaRPr lang="en-US"/>
        </a:p>
      </dgm:t>
    </dgm:pt>
    <dgm:pt modelId="{B0939ACD-34C2-4364-ADDE-02ECD203C97D}" type="sibTrans" cxnId="{3C8F8CC0-D43F-47FF-B1EE-19524A265068}">
      <dgm:prSet/>
      <dgm:spPr/>
      <dgm:t>
        <a:bodyPr/>
        <a:lstStyle/>
        <a:p>
          <a:endParaRPr lang="en-US"/>
        </a:p>
      </dgm:t>
    </dgm:pt>
    <dgm:pt modelId="{DA0018A9-3520-4B96-9371-0496D8FEBFC0}">
      <dgm:prSet custT="1"/>
      <dgm:spPr/>
      <dgm:t>
        <a:bodyPr/>
        <a:lstStyle/>
        <a:p>
          <a:pPr>
            <a:lnSpc>
              <a:spcPct val="100000"/>
            </a:lnSpc>
          </a:pPr>
          <a:r>
            <a:rPr lang="en-US" sz="3200" b="1" dirty="0"/>
            <a:t>Last week of class: </a:t>
          </a:r>
        </a:p>
      </dgm:t>
    </dgm:pt>
    <dgm:pt modelId="{B2987A38-1220-4A97-8E35-F999B371BE6D}" type="parTrans" cxnId="{591D11CB-FE98-4C50-B75D-8EB3C81F5D85}">
      <dgm:prSet/>
      <dgm:spPr/>
      <dgm:t>
        <a:bodyPr/>
        <a:lstStyle/>
        <a:p>
          <a:endParaRPr lang="en-US"/>
        </a:p>
      </dgm:t>
    </dgm:pt>
    <dgm:pt modelId="{31CE782F-5FA8-49BE-A4CA-59856909600E}" type="sibTrans" cxnId="{591D11CB-FE98-4C50-B75D-8EB3C81F5D85}">
      <dgm:prSet/>
      <dgm:spPr/>
      <dgm:t>
        <a:bodyPr/>
        <a:lstStyle/>
        <a:p>
          <a:endParaRPr lang="en-US"/>
        </a:p>
      </dgm:t>
    </dgm:pt>
    <dgm:pt modelId="{9F705E52-9093-4C8E-B216-0709DF65E169}">
      <dgm:prSet custT="1"/>
      <dgm:spPr/>
      <dgm:t>
        <a:bodyPr/>
        <a:lstStyle/>
        <a:p>
          <a:pPr>
            <a:lnSpc>
              <a:spcPct val="100000"/>
            </a:lnSpc>
          </a:pPr>
          <a:r>
            <a:rPr lang="en-US" sz="2000" dirty="0"/>
            <a:t>Elevator pitch of your research project in terms of SDM/</a:t>
          </a:r>
          <a:r>
            <a:rPr lang="en-US" sz="2000" dirty="0" err="1"/>
            <a:t>PrOACT</a:t>
          </a:r>
          <a:endParaRPr lang="en-US" sz="2000" dirty="0"/>
        </a:p>
      </dgm:t>
    </dgm:pt>
    <dgm:pt modelId="{7C1C12F0-84DB-4477-9D86-71A9B2690EFC}" type="parTrans" cxnId="{4FFB0D22-5F34-45C8-91BA-560CF9DE4E0C}">
      <dgm:prSet/>
      <dgm:spPr/>
      <dgm:t>
        <a:bodyPr/>
        <a:lstStyle/>
        <a:p>
          <a:endParaRPr lang="en-US"/>
        </a:p>
      </dgm:t>
    </dgm:pt>
    <dgm:pt modelId="{2EE430DF-101F-4D79-B87B-8A92BEA66DB2}" type="sibTrans" cxnId="{4FFB0D22-5F34-45C8-91BA-560CF9DE4E0C}">
      <dgm:prSet/>
      <dgm:spPr/>
      <dgm:t>
        <a:bodyPr/>
        <a:lstStyle/>
        <a:p>
          <a:endParaRPr lang="en-US"/>
        </a:p>
      </dgm:t>
    </dgm:pt>
    <dgm:pt modelId="{A7265913-BBC5-4E62-8EAF-55FE1358B0EA}">
      <dgm:prSet custT="1"/>
      <dgm:spPr/>
      <dgm:t>
        <a:bodyPr/>
        <a:lstStyle/>
        <a:p>
          <a:pPr>
            <a:lnSpc>
              <a:spcPct val="100000"/>
            </a:lnSpc>
          </a:pPr>
          <a:r>
            <a:rPr lang="en-US" sz="1400" dirty="0"/>
            <a:t>Note: Abridged </a:t>
          </a:r>
          <a:r>
            <a:rPr lang="en-US" sz="1400" dirty="0" err="1"/>
            <a:t>PrOACT</a:t>
          </a:r>
          <a:r>
            <a:rPr lang="en-US" sz="1400" dirty="0"/>
            <a:t> story slides with a star on the upper right are good examples to use for your presentation</a:t>
          </a:r>
        </a:p>
      </dgm:t>
    </dgm:pt>
    <dgm:pt modelId="{081163EE-0239-4D9B-945C-74666461A5A8}" type="parTrans" cxnId="{B0BD32DC-C0D9-48B2-BBA2-5C0726DFA2B3}">
      <dgm:prSet/>
      <dgm:spPr/>
      <dgm:t>
        <a:bodyPr/>
        <a:lstStyle/>
        <a:p>
          <a:endParaRPr lang="en-US"/>
        </a:p>
      </dgm:t>
    </dgm:pt>
    <dgm:pt modelId="{A325A3FE-1229-4750-A878-295119C1821A}" type="sibTrans" cxnId="{B0BD32DC-C0D9-48B2-BBA2-5C0726DFA2B3}">
      <dgm:prSet/>
      <dgm:spPr/>
      <dgm:t>
        <a:bodyPr/>
        <a:lstStyle/>
        <a:p>
          <a:endParaRPr lang="en-US"/>
        </a:p>
      </dgm:t>
    </dgm:pt>
    <dgm:pt modelId="{A056BA46-47B7-47AC-9D2C-2F76BB1B8416}" type="pres">
      <dgm:prSet presAssocID="{E388796C-84E5-4B6B-9CF7-B61E4C15B5E0}" presName="root" presStyleCnt="0">
        <dgm:presLayoutVars>
          <dgm:dir/>
          <dgm:resizeHandles val="exact"/>
        </dgm:presLayoutVars>
      </dgm:prSet>
      <dgm:spPr/>
    </dgm:pt>
    <dgm:pt modelId="{90A2CCA3-0102-4E3E-9F59-4F8F7CF06D07}" type="pres">
      <dgm:prSet presAssocID="{485AC4E0-BF2D-4AD8-8D3B-2D6E3819ABC4}" presName="compNode" presStyleCnt="0"/>
      <dgm:spPr/>
    </dgm:pt>
    <dgm:pt modelId="{A886FE22-7F7E-4337-AD20-62FF324B593F}" type="pres">
      <dgm:prSet presAssocID="{485AC4E0-BF2D-4AD8-8D3B-2D6E3819ABC4}" presName="bgRect" presStyleLbl="bgShp" presStyleIdx="0" presStyleCnt="3"/>
      <dgm:spPr/>
    </dgm:pt>
    <dgm:pt modelId="{E5A847E8-FF40-4218-94DC-831EF4B68C67}" type="pres">
      <dgm:prSet presAssocID="{485AC4E0-BF2D-4AD8-8D3B-2D6E3819ABC4}" presName="iconRect" presStyleLbl="node1" presStyleIdx="0" presStyleCnt="3" custScaleX="133760" custScaleY="133760"/>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Fast Forward with solid fill"/>
        </a:ext>
      </dgm:extLst>
    </dgm:pt>
    <dgm:pt modelId="{E5BBB292-B7A2-414E-8522-828D1446F604}" type="pres">
      <dgm:prSet presAssocID="{485AC4E0-BF2D-4AD8-8D3B-2D6E3819ABC4}" presName="spaceRect" presStyleCnt="0"/>
      <dgm:spPr/>
    </dgm:pt>
    <dgm:pt modelId="{DCA50BE1-2C9D-4204-9EB2-5DFDA3ED5B58}" type="pres">
      <dgm:prSet presAssocID="{485AC4E0-BF2D-4AD8-8D3B-2D6E3819ABC4}" presName="parTx" presStyleLbl="revTx" presStyleIdx="0" presStyleCnt="4">
        <dgm:presLayoutVars>
          <dgm:chMax val="0"/>
          <dgm:chPref val="0"/>
        </dgm:presLayoutVars>
      </dgm:prSet>
      <dgm:spPr/>
    </dgm:pt>
    <dgm:pt modelId="{11A8245E-4320-4D39-977C-84693DCEC798}" type="pres">
      <dgm:prSet presAssocID="{FB2191A4-4516-4618-9786-89D3A73692B0}" presName="sibTrans" presStyleCnt="0"/>
      <dgm:spPr/>
    </dgm:pt>
    <dgm:pt modelId="{308B694A-5365-477C-ADF9-06B6473A8748}" type="pres">
      <dgm:prSet presAssocID="{0A3C7FC9-664A-4038-A0D3-B06A5E396FBA}" presName="compNode" presStyleCnt="0"/>
      <dgm:spPr/>
    </dgm:pt>
    <dgm:pt modelId="{29A47B8D-F73E-4C7D-B2AD-8709DC2C5C63}" type="pres">
      <dgm:prSet presAssocID="{0A3C7FC9-664A-4038-A0D3-B06A5E396FBA}" presName="bgRect" presStyleLbl="bgShp" presStyleIdx="1" presStyleCnt="3" custLinFactNeighborY="-8864"/>
      <dgm:spPr/>
    </dgm:pt>
    <dgm:pt modelId="{7F0201AB-0245-435F-9870-2C4E935E607B}" type="pres">
      <dgm:prSet presAssocID="{0A3C7FC9-664A-4038-A0D3-B06A5E396FBA}" presName="iconRect" presStyleLbl="node1" presStyleIdx="1" presStyleCnt="3" custScaleX="133760" custScaleY="133760"/>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Classroom with solid fill"/>
        </a:ext>
      </dgm:extLst>
    </dgm:pt>
    <dgm:pt modelId="{F42501A5-401C-4DFA-B48C-51E7DD340DA5}" type="pres">
      <dgm:prSet presAssocID="{0A3C7FC9-664A-4038-A0D3-B06A5E396FBA}" presName="spaceRect" presStyleCnt="0"/>
      <dgm:spPr/>
    </dgm:pt>
    <dgm:pt modelId="{EB0CAFE2-75BF-4F84-ACB1-CFC9603C0067}" type="pres">
      <dgm:prSet presAssocID="{0A3C7FC9-664A-4038-A0D3-B06A5E396FBA}" presName="parTx" presStyleLbl="revTx" presStyleIdx="1" presStyleCnt="4" custLinFactNeighborX="0" custLinFactNeighborY="-8864">
        <dgm:presLayoutVars>
          <dgm:chMax val="0"/>
          <dgm:chPref val="0"/>
        </dgm:presLayoutVars>
      </dgm:prSet>
      <dgm:spPr/>
    </dgm:pt>
    <dgm:pt modelId="{F26C2E4E-FE27-4565-AD26-5D3B0A87DB12}" type="pres">
      <dgm:prSet presAssocID="{B0939ACD-34C2-4364-ADDE-02ECD203C97D}" presName="sibTrans" presStyleCnt="0"/>
      <dgm:spPr/>
    </dgm:pt>
    <dgm:pt modelId="{ADD5E059-D589-4BD0-AD04-415B6645991C}" type="pres">
      <dgm:prSet presAssocID="{DA0018A9-3520-4B96-9371-0496D8FEBFC0}" presName="compNode" presStyleCnt="0"/>
      <dgm:spPr/>
    </dgm:pt>
    <dgm:pt modelId="{AB7DCEEB-5A1E-47C8-B39D-8FA94337A661}" type="pres">
      <dgm:prSet presAssocID="{DA0018A9-3520-4B96-9371-0496D8FEBFC0}" presName="bgRect" presStyleLbl="bgShp" presStyleIdx="2" presStyleCnt="3"/>
      <dgm:spPr/>
    </dgm:pt>
    <dgm:pt modelId="{4BDBD8EA-A81F-4209-94D3-346420AE14CE}" type="pres">
      <dgm:prSet presAssocID="{DA0018A9-3520-4B96-9371-0496D8FEBFC0}" presName="iconRect" presStyleLbl="node1" presStyleIdx="2" presStyleCnt="3" custScaleX="133760" custScaleY="133760"/>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End with solid fill"/>
        </a:ext>
      </dgm:extLst>
    </dgm:pt>
    <dgm:pt modelId="{9F69214D-A5AD-493D-AD5E-8A08BCBF5068}" type="pres">
      <dgm:prSet presAssocID="{DA0018A9-3520-4B96-9371-0496D8FEBFC0}" presName="spaceRect" presStyleCnt="0"/>
      <dgm:spPr/>
    </dgm:pt>
    <dgm:pt modelId="{A38F464A-1384-4E4D-B65D-0257C7D56658}" type="pres">
      <dgm:prSet presAssocID="{DA0018A9-3520-4B96-9371-0496D8FEBFC0}" presName="parTx" presStyleLbl="revTx" presStyleIdx="2" presStyleCnt="4">
        <dgm:presLayoutVars>
          <dgm:chMax val="0"/>
          <dgm:chPref val="0"/>
        </dgm:presLayoutVars>
      </dgm:prSet>
      <dgm:spPr/>
    </dgm:pt>
    <dgm:pt modelId="{97E6121F-67FE-4485-9EA8-C21F3419F021}" type="pres">
      <dgm:prSet presAssocID="{DA0018A9-3520-4B96-9371-0496D8FEBFC0}" presName="desTx" presStyleLbl="revTx" presStyleIdx="3" presStyleCnt="4" custScaleX="115697" custLinFactNeighborX="-21175" custLinFactNeighborY="0">
        <dgm:presLayoutVars/>
      </dgm:prSet>
      <dgm:spPr/>
    </dgm:pt>
  </dgm:ptLst>
  <dgm:cxnLst>
    <dgm:cxn modelId="{57CD8220-ECA0-42B3-A714-EA9CF38F3144}" type="presOf" srcId="{0A3C7FC9-664A-4038-A0D3-B06A5E396FBA}" destId="{EB0CAFE2-75BF-4F84-ACB1-CFC9603C0067}" srcOrd="0" destOrd="0" presId="urn:microsoft.com/office/officeart/2018/2/layout/IconVerticalSolidList"/>
    <dgm:cxn modelId="{4FFB0D22-5F34-45C8-91BA-560CF9DE4E0C}" srcId="{DA0018A9-3520-4B96-9371-0496D8FEBFC0}" destId="{9F705E52-9093-4C8E-B216-0709DF65E169}" srcOrd="0" destOrd="0" parTransId="{7C1C12F0-84DB-4477-9D86-71A9B2690EFC}" sibTransId="{2EE430DF-101F-4D79-B87B-8A92BEA66DB2}"/>
    <dgm:cxn modelId="{77ED452A-E717-47DF-B421-3C24BF748B0A}" type="presOf" srcId="{9F705E52-9093-4C8E-B216-0709DF65E169}" destId="{97E6121F-67FE-4485-9EA8-C21F3419F021}" srcOrd="0" destOrd="0" presId="urn:microsoft.com/office/officeart/2018/2/layout/IconVerticalSolidList"/>
    <dgm:cxn modelId="{F9084044-A743-4F40-A07C-327386BBB7A5}" type="presOf" srcId="{E388796C-84E5-4B6B-9CF7-B61E4C15B5E0}" destId="{A056BA46-47B7-47AC-9D2C-2F76BB1B8416}" srcOrd="0" destOrd="0" presId="urn:microsoft.com/office/officeart/2018/2/layout/IconVerticalSolidList"/>
    <dgm:cxn modelId="{6811D09C-7CAC-4829-880E-1C2C940E1881}" srcId="{E388796C-84E5-4B6B-9CF7-B61E4C15B5E0}" destId="{485AC4E0-BF2D-4AD8-8D3B-2D6E3819ABC4}" srcOrd="0" destOrd="0" parTransId="{36C2114D-F4EA-42E7-814C-72914715A2A4}" sibTransId="{FB2191A4-4516-4618-9786-89D3A73692B0}"/>
    <dgm:cxn modelId="{F06D97AD-CE68-4F7C-A47F-8197A0C9010A}" type="presOf" srcId="{485AC4E0-BF2D-4AD8-8D3B-2D6E3819ABC4}" destId="{DCA50BE1-2C9D-4204-9EB2-5DFDA3ED5B58}" srcOrd="0" destOrd="0" presId="urn:microsoft.com/office/officeart/2018/2/layout/IconVerticalSolidList"/>
    <dgm:cxn modelId="{BE9541B7-6AC6-4813-BCAA-9CF69E030EF7}" type="presOf" srcId="{DA0018A9-3520-4B96-9371-0496D8FEBFC0}" destId="{A38F464A-1384-4E4D-B65D-0257C7D56658}" srcOrd="0" destOrd="0" presId="urn:microsoft.com/office/officeart/2018/2/layout/IconVerticalSolidList"/>
    <dgm:cxn modelId="{3C8F8CC0-D43F-47FF-B1EE-19524A265068}" srcId="{E388796C-84E5-4B6B-9CF7-B61E4C15B5E0}" destId="{0A3C7FC9-664A-4038-A0D3-B06A5E396FBA}" srcOrd="1" destOrd="0" parTransId="{82FE7222-0AB0-4379-B7C9-AF298ABCAA86}" sibTransId="{B0939ACD-34C2-4364-ADDE-02ECD203C97D}"/>
    <dgm:cxn modelId="{591D11CB-FE98-4C50-B75D-8EB3C81F5D85}" srcId="{E388796C-84E5-4B6B-9CF7-B61E4C15B5E0}" destId="{DA0018A9-3520-4B96-9371-0496D8FEBFC0}" srcOrd="2" destOrd="0" parTransId="{B2987A38-1220-4A97-8E35-F999B371BE6D}" sibTransId="{31CE782F-5FA8-49BE-A4CA-59856909600E}"/>
    <dgm:cxn modelId="{B0BD32DC-C0D9-48B2-BBA2-5C0726DFA2B3}" srcId="{DA0018A9-3520-4B96-9371-0496D8FEBFC0}" destId="{A7265913-BBC5-4E62-8EAF-55FE1358B0EA}" srcOrd="1" destOrd="0" parTransId="{081163EE-0239-4D9B-945C-74666461A5A8}" sibTransId="{A325A3FE-1229-4750-A878-295119C1821A}"/>
    <dgm:cxn modelId="{95C47AFE-5561-4986-A591-17FD5A3F8741}" type="presOf" srcId="{A7265913-BBC5-4E62-8EAF-55FE1358B0EA}" destId="{97E6121F-67FE-4485-9EA8-C21F3419F021}" srcOrd="0" destOrd="1" presId="urn:microsoft.com/office/officeart/2018/2/layout/IconVerticalSolidList"/>
    <dgm:cxn modelId="{ECCD9DDB-694F-4E21-A499-1C410AD8A4A2}" type="presParOf" srcId="{A056BA46-47B7-47AC-9D2C-2F76BB1B8416}" destId="{90A2CCA3-0102-4E3E-9F59-4F8F7CF06D07}" srcOrd="0" destOrd="0" presId="urn:microsoft.com/office/officeart/2018/2/layout/IconVerticalSolidList"/>
    <dgm:cxn modelId="{E6AF1CED-4A7C-44A4-A823-E7906E2413D7}" type="presParOf" srcId="{90A2CCA3-0102-4E3E-9F59-4F8F7CF06D07}" destId="{A886FE22-7F7E-4337-AD20-62FF324B593F}" srcOrd="0" destOrd="0" presId="urn:microsoft.com/office/officeart/2018/2/layout/IconVerticalSolidList"/>
    <dgm:cxn modelId="{57F01B90-0EBF-4F8D-A787-DB8C644D6913}" type="presParOf" srcId="{90A2CCA3-0102-4E3E-9F59-4F8F7CF06D07}" destId="{E5A847E8-FF40-4218-94DC-831EF4B68C67}" srcOrd="1" destOrd="0" presId="urn:microsoft.com/office/officeart/2018/2/layout/IconVerticalSolidList"/>
    <dgm:cxn modelId="{C26B7B3C-322B-42A4-933A-D5773746BEA0}" type="presParOf" srcId="{90A2CCA3-0102-4E3E-9F59-4F8F7CF06D07}" destId="{E5BBB292-B7A2-414E-8522-828D1446F604}" srcOrd="2" destOrd="0" presId="urn:microsoft.com/office/officeart/2018/2/layout/IconVerticalSolidList"/>
    <dgm:cxn modelId="{2640E2C5-CAF6-4AF0-99E9-A1B4FCC65F52}" type="presParOf" srcId="{90A2CCA3-0102-4E3E-9F59-4F8F7CF06D07}" destId="{DCA50BE1-2C9D-4204-9EB2-5DFDA3ED5B58}" srcOrd="3" destOrd="0" presId="urn:microsoft.com/office/officeart/2018/2/layout/IconVerticalSolidList"/>
    <dgm:cxn modelId="{8FDB6974-071C-47F3-83C8-9BAD79B1DB92}" type="presParOf" srcId="{A056BA46-47B7-47AC-9D2C-2F76BB1B8416}" destId="{11A8245E-4320-4D39-977C-84693DCEC798}" srcOrd="1" destOrd="0" presId="urn:microsoft.com/office/officeart/2018/2/layout/IconVerticalSolidList"/>
    <dgm:cxn modelId="{ACAA8309-8ADE-4C92-9F9A-365ED4372369}" type="presParOf" srcId="{A056BA46-47B7-47AC-9D2C-2F76BB1B8416}" destId="{308B694A-5365-477C-ADF9-06B6473A8748}" srcOrd="2" destOrd="0" presId="urn:microsoft.com/office/officeart/2018/2/layout/IconVerticalSolidList"/>
    <dgm:cxn modelId="{669718F3-CDA0-414D-AF5E-764A4037498D}" type="presParOf" srcId="{308B694A-5365-477C-ADF9-06B6473A8748}" destId="{29A47B8D-F73E-4C7D-B2AD-8709DC2C5C63}" srcOrd="0" destOrd="0" presId="urn:microsoft.com/office/officeart/2018/2/layout/IconVerticalSolidList"/>
    <dgm:cxn modelId="{3A115BB2-828D-451A-935B-0B672983D112}" type="presParOf" srcId="{308B694A-5365-477C-ADF9-06B6473A8748}" destId="{7F0201AB-0245-435F-9870-2C4E935E607B}" srcOrd="1" destOrd="0" presId="urn:microsoft.com/office/officeart/2018/2/layout/IconVerticalSolidList"/>
    <dgm:cxn modelId="{06D14E18-8C05-4826-8F5A-BA331B43DD92}" type="presParOf" srcId="{308B694A-5365-477C-ADF9-06B6473A8748}" destId="{F42501A5-401C-4DFA-B48C-51E7DD340DA5}" srcOrd="2" destOrd="0" presId="urn:microsoft.com/office/officeart/2018/2/layout/IconVerticalSolidList"/>
    <dgm:cxn modelId="{290960DB-F10A-4DCE-9860-3E1CCC0134E9}" type="presParOf" srcId="{308B694A-5365-477C-ADF9-06B6473A8748}" destId="{EB0CAFE2-75BF-4F84-ACB1-CFC9603C0067}" srcOrd="3" destOrd="0" presId="urn:microsoft.com/office/officeart/2018/2/layout/IconVerticalSolidList"/>
    <dgm:cxn modelId="{854FCD26-0B59-4E95-9C2E-9CF65E4EAD06}" type="presParOf" srcId="{A056BA46-47B7-47AC-9D2C-2F76BB1B8416}" destId="{F26C2E4E-FE27-4565-AD26-5D3B0A87DB12}" srcOrd="3" destOrd="0" presId="urn:microsoft.com/office/officeart/2018/2/layout/IconVerticalSolidList"/>
    <dgm:cxn modelId="{7F306B44-2FBD-4886-AD4D-33B7BFFB8DD3}" type="presParOf" srcId="{A056BA46-47B7-47AC-9D2C-2F76BB1B8416}" destId="{ADD5E059-D589-4BD0-AD04-415B6645991C}" srcOrd="4" destOrd="0" presId="urn:microsoft.com/office/officeart/2018/2/layout/IconVerticalSolidList"/>
    <dgm:cxn modelId="{EB2AC1F6-3637-456F-8294-3EEA1244AA17}" type="presParOf" srcId="{ADD5E059-D589-4BD0-AD04-415B6645991C}" destId="{AB7DCEEB-5A1E-47C8-B39D-8FA94337A661}" srcOrd="0" destOrd="0" presId="urn:microsoft.com/office/officeart/2018/2/layout/IconVerticalSolidList"/>
    <dgm:cxn modelId="{5611263E-D465-4BC9-BCE1-1043ACAD78BF}" type="presParOf" srcId="{ADD5E059-D589-4BD0-AD04-415B6645991C}" destId="{4BDBD8EA-A81F-4209-94D3-346420AE14CE}" srcOrd="1" destOrd="0" presId="urn:microsoft.com/office/officeart/2018/2/layout/IconVerticalSolidList"/>
    <dgm:cxn modelId="{850B60A8-C317-42DD-944D-97584872C416}" type="presParOf" srcId="{ADD5E059-D589-4BD0-AD04-415B6645991C}" destId="{9F69214D-A5AD-493D-AD5E-8A08BCBF5068}" srcOrd="2" destOrd="0" presId="urn:microsoft.com/office/officeart/2018/2/layout/IconVerticalSolidList"/>
    <dgm:cxn modelId="{BE6A0F8B-2D86-41A5-AC21-35F28F0A2ECC}" type="presParOf" srcId="{ADD5E059-D589-4BD0-AD04-415B6645991C}" destId="{A38F464A-1384-4E4D-B65D-0257C7D56658}" srcOrd="3" destOrd="0" presId="urn:microsoft.com/office/officeart/2018/2/layout/IconVerticalSolidList"/>
    <dgm:cxn modelId="{A9FE102D-AB35-46BD-8065-D847DC56D5FD}" type="presParOf" srcId="{ADD5E059-D589-4BD0-AD04-415B6645991C}" destId="{97E6121F-67FE-4485-9EA8-C21F3419F02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86FE22-7F7E-4337-AD20-62FF324B593F}">
      <dsp:nvSpPr>
        <dsp:cNvPr id="0" name=""/>
        <dsp:cNvSpPr/>
      </dsp:nvSpPr>
      <dsp:spPr>
        <a:xfrm>
          <a:off x="-160155" y="68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5A847E8-FF40-4218-94DC-831EF4B68C67}">
      <dsp:nvSpPr>
        <dsp:cNvPr id="0" name=""/>
        <dsp:cNvSpPr/>
      </dsp:nvSpPr>
      <dsp:spPr>
        <a:xfrm>
          <a:off x="91583" y="165719"/>
          <a:ext cx="885827" cy="884098"/>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A50BE1-2C9D-4204-9EB2-5DFDA3ED5B58}">
      <dsp:nvSpPr>
        <dsp:cNvPr id="0" name=""/>
        <dsp:cNvSpPr/>
      </dsp:nvSpPr>
      <dsp:spPr>
        <a:xfrm>
          <a:off x="1229151" y="6897"/>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Next week: </a:t>
          </a:r>
          <a:r>
            <a:rPr lang="en-US" sz="3200" b="0" u="sng" kern="1200" dirty="0"/>
            <a:t>A</a:t>
          </a:r>
          <a:r>
            <a:rPr lang="en-US" sz="3200" kern="1200" dirty="0"/>
            <a:t> step of </a:t>
          </a:r>
          <a:r>
            <a:rPr lang="en-US" sz="3200" b="0" u="none" kern="1200" dirty="0" err="1"/>
            <a:t>Pr</a:t>
          </a:r>
          <a:r>
            <a:rPr lang="en-US" sz="3200" u="none" kern="1200" dirty="0" err="1"/>
            <a:t>O</a:t>
          </a:r>
          <a:r>
            <a:rPr lang="en-US" sz="3200" u="sng" kern="1200" dirty="0" err="1"/>
            <a:t>A</a:t>
          </a:r>
          <a:r>
            <a:rPr lang="en-US" sz="3200" kern="1200" dirty="0" err="1"/>
            <a:t>CT</a:t>
          </a:r>
          <a:endParaRPr lang="en-US" sz="3200" kern="1200" dirty="0"/>
        </a:p>
      </dsp:txBody>
      <dsp:txXfrm>
        <a:off x="1229151" y="6897"/>
        <a:ext cx="9103508" cy="1239298"/>
      </dsp:txXfrm>
    </dsp:sp>
    <dsp:sp modelId="{29A47B8D-F73E-4C7D-B2AD-8709DC2C5C63}">
      <dsp:nvSpPr>
        <dsp:cNvPr id="0" name=""/>
        <dsp:cNvSpPr/>
      </dsp:nvSpPr>
      <dsp:spPr>
        <a:xfrm>
          <a:off x="-160155" y="14494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F0201AB-0245-435F-9870-2C4E935E607B}">
      <dsp:nvSpPr>
        <dsp:cNvPr id="0" name=""/>
        <dsp:cNvSpPr/>
      </dsp:nvSpPr>
      <dsp:spPr>
        <a:xfrm>
          <a:off x="91583" y="1714842"/>
          <a:ext cx="885827" cy="884098"/>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B0CAFE2-75BF-4F84-ACB1-CFC9603C0067}">
      <dsp:nvSpPr>
        <dsp:cNvPr id="0" name=""/>
        <dsp:cNvSpPr/>
      </dsp:nvSpPr>
      <dsp:spPr>
        <a:xfrm>
          <a:off x="1229151" y="1446168"/>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Weekly: </a:t>
          </a:r>
          <a:r>
            <a:rPr lang="en-US" sz="3200" kern="1200" dirty="0"/>
            <a:t>Work through a step of the </a:t>
          </a:r>
          <a:r>
            <a:rPr lang="en-US" sz="3200" kern="1200" dirty="0" err="1"/>
            <a:t>PrOACT</a:t>
          </a:r>
          <a:r>
            <a:rPr lang="en-US" sz="3200" kern="1200" dirty="0"/>
            <a:t> process/ learn extra tools</a:t>
          </a:r>
        </a:p>
      </dsp:txBody>
      <dsp:txXfrm>
        <a:off x="1229151" y="1446168"/>
        <a:ext cx="9103508" cy="1239298"/>
      </dsp:txXfrm>
    </dsp:sp>
    <dsp:sp modelId="{AB7DCEEB-5A1E-47C8-B39D-8FA94337A661}">
      <dsp:nvSpPr>
        <dsp:cNvPr id="0" name=""/>
        <dsp:cNvSpPr/>
      </dsp:nvSpPr>
      <dsp:spPr>
        <a:xfrm>
          <a:off x="-160155" y="3105142"/>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BDBD8EA-A81F-4209-94D3-346420AE14CE}">
      <dsp:nvSpPr>
        <dsp:cNvPr id="0" name=""/>
        <dsp:cNvSpPr/>
      </dsp:nvSpPr>
      <dsp:spPr>
        <a:xfrm>
          <a:off x="91583" y="3263964"/>
          <a:ext cx="885827" cy="884098"/>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8F464A-1384-4E4D-B65D-0257C7D56658}">
      <dsp:nvSpPr>
        <dsp:cNvPr id="0" name=""/>
        <dsp:cNvSpPr/>
      </dsp:nvSpPr>
      <dsp:spPr>
        <a:xfrm>
          <a:off x="1229151" y="3105142"/>
          <a:ext cx="473202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Last week of class: </a:t>
          </a:r>
        </a:p>
      </dsp:txBody>
      <dsp:txXfrm>
        <a:off x="1229151" y="3105142"/>
        <a:ext cx="4732020" cy="1239298"/>
      </dsp:txXfrm>
    </dsp:sp>
    <dsp:sp modelId="{97E6121F-67FE-4485-9EA8-C21F3419F021}">
      <dsp:nvSpPr>
        <dsp:cNvPr id="0" name=""/>
        <dsp:cNvSpPr/>
      </dsp:nvSpPr>
      <dsp:spPr>
        <a:xfrm>
          <a:off x="4692412" y="3105142"/>
          <a:ext cx="505768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889000">
            <a:lnSpc>
              <a:spcPct val="100000"/>
            </a:lnSpc>
            <a:spcBef>
              <a:spcPct val="0"/>
            </a:spcBef>
            <a:spcAft>
              <a:spcPct val="35000"/>
            </a:spcAft>
            <a:buNone/>
          </a:pPr>
          <a:r>
            <a:rPr lang="en-US" sz="2000" kern="1200" dirty="0"/>
            <a:t>Elevator pitch of your research project in terms of SDM/</a:t>
          </a:r>
          <a:r>
            <a:rPr lang="en-US" sz="2000" kern="1200" dirty="0" err="1"/>
            <a:t>PrOACT</a:t>
          </a:r>
          <a:endParaRPr lang="en-US" sz="2000" kern="1200" dirty="0"/>
        </a:p>
        <a:p>
          <a:pPr marL="0" lvl="0" indent="0" algn="l" defTabSz="622300">
            <a:lnSpc>
              <a:spcPct val="100000"/>
            </a:lnSpc>
            <a:spcBef>
              <a:spcPct val="0"/>
            </a:spcBef>
            <a:spcAft>
              <a:spcPct val="35000"/>
            </a:spcAft>
            <a:buNone/>
          </a:pPr>
          <a:r>
            <a:rPr lang="en-US" sz="1400" kern="1200" dirty="0"/>
            <a:t>Note: Abridged </a:t>
          </a:r>
          <a:r>
            <a:rPr lang="en-US" sz="1400" kern="1200" dirty="0" err="1"/>
            <a:t>PrOACT</a:t>
          </a:r>
          <a:r>
            <a:rPr lang="en-US" sz="1400" kern="1200" dirty="0"/>
            <a:t> story slides with a star on the upper right are good examples to use for your presentation</a:t>
          </a:r>
        </a:p>
      </dsp:txBody>
      <dsp:txXfrm>
        <a:off x="4692412" y="3105142"/>
        <a:ext cx="5057680" cy="1239298"/>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0CED7-92F4-4138-87E8-6B85AC39F7FD}" type="datetimeFigureOut">
              <a:rPr lang="en-US" smtClean="0"/>
              <a:t>8/27/2025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311F2-5776-4B3C-8949-0AB4A691C0EC}" type="slidenum">
              <a:rPr lang="en-US" smtClean="0"/>
              <a:t>‹#›</a:t>
            </a:fld>
            <a:endParaRPr lang="en-US"/>
          </a:p>
        </p:txBody>
      </p:sp>
    </p:spTree>
    <p:extLst>
      <p:ext uri="{BB962C8B-B14F-4D97-AF65-F5344CB8AC3E}">
        <p14:creationId xmlns:p14="http://schemas.microsoft.com/office/powerpoint/2010/main" val="2328009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30 minutes = intro</a:t>
            </a:r>
          </a:p>
          <a:p>
            <a:r>
              <a:rPr lang="en-US" dirty="0"/>
              <a:t>Next 60 = slides</a:t>
            </a:r>
          </a:p>
          <a:p>
            <a:r>
              <a:rPr lang="en-US" dirty="0"/>
              <a:t>Final 30 = activity</a:t>
            </a:r>
          </a:p>
        </p:txBody>
      </p:sp>
      <p:sp>
        <p:nvSpPr>
          <p:cNvPr id="4" name="Slide Number Placeholder 3"/>
          <p:cNvSpPr>
            <a:spLocks noGrp="1"/>
          </p:cNvSpPr>
          <p:nvPr>
            <p:ph type="sldNum" sz="quarter" idx="5"/>
          </p:nvPr>
        </p:nvSpPr>
        <p:spPr/>
        <p:txBody>
          <a:bodyPr/>
          <a:lstStyle/>
          <a:p>
            <a:fld id="{302311F2-5776-4B3C-8949-0AB4A691C0EC}" type="slidenum">
              <a:rPr lang="en-US" smtClean="0"/>
              <a:t>1</a:t>
            </a:fld>
            <a:endParaRPr lang="en-US"/>
          </a:p>
        </p:txBody>
      </p:sp>
    </p:spTree>
    <p:extLst>
      <p:ext uri="{BB962C8B-B14F-4D97-AF65-F5344CB8AC3E}">
        <p14:creationId xmlns:p14="http://schemas.microsoft.com/office/powerpoint/2010/main" val="271189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a:t>
            </a:fld>
            <a:endParaRPr lang="en-US"/>
          </a:p>
        </p:txBody>
      </p:sp>
    </p:spTree>
    <p:extLst>
      <p:ext uri="{BB962C8B-B14F-4D97-AF65-F5344CB8AC3E}">
        <p14:creationId xmlns:p14="http://schemas.microsoft.com/office/powerpoint/2010/main" val="2733640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a:t>
            </a:fld>
            <a:endParaRPr lang="en-US"/>
          </a:p>
        </p:txBody>
      </p:sp>
    </p:spTree>
    <p:extLst>
      <p:ext uri="{BB962C8B-B14F-4D97-AF65-F5344CB8AC3E}">
        <p14:creationId xmlns:p14="http://schemas.microsoft.com/office/powerpoint/2010/main" val="23684235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FD9DF-5F7F-E30C-1441-4CA10B35F3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26AFBB-4705-8171-1D29-3BF1C459F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AF82BC-2316-80D4-830F-5330F655AE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6CD47-AB7D-0316-339A-936FBF2070DA}"/>
              </a:ext>
            </a:extLst>
          </p:cNvPr>
          <p:cNvSpPr>
            <a:spLocks noGrp="1"/>
          </p:cNvSpPr>
          <p:nvPr>
            <p:ph type="sldNum" sz="quarter" idx="5"/>
          </p:nvPr>
        </p:nvSpPr>
        <p:spPr/>
        <p:txBody>
          <a:bodyPr/>
          <a:lstStyle/>
          <a:p>
            <a:fld id="{302311F2-5776-4B3C-8949-0AB4A691C0EC}" type="slidenum">
              <a:rPr lang="en-US" smtClean="0"/>
              <a:t>5</a:t>
            </a:fld>
            <a:endParaRPr lang="en-US"/>
          </a:p>
        </p:txBody>
      </p:sp>
    </p:spTree>
    <p:extLst>
      <p:ext uri="{BB962C8B-B14F-4D97-AF65-F5344CB8AC3E}">
        <p14:creationId xmlns:p14="http://schemas.microsoft.com/office/powerpoint/2010/main" val="35703733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17</a:t>
            </a:fld>
            <a:endParaRPr lang="en-US"/>
          </a:p>
        </p:txBody>
      </p:sp>
    </p:spTree>
    <p:extLst>
      <p:ext uri="{BB962C8B-B14F-4D97-AF65-F5344CB8AC3E}">
        <p14:creationId xmlns:p14="http://schemas.microsoft.com/office/powerpoint/2010/main" val="31520806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FC6D7-B447-DAD1-91AF-993DD3E8F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31F8F4-D63A-B757-E717-4AD42DA2C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34188E-9988-15FA-03AD-CFC75041DD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DB393A-4B6A-C8AC-83B2-225B3E08F14C}"/>
              </a:ext>
            </a:extLst>
          </p:cNvPr>
          <p:cNvSpPr>
            <a:spLocks noGrp="1"/>
          </p:cNvSpPr>
          <p:nvPr>
            <p:ph type="sldNum" sz="quarter" idx="5"/>
          </p:nvPr>
        </p:nvSpPr>
        <p:spPr/>
        <p:txBody>
          <a:bodyPr/>
          <a:lstStyle/>
          <a:p>
            <a:fld id="{302311F2-5776-4B3C-8949-0AB4A691C0EC}" type="slidenum">
              <a:rPr lang="en-US" smtClean="0"/>
              <a:t>18</a:t>
            </a:fld>
            <a:endParaRPr lang="en-US"/>
          </a:p>
        </p:txBody>
      </p:sp>
    </p:spTree>
    <p:extLst>
      <p:ext uri="{BB962C8B-B14F-4D97-AF65-F5344CB8AC3E}">
        <p14:creationId xmlns:p14="http://schemas.microsoft.com/office/powerpoint/2010/main" val="41932598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latin typeface="Calibri" charset="0"/>
              <a:ea typeface="MS PGothic" charset="0"/>
            </a:endParaRPr>
          </a:p>
          <a:p>
            <a:r>
              <a:rPr lang="en-US" b="1" dirty="0">
                <a:latin typeface="Calibri" charset="0"/>
                <a:ea typeface="MS PGothic" charset="0"/>
              </a:rPr>
              <a:t>Be sure to take good notes </a:t>
            </a:r>
            <a:r>
              <a:rPr lang="en-US" dirty="0">
                <a:latin typeface="Calibri" charset="0"/>
                <a:ea typeface="MS PGothic" charset="0"/>
              </a:rPr>
              <a:t>– we will build on this example throughout this module</a:t>
            </a:r>
          </a:p>
          <a:p>
            <a:endParaRPr lang="en-US" dirty="0">
              <a:latin typeface="Calibri" charset="0"/>
              <a:ea typeface="MS PGothic" charset="0"/>
            </a:endParaRPr>
          </a:p>
          <a:p>
            <a:r>
              <a:rPr lang="en-US" dirty="0">
                <a:latin typeface="Calibri" charset="0"/>
                <a:ea typeface="MS PGothic" charset="0"/>
              </a:rPr>
              <a:t>I</a:t>
            </a:r>
            <a:r>
              <a:rPr lang="ja-JP" altLang="en-US" dirty="0">
                <a:latin typeface="Calibri" charset="0"/>
                <a:ea typeface="MS PGothic" charset="0"/>
              </a:rPr>
              <a:t>’</a:t>
            </a:r>
            <a:r>
              <a:rPr lang="en-US" altLang="ja-JP" dirty="0" err="1">
                <a:latin typeface="Calibri" charset="0"/>
                <a:ea typeface="MS PGothic" charset="0"/>
              </a:rPr>
              <a:t>ve</a:t>
            </a:r>
            <a:r>
              <a:rPr lang="en-US" altLang="ja-JP" dirty="0">
                <a:latin typeface="Calibri" charset="0"/>
                <a:ea typeface="MS PGothic" charset="0"/>
              </a:rPr>
              <a:t> already given you some brainstorming tips for creating good objectives.</a:t>
            </a:r>
          </a:p>
          <a:p>
            <a:endParaRPr lang="en-US" dirty="0">
              <a:latin typeface="Calibri" charset="0"/>
              <a:ea typeface="MS PGothic" charset="0"/>
            </a:endParaRPr>
          </a:p>
          <a:p>
            <a:r>
              <a:rPr lang="en-US" dirty="0">
                <a:latin typeface="Calibri" charset="0"/>
                <a:ea typeface="MS PGothic" charset="0"/>
              </a:rPr>
              <a:t>I</a:t>
            </a:r>
            <a:r>
              <a:rPr lang="ja-JP" altLang="en-US" dirty="0">
                <a:latin typeface="Calibri" charset="0"/>
                <a:ea typeface="MS PGothic" charset="0"/>
              </a:rPr>
              <a:t>’</a:t>
            </a:r>
            <a:r>
              <a:rPr lang="en-US" altLang="ja-JP" dirty="0" err="1">
                <a:latin typeface="Calibri" charset="0"/>
                <a:ea typeface="MS PGothic" charset="0"/>
              </a:rPr>
              <a:t>ll</a:t>
            </a:r>
            <a:r>
              <a:rPr lang="en-US" altLang="ja-JP" dirty="0">
                <a:latin typeface="Calibri" charset="0"/>
                <a:ea typeface="MS PGothic" charset="0"/>
              </a:rPr>
              <a:t> hear back from a few of you on how you did in 5 minutes (give a little longer if needed).</a:t>
            </a:r>
          </a:p>
          <a:p>
            <a:endParaRPr lang="en-US" dirty="0">
              <a:latin typeface="Calibri" charset="0"/>
              <a:ea typeface="MS PGothic" charset="0"/>
            </a:endParaRP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22</a:t>
            </a:fld>
            <a:endParaRPr lang="en-US"/>
          </a:p>
        </p:txBody>
      </p:sp>
    </p:spTree>
    <p:extLst>
      <p:ext uri="{BB962C8B-B14F-4D97-AF65-F5344CB8AC3E}">
        <p14:creationId xmlns:p14="http://schemas.microsoft.com/office/powerpoint/2010/main" val="3807261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6BA2C-523E-6704-27C9-389DFA2C92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BF382-B8A9-56C5-B477-8957B2D7CA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7C39CB-CEA2-9B02-0633-10DA73C3F0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83B719-FAB3-6A67-8E12-0EE375DF92D6}"/>
              </a:ext>
            </a:extLst>
          </p:cNvPr>
          <p:cNvSpPr>
            <a:spLocks noGrp="1"/>
          </p:cNvSpPr>
          <p:nvPr>
            <p:ph type="sldNum" sz="quarter" idx="5"/>
          </p:nvPr>
        </p:nvSpPr>
        <p:spPr/>
        <p:txBody>
          <a:bodyPr/>
          <a:lstStyle/>
          <a:p>
            <a:fld id="{302311F2-5776-4B3C-8949-0AB4A691C0EC}" type="slidenum">
              <a:rPr lang="en-US" smtClean="0"/>
              <a:t>23</a:t>
            </a:fld>
            <a:endParaRPr lang="en-US"/>
          </a:p>
        </p:txBody>
      </p:sp>
    </p:spTree>
    <p:extLst>
      <p:ext uri="{BB962C8B-B14F-4D97-AF65-F5344CB8AC3E}">
        <p14:creationId xmlns:p14="http://schemas.microsoft.com/office/powerpoint/2010/main" val="2507155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24</a:t>
            </a:fld>
            <a:endParaRPr lang="en-US"/>
          </a:p>
        </p:txBody>
      </p:sp>
    </p:spTree>
    <p:extLst>
      <p:ext uri="{BB962C8B-B14F-4D97-AF65-F5344CB8AC3E}">
        <p14:creationId xmlns:p14="http://schemas.microsoft.com/office/powerpoint/2010/main" val="2610633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7C4A1-841C-C4D9-BE6B-E5F069C5E2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139ED-72B5-B371-80A3-1FC6A6EE59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1BFC00-497A-6F0D-718B-C4D1545EE1E1}"/>
              </a:ext>
            </a:extLst>
          </p:cNvPr>
          <p:cNvSpPr>
            <a:spLocks noGrp="1"/>
          </p:cNvSpPr>
          <p:nvPr>
            <p:ph type="body" idx="1"/>
          </p:nvPr>
        </p:nvSpPr>
        <p:spPr/>
        <p:txBody>
          <a:bodyPr/>
          <a:lstStyle/>
          <a:p>
            <a:pPr marL="457200" marR="0" lvl="0" indent="-228600" algn="l" rtl="0">
              <a:lnSpc>
                <a:spcPct val="100000"/>
              </a:lnSpc>
              <a:spcBef>
                <a:spcPts val="0"/>
              </a:spcBef>
              <a:spcAft>
                <a:spcPts val="0"/>
              </a:spcAft>
              <a:buSzPts val="1400"/>
              <a:buNone/>
            </a:pPr>
            <a:r>
              <a:rPr lang="en-US" dirty="0">
                <a:latin typeface="Calibri"/>
                <a:ea typeface="Calibri"/>
                <a:cs typeface="Calibri"/>
                <a:sym typeface="Calibri"/>
              </a:rPr>
              <a:t>The process </a:t>
            </a:r>
            <a:r>
              <a:rPr lang="en-US" b="1" dirty="0">
                <a:latin typeface="Calibri"/>
                <a:ea typeface="Calibri"/>
                <a:cs typeface="Calibri"/>
                <a:sym typeface="Calibri"/>
              </a:rPr>
              <a:t>matters…these objectives are about how the decision will be made, not what the solution will be.</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b="1" dirty="0">
                <a:latin typeface="Calibri"/>
                <a:ea typeface="Calibri"/>
                <a:cs typeface="Calibri"/>
                <a:sym typeface="Calibri"/>
              </a:rPr>
              <a:t>Can you think of any mandates that set process objectives?</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dirty="0">
                <a:latin typeface="Calibri"/>
                <a:ea typeface="Calibri"/>
                <a:cs typeface="Calibri"/>
                <a:sym typeface="Calibri"/>
              </a:rPr>
              <a:t>Often about who is at the table, </a:t>
            </a:r>
            <a:r>
              <a:rPr lang="en-US" dirty="0" err="1">
                <a:latin typeface="Calibri"/>
                <a:ea typeface="Calibri"/>
                <a:cs typeface="Calibri"/>
                <a:sym typeface="Calibri"/>
              </a:rPr>
              <a:t>eg</a:t>
            </a:r>
            <a:r>
              <a:rPr lang="en-US" dirty="0">
                <a:latin typeface="Calibri"/>
                <a:ea typeface="Calibri"/>
                <a:cs typeface="Calibri"/>
                <a:sym typeface="Calibri"/>
              </a:rPr>
              <a:t> we will include all our indigenous co-management partners in all decisions</a:t>
            </a:r>
            <a:endParaRPr lang="en-US" dirty="0"/>
          </a:p>
          <a:p>
            <a:pPr marL="457200" marR="0" lvl="0" indent="-228600" algn="l" rtl="0">
              <a:lnSpc>
                <a:spcPct val="100000"/>
              </a:lnSpc>
              <a:spcBef>
                <a:spcPts val="0"/>
              </a:spcBef>
              <a:spcAft>
                <a:spcPts val="0"/>
              </a:spcAft>
              <a:buSzPts val="1400"/>
              <a:buNone/>
            </a:pPr>
            <a:r>
              <a:rPr lang="en-US" dirty="0">
                <a:latin typeface="Calibri"/>
                <a:ea typeface="Calibri"/>
                <a:cs typeface="Calibri"/>
                <a:sym typeface="Calibri"/>
              </a:rPr>
              <a:t>Whatever we do, idea is to get agencies to work together on grizzly bears – part of the process needs to be to promote collaboration between agencies</a:t>
            </a:r>
            <a:endParaRPr lang="en-US" dirty="0"/>
          </a:p>
          <a:p>
            <a:endParaRPr lang="en-US" dirty="0"/>
          </a:p>
        </p:txBody>
      </p:sp>
      <p:sp>
        <p:nvSpPr>
          <p:cNvPr id="4" name="Slide Number Placeholder 3">
            <a:extLst>
              <a:ext uri="{FF2B5EF4-FFF2-40B4-BE49-F238E27FC236}">
                <a16:creationId xmlns:a16="http://schemas.microsoft.com/office/drawing/2014/main" id="{5E981D50-91B4-04D3-064E-EB85C0BFC9AC}"/>
              </a:ext>
            </a:extLst>
          </p:cNvPr>
          <p:cNvSpPr>
            <a:spLocks noGrp="1"/>
          </p:cNvSpPr>
          <p:nvPr>
            <p:ph type="sldNum" sz="quarter" idx="5"/>
          </p:nvPr>
        </p:nvSpPr>
        <p:spPr/>
        <p:txBody>
          <a:bodyPr/>
          <a:lstStyle/>
          <a:p>
            <a:fld id="{302311F2-5776-4B3C-8949-0AB4A691C0EC}" type="slidenum">
              <a:rPr lang="en-US" smtClean="0"/>
              <a:t>25</a:t>
            </a:fld>
            <a:endParaRPr lang="en-US"/>
          </a:p>
        </p:txBody>
      </p:sp>
    </p:spTree>
    <p:extLst>
      <p:ext uri="{BB962C8B-B14F-4D97-AF65-F5344CB8AC3E}">
        <p14:creationId xmlns:p14="http://schemas.microsoft.com/office/powerpoint/2010/main" val="2064545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12FE-D528-F274-921A-78ACE7EE3F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6BC4D5-5262-1842-367A-583D0C3A04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1D21C5-0F1C-46B8-AA73-B9E6C4586B63}"/>
              </a:ext>
            </a:extLst>
          </p:cNvPr>
          <p:cNvSpPr>
            <a:spLocks noGrp="1"/>
          </p:cNvSpPr>
          <p:nvPr>
            <p:ph type="body" idx="1"/>
          </p:nvPr>
        </p:nvSpPr>
        <p:spPr/>
        <p:txBody>
          <a:bodyPr/>
          <a:lstStyle/>
          <a:p>
            <a:pPr marL="457200" marR="0" lvl="0" indent="-228600" algn="l" rtl="0">
              <a:lnSpc>
                <a:spcPct val="100000"/>
              </a:lnSpc>
              <a:spcBef>
                <a:spcPts val="0"/>
              </a:spcBef>
              <a:spcAft>
                <a:spcPts val="0"/>
              </a:spcAft>
              <a:buSzPts val="1400"/>
              <a:buNone/>
            </a:pPr>
            <a:r>
              <a:rPr lang="en-US" b="1" dirty="0">
                <a:latin typeface="Calibri"/>
                <a:ea typeface="Calibri"/>
                <a:cs typeface="Calibri"/>
                <a:sym typeface="Calibri"/>
              </a:rPr>
              <a:t>These are objectives that are influenced by other decisions the organization is involved in and other organizational objectives including even the mission.</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b="1" dirty="0">
                <a:latin typeface="Calibri"/>
                <a:ea typeface="Calibri"/>
                <a:cs typeface="Calibri"/>
                <a:sym typeface="Calibri"/>
              </a:rPr>
              <a:t>Strategic objectives have some bearing on decisions, but are unlikely to be fully achieved by any one decision </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dirty="0">
                <a:latin typeface="Calibri"/>
                <a:ea typeface="Calibri"/>
                <a:cs typeface="Calibri"/>
                <a:sym typeface="Calibri"/>
              </a:rPr>
              <a:t>For example from Gregory et al. (2012):  </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Maximize public trust and consent</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Execute organization’s mandate</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Comply with international trade rules</a:t>
            </a:r>
            <a:endParaRPr lang="en-US" dirty="0"/>
          </a:p>
          <a:p>
            <a:pPr marL="171450" lvl="0" indent="-82550" algn="l" rtl="0">
              <a:lnSpc>
                <a:spcPct val="100000"/>
              </a:lnSpc>
              <a:spcBef>
                <a:spcPts val="0"/>
              </a:spcBef>
              <a:spcAft>
                <a:spcPts val="0"/>
              </a:spcAft>
              <a:buSzPts val="1400"/>
              <a:buFont typeface="Arial"/>
              <a:buNone/>
            </a:pPr>
            <a:endParaRPr lang="en-US" dirty="0">
              <a:latin typeface="Calibri"/>
              <a:ea typeface="Calibri"/>
              <a:cs typeface="Calibri"/>
              <a:sym typeface="Calibri"/>
            </a:endParaRPr>
          </a:p>
          <a:p>
            <a:pPr marL="171450" lvl="0" indent="-82550" algn="l" rtl="0">
              <a:lnSpc>
                <a:spcPct val="100000"/>
              </a:lnSpc>
              <a:spcBef>
                <a:spcPts val="0"/>
              </a:spcBef>
              <a:spcAft>
                <a:spcPts val="0"/>
              </a:spcAft>
              <a:buSzPts val="1400"/>
              <a:buFont typeface="Arial"/>
              <a:buNone/>
            </a:pPr>
            <a:endParaRPr lang="en-US" dirty="0">
              <a:latin typeface="Calibri"/>
              <a:ea typeface="Calibri"/>
              <a:cs typeface="Calibri"/>
              <a:sym typeface="Calibri"/>
            </a:endParaRPr>
          </a:p>
          <a:p>
            <a:pPr marL="0" lvl="0" indent="0" algn="l" rtl="0">
              <a:lnSpc>
                <a:spcPct val="100000"/>
              </a:lnSpc>
              <a:spcBef>
                <a:spcPts val="0"/>
              </a:spcBef>
              <a:spcAft>
                <a:spcPts val="0"/>
              </a:spcAft>
              <a:buSzPts val="1400"/>
              <a:buFont typeface="Arial"/>
              <a:buNone/>
            </a:pPr>
            <a:r>
              <a:rPr lang="en-US" dirty="0">
                <a:latin typeface="Calibri"/>
                <a:ea typeface="Calibri"/>
                <a:cs typeface="Calibri"/>
                <a:sym typeface="Calibri"/>
              </a:rPr>
              <a:t>If you keep asking why, you always end up at strategic objectives, you get to the mission of the agency, control isn’t necessarily</a:t>
            </a:r>
          </a:p>
          <a:p>
            <a:endParaRPr lang="en-US" dirty="0"/>
          </a:p>
        </p:txBody>
      </p:sp>
      <p:sp>
        <p:nvSpPr>
          <p:cNvPr id="4" name="Slide Number Placeholder 3">
            <a:extLst>
              <a:ext uri="{FF2B5EF4-FFF2-40B4-BE49-F238E27FC236}">
                <a16:creationId xmlns:a16="http://schemas.microsoft.com/office/drawing/2014/main" id="{EC57D80E-9925-4AFB-22FF-EE341E22B606}"/>
              </a:ext>
            </a:extLst>
          </p:cNvPr>
          <p:cNvSpPr>
            <a:spLocks noGrp="1"/>
          </p:cNvSpPr>
          <p:nvPr>
            <p:ph type="sldNum" sz="quarter" idx="5"/>
          </p:nvPr>
        </p:nvSpPr>
        <p:spPr/>
        <p:txBody>
          <a:bodyPr/>
          <a:lstStyle/>
          <a:p>
            <a:fld id="{302311F2-5776-4B3C-8949-0AB4A691C0EC}" type="slidenum">
              <a:rPr lang="en-US" smtClean="0"/>
              <a:t>26</a:t>
            </a:fld>
            <a:endParaRPr lang="en-US"/>
          </a:p>
        </p:txBody>
      </p:sp>
    </p:spTree>
    <p:extLst>
      <p:ext uri="{BB962C8B-B14F-4D97-AF65-F5344CB8AC3E}">
        <p14:creationId xmlns:p14="http://schemas.microsoft.com/office/powerpoint/2010/main" val="9780426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864C0-2660-022A-3C24-ABB310A503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AF7F6-7471-39F3-0C0D-7E05285E00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FFF9C-6B27-9239-093B-54305525232E}"/>
              </a:ext>
            </a:extLst>
          </p:cNvPr>
          <p:cNvSpPr>
            <a:spLocks noGrp="1"/>
          </p:cNvSpPr>
          <p:nvPr>
            <p:ph type="body" idx="1"/>
          </p:nvPr>
        </p:nvSpPr>
        <p:spPr/>
        <p:txBody>
          <a:bodyPr/>
          <a:lstStyle/>
          <a:p>
            <a:pPr marL="457200" marR="0" lvl="0" indent="-228600" algn="l" rtl="0">
              <a:lnSpc>
                <a:spcPct val="100000"/>
              </a:lnSpc>
              <a:spcBef>
                <a:spcPts val="0"/>
              </a:spcBef>
              <a:spcAft>
                <a:spcPts val="0"/>
              </a:spcAft>
              <a:buSzPts val="1400"/>
              <a:buNone/>
            </a:pPr>
            <a:r>
              <a:rPr lang="en-US" b="1" dirty="0">
                <a:latin typeface="Calibri"/>
                <a:ea typeface="Calibri"/>
                <a:cs typeface="Calibri"/>
                <a:sym typeface="Calibri"/>
              </a:rPr>
              <a:t>These are objectives that are influenced by other decisions the organization is involved in and other organizational objectives including even the mission.</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b="1" dirty="0">
                <a:latin typeface="Calibri"/>
                <a:ea typeface="Calibri"/>
                <a:cs typeface="Calibri"/>
                <a:sym typeface="Calibri"/>
              </a:rPr>
              <a:t>Strategic objectives have some bearing on decisions, but are unlikely to be fully achieved by any one decision </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dirty="0">
                <a:latin typeface="Calibri"/>
                <a:ea typeface="Calibri"/>
                <a:cs typeface="Calibri"/>
                <a:sym typeface="Calibri"/>
              </a:rPr>
              <a:t>For example from Gregory et al. (2012):  </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Maximize public trust and consent</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Execute organization’s mandate</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Comply with international trade rules</a:t>
            </a:r>
            <a:endParaRPr lang="en-US" dirty="0"/>
          </a:p>
          <a:p>
            <a:pPr marL="171450" lvl="0" indent="-82550" algn="l" rtl="0">
              <a:lnSpc>
                <a:spcPct val="100000"/>
              </a:lnSpc>
              <a:spcBef>
                <a:spcPts val="0"/>
              </a:spcBef>
              <a:spcAft>
                <a:spcPts val="0"/>
              </a:spcAft>
              <a:buSzPts val="1400"/>
              <a:buFont typeface="Arial"/>
              <a:buNone/>
            </a:pPr>
            <a:endParaRPr lang="en-US" dirty="0">
              <a:latin typeface="Calibri"/>
              <a:ea typeface="Calibri"/>
              <a:cs typeface="Calibri"/>
              <a:sym typeface="Calibri"/>
            </a:endParaRPr>
          </a:p>
          <a:p>
            <a:pPr marL="171450" lvl="0" indent="-82550" algn="l" rtl="0">
              <a:lnSpc>
                <a:spcPct val="100000"/>
              </a:lnSpc>
              <a:spcBef>
                <a:spcPts val="0"/>
              </a:spcBef>
              <a:spcAft>
                <a:spcPts val="0"/>
              </a:spcAft>
              <a:buSzPts val="1400"/>
              <a:buFont typeface="Arial"/>
              <a:buNone/>
            </a:pPr>
            <a:endParaRPr lang="en-US" dirty="0">
              <a:latin typeface="Calibri"/>
              <a:ea typeface="Calibri"/>
              <a:cs typeface="Calibri"/>
              <a:sym typeface="Calibri"/>
            </a:endParaRPr>
          </a:p>
          <a:p>
            <a:pPr marL="0" lvl="0" indent="0" algn="l" rtl="0">
              <a:lnSpc>
                <a:spcPct val="100000"/>
              </a:lnSpc>
              <a:spcBef>
                <a:spcPts val="0"/>
              </a:spcBef>
              <a:spcAft>
                <a:spcPts val="0"/>
              </a:spcAft>
              <a:buSzPts val="1400"/>
              <a:buFont typeface="Arial"/>
              <a:buNone/>
            </a:pPr>
            <a:r>
              <a:rPr lang="en-US" dirty="0">
                <a:latin typeface="Calibri"/>
                <a:ea typeface="Calibri"/>
                <a:cs typeface="Calibri"/>
                <a:sym typeface="Calibri"/>
              </a:rPr>
              <a:t>If you keep asking why, you always end up at strategic objectives, you get to the mission of the agency, control isn’t necessarily</a:t>
            </a:r>
          </a:p>
          <a:p>
            <a:endParaRPr lang="en-US" dirty="0"/>
          </a:p>
        </p:txBody>
      </p:sp>
      <p:sp>
        <p:nvSpPr>
          <p:cNvPr id="4" name="Slide Number Placeholder 3">
            <a:extLst>
              <a:ext uri="{FF2B5EF4-FFF2-40B4-BE49-F238E27FC236}">
                <a16:creationId xmlns:a16="http://schemas.microsoft.com/office/drawing/2014/main" id="{C772C557-4962-5C13-2AFE-653BB60D6299}"/>
              </a:ext>
            </a:extLst>
          </p:cNvPr>
          <p:cNvSpPr>
            <a:spLocks noGrp="1"/>
          </p:cNvSpPr>
          <p:nvPr>
            <p:ph type="sldNum" sz="quarter" idx="5"/>
          </p:nvPr>
        </p:nvSpPr>
        <p:spPr/>
        <p:txBody>
          <a:bodyPr/>
          <a:lstStyle/>
          <a:p>
            <a:fld id="{302311F2-5776-4B3C-8949-0AB4A691C0EC}" type="slidenum">
              <a:rPr lang="en-US" smtClean="0"/>
              <a:t>27</a:t>
            </a:fld>
            <a:endParaRPr lang="en-US"/>
          </a:p>
        </p:txBody>
      </p:sp>
    </p:spTree>
    <p:extLst>
      <p:ext uri="{BB962C8B-B14F-4D97-AF65-F5344CB8AC3E}">
        <p14:creationId xmlns:p14="http://schemas.microsoft.com/office/powerpoint/2010/main" val="22956579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4D8CB-3505-8350-EFA5-780DE2718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10047-D96C-B48D-3688-DC63818F8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7F0EF9-92C2-5149-F6EE-54D057348301}"/>
              </a:ext>
            </a:extLst>
          </p:cNvPr>
          <p:cNvSpPr>
            <a:spLocks noGrp="1"/>
          </p:cNvSpPr>
          <p:nvPr>
            <p:ph type="body" idx="1"/>
          </p:nvPr>
        </p:nvSpPr>
        <p:spPr/>
        <p:txBody>
          <a:bodyPr/>
          <a:lstStyle/>
          <a:p>
            <a:pPr marL="457200" marR="0" lvl="0" indent="-228600" algn="l" rtl="0">
              <a:lnSpc>
                <a:spcPct val="100000"/>
              </a:lnSpc>
              <a:spcBef>
                <a:spcPts val="0"/>
              </a:spcBef>
              <a:spcAft>
                <a:spcPts val="0"/>
              </a:spcAft>
              <a:buSzPts val="1400"/>
              <a:buNone/>
            </a:pPr>
            <a:r>
              <a:rPr lang="en-US" b="1" dirty="0">
                <a:latin typeface="Calibri"/>
                <a:ea typeface="Calibri"/>
                <a:cs typeface="Calibri"/>
                <a:sym typeface="Calibri"/>
              </a:rPr>
              <a:t>These are objectives that are influenced by other decisions the organization is involved in and other organizational objectives including even the mission.</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b="1" dirty="0">
                <a:latin typeface="Calibri"/>
                <a:ea typeface="Calibri"/>
                <a:cs typeface="Calibri"/>
                <a:sym typeface="Calibri"/>
              </a:rPr>
              <a:t>Strategic objectives have some bearing on decisions, but are unlikely to be fully achieved by any one decision </a:t>
            </a:r>
            <a:endParaRPr lang="en-US" dirty="0"/>
          </a:p>
          <a:p>
            <a:pPr marL="457200" marR="0" lvl="0" indent="-228600" algn="l" rtl="0">
              <a:lnSpc>
                <a:spcPct val="100000"/>
              </a:lnSpc>
              <a:spcBef>
                <a:spcPts val="0"/>
              </a:spcBef>
              <a:spcAft>
                <a:spcPts val="0"/>
              </a:spcAft>
              <a:buSzPts val="1400"/>
              <a:buNone/>
            </a:pPr>
            <a:endParaRPr lang="en-US" dirty="0">
              <a:latin typeface="Calibri"/>
              <a:ea typeface="Calibri"/>
              <a:cs typeface="Calibri"/>
              <a:sym typeface="Calibri"/>
            </a:endParaRPr>
          </a:p>
          <a:p>
            <a:pPr marL="457200" marR="0" lvl="0" indent="-228600" algn="l" rtl="0">
              <a:lnSpc>
                <a:spcPct val="100000"/>
              </a:lnSpc>
              <a:spcBef>
                <a:spcPts val="0"/>
              </a:spcBef>
              <a:spcAft>
                <a:spcPts val="0"/>
              </a:spcAft>
              <a:buSzPts val="1400"/>
              <a:buNone/>
            </a:pPr>
            <a:r>
              <a:rPr lang="en-US" dirty="0">
                <a:latin typeface="Calibri"/>
                <a:ea typeface="Calibri"/>
                <a:cs typeface="Calibri"/>
                <a:sym typeface="Calibri"/>
              </a:rPr>
              <a:t>For example from Gregory et al. (2012):  </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Maximize public trust and consent</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Execute organization’s mandate</a:t>
            </a:r>
            <a:endParaRPr lang="en-US" dirty="0"/>
          </a:p>
          <a:p>
            <a:pPr marL="171450" lvl="0" indent="-171450" algn="l" rtl="0">
              <a:lnSpc>
                <a:spcPct val="100000"/>
              </a:lnSpc>
              <a:spcBef>
                <a:spcPts val="0"/>
              </a:spcBef>
              <a:spcAft>
                <a:spcPts val="0"/>
              </a:spcAft>
              <a:buSzPts val="1400"/>
              <a:buFont typeface="Arial"/>
              <a:buChar char="•"/>
            </a:pPr>
            <a:r>
              <a:rPr lang="en-US" dirty="0">
                <a:latin typeface="Calibri"/>
                <a:ea typeface="Calibri"/>
                <a:cs typeface="Calibri"/>
                <a:sym typeface="Calibri"/>
              </a:rPr>
              <a:t>Comply with international trade rules</a:t>
            </a:r>
            <a:endParaRPr lang="en-US" dirty="0"/>
          </a:p>
          <a:p>
            <a:pPr marL="171450" lvl="0" indent="-82550" algn="l" rtl="0">
              <a:lnSpc>
                <a:spcPct val="100000"/>
              </a:lnSpc>
              <a:spcBef>
                <a:spcPts val="0"/>
              </a:spcBef>
              <a:spcAft>
                <a:spcPts val="0"/>
              </a:spcAft>
              <a:buSzPts val="1400"/>
              <a:buFont typeface="Arial"/>
              <a:buNone/>
            </a:pPr>
            <a:endParaRPr lang="en-US" dirty="0">
              <a:latin typeface="Calibri"/>
              <a:ea typeface="Calibri"/>
              <a:cs typeface="Calibri"/>
              <a:sym typeface="Calibri"/>
            </a:endParaRPr>
          </a:p>
          <a:p>
            <a:pPr marL="171450" lvl="0" indent="-82550" algn="l" rtl="0">
              <a:lnSpc>
                <a:spcPct val="100000"/>
              </a:lnSpc>
              <a:spcBef>
                <a:spcPts val="0"/>
              </a:spcBef>
              <a:spcAft>
                <a:spcPts val="0"/>
              </a:spcAft>
              <a:buSzPts val="1400"/>
              <a:buFont typeface="Arial"/>
              <a:buNone/>
            </a:pPr>
            <a:endParaRPr lang="en-US" dirty="0">
              <a:latin typeface="Calibri"/>
              <a:ea typeface="Calibri"/>
              <a:cs typeface="Calibri"/>
              <a:sym typeface="Calibri"/>
            </a:endParaRPr>
          </a:p>
          <a:p>
            <a:pPr marL="0" lvl="0" indent="0" algn="l" rtl="0">
              <a:lnSpc>
                <a:spcPct val="100000"/>
              </a:lnSpc>
              <a:spcBef>
                <a:spcPts val="0"/>
              </a:spcBef>
              <a:spcAft>
                <a:spcPts val="0"/>
              </a:spcAft>
              <a:buSzPts val="1400"/>
              <a:buFont typeface="Arial"/>
              <a:buNone/>
            </a:pPr>
            <a:r>
              <a:rPr lang="en-US" dirty="0">
                <a:latin typeface="Calibri"/>
                <a:ea typeface="Calibri"/>
                <a:cs typeface="Calibri"/>
                <a:sym typeface="Calibri"/>
              </a:rPr>
              <a:t>If you keep asking why, you always end up at strategic objectives, you get to the mission of the agency, control isn’t necessarily</a:t>
            </a:r>
          </a:p>
          <a:p>
            <a:endParaRPr lang="en-US" dirty="0"/>
          </a:p>
        </p:txBody>
      </p:sp>
      <p:sp>
        <p:nvSpPr>
          <p:cNvPr id="4" name="Slide Number Placeholder 3">
            <a:extLst>
              <a:ext uri="{FF2B5EF4-FFF2-40B4-BE49-F238E27FC236}">
                <a16:creationId xmlns:a16="http://schemas.microsoft.com/office/drawing/2014/main" id="{575EA1EB-9A2D-632C-E5B3-D28395201D55}"/>
              </a:ext>
            </a:extLst>
          </p:cNvPr>
          <p:cNvSpPr>
            <a:spLocks noGrp="1"/>
          </p:cNvSpPr>
          <p:nvPr>
            <p:ph type="sldNum" sz="quarter" idx="5"/>
          </p:nvPr>
        </p:nvSpPr>
        <p:spPr/>
        <p:txBody>
          <a:bodyPr/>
          <a:lstStyle/>
          <a:p>
            <a:fld id="{302311F2-5776-4B3C-8949-0AB4A691C0EC}" type="slidenum">
              <a:rPr lang="en-US" smtClean="0"/>
              <a:t>28</a:t>
            </a:fld>
            <a:endParaRPr lang="en-US"/>
          </a:p>
        </p:txBody>
      </p:sp>
    </p:spTree>
    <p:extLst>
      <p:ext uri="{BB962C8B-B14F-4D97-AF65-F5344CB8AC3E}">
        <p14:creationId xmlns:p14="http://schemas.microsoft.com/office/powerpoint/2010/main" val="11893248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29</a:t>
            </a:fld>
            <a:endParaRPr lang="en-US"/>
          </a:p>
        </p:txBody>
      </p:sp>
    </p:spTree>
    <p:extLst>
      <p:ext uri="{BB962C8B-B14F-4D97-AF65-F5344CB8AC3E}">
        <p14:creationId xmlns:p14="http://schemas.microsoft.com/office/powerpoint/2010/main" val="16656749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B56B09-9853-10B8-3987-B7A06DBAEE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6A5323-8C4F-0835-8A60-6C995E2F3D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22A3FB-2A03-FF4C-87AF-89EB19FCAA55}"/>
              </a:ext>
            </a:extLst>
          </p:cNvPr>
          <p:cNvSpPr>
            <a:spLocks noGrp="1"/>
          </p:cNvSpPr>
          <p:nvPr>
            <p:ph type="body" idx="1"/>
          </p:nvPr>
        </p:nvSpPr>
        <p:spPr/>
        <p:txBody>
          <a:bodyPr/>
          <a:lstStyle/>
          <a:p>
            <a:r>
              <a:rPr lang="en-US" dirty="0"/>
              <a:t>https://pubs.usgs.gov/of/2011/1012/pdf/ofr20111012.pdf#page=17.21</a:t>
            </a:r>
          </a:p>
        </p:txBody>
      </p:sp>
      <p:sp>
        <p:nvSpPr>
          <p:cNvPr id="4" name="Slide Number Placeholder 3">
            <a:extLst>
              <a:ext uri="{FF2B5EF4-FFF2-40B4-BE49-F238E27FC236}">
                <a16:creationId xmlns:a16="http://schemas.microsoft.com/office/drawing/2014/main" id="{04CC6D56-C889-56EE-1C25-A221ED26FEFA}"/>
              </a:ext>
            </a:extLst>
          </p:cNvPr>
          <p:cNvSpPr>
            <a:spLocks noGrp="1"/>
          </p:cNvSpPr>
          <p:nvPr>
            <p:ph type="sldNum" sz="quarter" idx="5"/>
          </p:nvPr>
        </p:nvSpPr>
        <p:spPr/>
        <p:txBody>
          <a:bodyPr/>
          <a:lstStyle/>
          <a:p>
            <a:fld id="{43A5CBE6-72FD-4C97-A5E1-1D65DDF4F595}" type="slidenum">
              <a:rPr lang="en-US" smtClean="0"/>
              <a:t>36</a:t>
            </a:fld>
            <a:endParaRPr lang="en-US"/>
          </a:p>
        </p:txBody>
      </p:sp>
    </p:spTree>
    <p:extLst>
      <p:ext uri="{BB962C8B-B14F-4D97-AF65-F5344CB8AC3E}">
        <p14:creationId xmlns:p14="http://schemas.microsoft.com/office/powerpoint/2010/main" val="21140108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D8E7D-F6F7-8C84-0380-E31CD10D4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25C1BB-0A50-C889-9E47-6199E58EEC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D87391-7A39-D3D2-F1EC-E4C923E39A3D}"/>
              </a:ext>
            </a:extLst>
          </p:cNvPr>
          <p:cNvSpPr>
            <a:spLocks noGrp="1"/>
          </p:cNvSpPr>
          <p:nvPr>
            <p:ph type="body" idx="1"/>
          </p:nvPr>
        </p:nvSpPr>
        <p:spPr/>
        <p:txBody>
          <a:bodyPr/>
          <a:lstStyle/>
          <a:p>
            <a:endParaRPr lang="en-US" dirty="0">
              <a:latin typeface="Calibri" charset="0"/>
              <a:ea typeface="MS PGothic" charset="0"/>
            </a:endParaRPr>
          </a:p>
          <a:p>
            <a:r>
              <a:rPr lang="en-US" b="1" dirty="0">
                <a:latin typeface="Calibri" charset="0"/>
                <a:ea typeface="MS PGothic" charset="0"/>
              </a:rPr>
              <a:t>Be sure to take good notes </a:t>
            </a:r>
            <a:r>
              <a:rPr lang="en-US" dirty="0">
                <a:latin typeface="Calibri" charset="0"/>
                <a:ea typeface="MS PGothic" charset="0"/>
              </a:rPr>
              <a:t>– we will build on this example throughout this module</a:t>
            </a:r>
          </a:p>
          <a:p>
            <a:endParaRPr lang="en-US" dirty="0">
              <a:latin typeface="Calibri" charset="0"/>
              <a:ea typeface="MS PGothic" charset="0"/>
            </a:endParaRPr>
          </a:p>
          <a:p>
            <a:r>
              <a:rPr lang="en-US" dirty="0">
                <a:latin typeface="Calibri" charset="0"/>
                <a:ea typeface="MS PGothic" charset="0"/>
              </a:rPr>
              <a:t>I</a:t>
            </a:r>
            <a:r>
              <a:rPr lang="ja-JP" altLang="en-US" dirty="0">
                <a:latin typeface="Calibri" charset="0"/>
                <a:ea typeface="MS PGothic" charset="0"/>
              </a:rPr>
              <a:t>’</a:t>
            </a:r>
            <a:r>
              <a:rPr lang="en-US" altLang="ja-JP" dirty="0" err="1">
                <a:latin typeface="Calibri" charset="0"/>
                <a:ea typeface="MS PGothic" charset="0"/>
              </a:rPr>
              <a:t>ve</a:t>
            </a:r>
            <a:r>
              <a:rPr lang="en-US" altLang="ja-JP" dirty="0">
                <a:latin typeface="Calibri" charset="0"/>
                <a:ea typeface="MS PGothic" charset="0"/>
              </a:rPr>
              <a:t> already given you some brainstorming tips for creating good objectives.</a:t>
            </a:r>
          </a:p>
          <a:p>
            <a:endParaRPr lang="en-US" dirty="0">
              <a:latin typeface="Calibri" charset="0"/>
              <a:ea typeface="MS PGothic" charset="0"/>
            </a:endParaRPr>
          </a:p>
          <a:p>
            <a:r>
              <a:rPr lang="en-US" dirty="0">
                <a:latin typeface="Calibri" charset="0"/>
                <a:ea typeface="MS PGothic" charset="0"/>
              </a:rPr>
              <a:t>I</a:t>
            </a:r>
            <a:r>
              <a:rPr lang="ja-JP" altLang="en-US" dirty="0">
                <a:latin typeface="Calibri" charset="0"/>
                <a:ea typeface="MS PGothic" charset="0"/>
              </a:rPr>
              <a:t>’</a:t>
            </a:r>
            <a:r>
              <a:rPr lang="en-US" altLang="ja-JP" dirty="0" err="1">
                <a:latin typeface="Calibri" charset="0"/>
                <a:ea typeface="MS PGothic" charset="0"/>
              </a:rPr>
              <a:t>ll</a:t>
            </a:r>
            <a:r>
              <a:rPr lang="en-US" altLang="ja-JP" dirty="0">
                <a:latin typeface="Calibri" charset="0"/>
                <a:ea typeface="MS PGothic" charset="0"/>
              </a:rPr>
              <a:t> hear back from a few of you on how you did in 5 minutes (give a little longer if needed).</a:t>
            </a:r>
          </a:p>
          <a:p>
            <a:endParaRPr lang="en-US" dirty="0">
              <a:latin typeface="Calibri" charset="0"/>
              <a:ea typeface="MS PGothic" charset="0"/>
            </a:endParaRPr>
          </a:p>
          <a:p>
            <a:endParaRPr lang="en-US" dirty="0"/>
          </a:p>
        </p:txBody>
      </p:sp>
      <p:sp>
        <p:nvSpPr>
          <p:cNvPr id="4" name="Slide Number Placeholder 3">
            <a:extLst>
              <a:ext uri="{FF2B5EF4-FFF2-40B4-BE49-F238E27FC236}">
                <a16:creationId xmlns:a16="http://schemas.microsoft.com/office/drawing/2014/main" id="{A66F2789-CB64-9653-F966-39D4C3B7E054}"/>
              </a:ext>
            </a:extLst>
          </p:cNvPr>
          <p:cNvSpPr>
            <a:spLocks noGrp="1"/>
          </p:cNvSpPr>
          <p:nvPr>
            <p:ph type="sldNum" sz="quarter" idx="5"/>
          </p:nvPr>
        </p:nvSpPr>
        <p:spPr/>
        <p:txBody>
          <a:bodyPr/>
          <a:lstStyle/>
          <a:p>
            <a:fld id="{302311F2-5776-4B3C-8949-0AB4A691C0EC}" type="slidenum">
              <a:rPr lang="en-US" smtClean="0"/>
              <a:t>37</a:t>
            </a:fld>
            <a:endParaRPr lang="en-US"/>
          </a:p>
        </p:txBody>
      </p:sp>
    </p:spTree>
    <p:extLst>
      <p:ext uri="{BB962C8B-B14F-4D97-AF65-F5344CB8AC3E}">
        <p14:creationId xmlns:p14="http://schemas.microsoft.com/office/powerpoint/2010/main" val="21496404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E8EB7-9C3E-9CE0-CA62-5AB7F7E05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D517A4-E59C-1CBB-16CB-6A3A83DB78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94947-CA11-135A-981E-64B687433FA2}"/>
              </a:ext>
            </a:extLst>
          </p:cNvPr>
          <p:cNvSpPr>
            <a:spLocks noGrp="1"/>
          </p:cNvSpPr>
          <p:nvPr>
            <p:ph type="body" idx="1"/>
          </p:nvPr>
        </p:nvSpPr>
        <p:spPr/>
        <p:txBody>
          <a:bodyPr/>
          <a:lstStyle/>
          <a:p>
            <a:pPr marL="457200" lvl="0" indent="-431800" algn="l" rtl="0">
              <a:lnSpc>
                <a:spcPct val="100000"/>
              </a:lnSpc>
              <a:spcBef>
                <a:spcPts val="640"/>
              </a:spcBef>
              <a:spcAft>
                <a:spcPts val="0"/>
              </a:spcAft>
              <a:buSzPts val="3200"/>
              <a:buChar char="•"/>
            </a:pPr>
            <a:r>
              <a:rPr lang="en-US" dirty="0"/>
              <a:t>Proxy scale funny example: Objective = </a:t>
            </a:r>
            <a:r>
              <a:rPr lang="en-US" dirty="0">
                <a:solidFill>
                  <a:schemeClr val="dk1"/>
                </a:solidFill>
                <a:latin typeface="Arial"/>
                <a:cs typeface="Arial"/>
                <a:sym typeface="Arial"/>
              </a:rPr>
              <a:t>m</a:t>
            </a:r>
            <a:r>
              <a:rPr lang="en-US" dirty="0">
                <a:solidFill>
                  <a:schemeClr val="dk1"/>
                </a:solidFill>
                <a:latin typeface="Arial"/>
                <a:ea typeface="Arial"/>
                <a:cs typeface="Arial"/>
                <a:sym typeface="Arial"/>
              </a:rPr>
              <a:t>inimize student boredom </a:t>
            </a:r>
            <a:r>
              <a:rPr lang="en-US" sz="1200" dirty="0">
                <a:solidFill>
                  <a:schemeClr val="tx1"/>
                </a:solidFill>
                <a:latin typeface="+mn-lt"/>
                <a:ea typeface="+mn-ea"/>
                <a:cs typeface="+mn-cs"/>
                <a:sym typeface="Wingdings" panose="05000000000000000000" pitchFamily="2" charset="2"/>
              </a:rPr>
              <a:t> proxy = </a:t>
            </a:r>
            <a:r>
              <a:rPr lang="en-US" sz="2800" dirty="0">
                <a:solidFill>
                  <a:srgbClr val="C00000"/>
                </a:solidFill>
                <a:latin typeface="Arial"/>
                <a:ea typeface="Arial"/>
                <a:cs typeface="Arial"/>
                <a:sym typeface="Arial"/>
              </a:rPr>
              <a:t># of yawns</a:t>
            </a:r>
            <a:endParaRPr lang="en-US" dirty="0"/>
          </a:p>
          <a:p>
            <a:endParaRPr lang="en-US" dirty="0"/>
          </a:p>
        </p:txBody>
      </p:sp>
      <p:sp>
        <p:nvSpPr>
          <p:cNvPr id="4" name="Slide Number Placeholder 3">
            <a:extLst>
              <a:ext uri="{FF2B5EF4-FFF2-40B4-BE49-F238E27FC236}">
                <a16:creationId xmlns:a16="http://schemas.microsoft.com/office/drawing/2014/main" id="{57F122EC-840D-20BC-374E-EA18EE637EEC}"/>
              </a:ext>
            </a:extLst>
          </p:cNvPr>
          <p:cNvSpPr>
            <a:spLocks noGrp="1"/>
          </p:cNvSpPr>
          <p:nvPr>
            <p:ph type="sldNum" sz="quarter" idx="5"/>
          </p:nvPr>
        </p:nvSpPr>
        <p:spPr/>
        <p:txBody>
          <a:bodyPr/>
          <a:lstStyle/>
          <a:p>
            <a:fld id="{2B314E68-6428-4057-8802-7FF013249D1B}" type="slidenum">
              <a:rPr lang="en-US" smtClean="0"/>
              <a:t>41</a:t>
            </a:fld>
            <a:endParaRPr lang="en-US"/>
          </a:p>
        </p:txBody>
      </p:sp>
    </p:spTree>
    <p:extLst>
      <p:ext uri="{BB962C8B-B14F-4D97-AF65-F5344CB8AC3E}">
        <p14:creationId xmlns:p14="http://schemas.microsoft.com/office/powerpoint/2010/main" val="9512933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0" indent="-431800" algn="l" rtl="0">
              <a:lnSpc>
                <a:spcPct val="100000"/>
              </a:lnSpc>
              <a:spcBef>
                <a:spcPts val="640"/>
              </a:spcBef>
              <a:spcAft>
                <a:spcPts val="0"/>
              </a:spcAft>
              <a:buSzPts val="3200"/>
              <a:buChar char="•"/>
            </a:pPr>
            <a:r>
              <a:rPr lang="en-US" dirty="0"/>
              <a:t>Proxy scale funny example: Objective = </a:t>
            </a:r>
            <a:r>
              <a:rPr lang="en-US" dirty="0">
                <a:solidFill>
                  <a:schemeClr val="dk1"/>
                </a:solidFill>
                <a:latin typeface="Arial"/>
                <a:cs typeface="Arial"/>
                <a:sym typeface="Arial"/>
              </a:rPr>
              <a:t>m</a:t>
            </a:r>
            <a:r>
              <a:rPr lang="en-US" dirty="0">
                <a:solidFill>
                  <a:schemeClr val="dk1"/>
                </a:solidFill>
                <a:latin typeface="Arial"/>
                <a:ea typeface="Arial"/>
                <a:cs typeface="Arial"/>
                <a:sym typeface="Arial"/>
              </a:rPr>
              <a:t>inimize student boredom </a:t>
            </a:r>
            <a:r>
              <a:rPr lang="en-US" sz="1200" dirty="0">
                <a:solidFill>
                  <a:schemeClr val="tx1"/>
                </a:solidFill>
                <a:latin typeface="+mn-lt"/>
                <a:ea typeface="+mn-ea"/>
                <a:cs typeface="+mn-cs"/>
                <a:sym typeface="Wingdings" panose="05000000000000000000" pitchFamily="2" charset="2"/>
              </a:rPr>
              <a:t> proxy = </a:t>
            </a:r>
            <a:r>
              <a:rPr lang="en-US" sz="2800" dirty="0">
                <a:solidFill>
                  <a:srgbClr val="C00000"/>
                </a:solidFill>
                <a:latin typeface="Arial"/>
                <a:ea typeface="Arial"/>
                <a:cs typeface="Arial"/>
                <a:sym typeface="Arial"/>
              </a:rPr>
              <a:t># of yawns</a:t>
            </a:r>
            <a:endParaRPr lang="en-US" dirty="0"/>
          </a:p>
          <a:p>
            <a:endParaRPr lang="en-US" dirty="0"/>
          </a:p>
        </p:txBody>
      </p:sp>
      <p:sp>
        <p:nvSpPr>
          <p:cNvPr id="4" name="Slide Number Placeholder 3"/>
          <p:cNvSpPr>
            <a:spLocks noGrp="1"/>
          </p:cNvSpPr>
          <p:nvPr>
            <p:ph type="sldNum" sz="quarter" idx="5"/>
          </p:nvPr>
        </p:nvSpPr>
        <p:spPr/>
        <p:txBody>
          <a:bodyPr/>
          <a:lstStyle/>
          <a:p>
            <a:fld id="{2B314E68-6428-4057-8802-7FF013249D1B}" type="slidenum">
              <a:rPr lang="en-US" smtClean="0"/>
              <a:t>42</a:t>
            </a:fld>
            <a:endParaRPr lang="en-US"/>
          </a:p>
        </p:txBody>
      </p:sp>
    </p:spTree>
    <p:extLst>
      <p:ext uri="{BB962C8B-B14F-4D97-AF65-F5344CB8AC3E}">
        <p14:creationId xmlns:p14="http://schemas.microsoft.com/office/powerpoint/2010/main" val="12303786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F6897-4617-0C9D-4FD9-F2AFE094AC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3C9DDC-4806-310C-9701-AE389B0B7C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AAB34C-BD38-780F-565E-46BBF396FC18}"/>
              </a:ext>
            </a:extLst>
          </p:cNvPr>
          <p:cNvSpPr>
            <a:spLocks noGrp="1"/>
          </p:cNvSpPr>
          <p:nvPr>
            <p:ph type="body" idx="1"/>
          </p:nvPr>
        </p:nvSpPr>
        <p:spPr/>
        <p:txBody>
          <a:bodyPr/>
          <a:lstStyle/>
          <a:p>
            <a:pPr marL="457200" lvl="0" indent="-431800" algn="l" rtl="0">
              <a:lnSpc>
                <a:spcPct val="100000"/>
              </a:lnSpc>
              <a:spcBef>
                <a:spcPts val="640"/>
              </a:spcBef>
              <a:spcAft>
                <a:spcPts val="0"/>
              </a:spcAft>
              <a:buSzPts val="3200"/>
              <a:buChar char="•"/>
            </a:pPr>
            <a:r>
              <a:rPr lang="en-US" dirty="0"/>
              <a:t>Proxy scale funny example: Objective = </a:t>
            </a:r>
            <a:r>
              <a:rPr lang="en-US" dirty="0">
                <a:solidFill>
                  <a:schemeClr val="dk1"/>
                </a:solidFill>
                <a:latin typeface="Arial"/>
                <a:cs typeface="Arial"/>
                <a:sym typeface="Arial"/>
              </a:rPr>
              <a:t>m</a:t>
            </a:r>
            <a:r>
              <a:rPr lang="en-US" dirty="0">
                <a:solidFill>
                  <a:schemeClr val="dk1"/>
                </a:solidFill>
                <a:latin typeface="Arial"/>
                <a:ea typeface="Arial"/>
                <a:cs typeface="Arial"/>
                <a:sym typeface="Arial"/>
              </a:rPr>
              <a:t>inimize student boredom </a:t>
            </a:r>
            <a:r>
              <a:rPr lang="en-US" sz="1200" dirty="0">
                <a:solidFill>
                  <a:schemeClr val="tx1"/>
                </a:solidFill>
                <a:latin typeface="+mn-lt"/>
                <a:ea typeface="+mn-ea"/>
                <a:cs typeface="+mn-cs"/>
                <a:sym typeface="Wingdings" panose="05000000000000000000" pitchFamily="2" charset="2"/>
              </a:rPr>
              <a:t> proxy = </a:t>
            </a:r>
            <a:r>
              <a:rPr lang="en-US" sz="2800" dirty="0">
                <a:solidFill>
                  <a:srgbClr val="C00000"/>
                </a:solidFill>
                <a:latin typeface="Arial"/>
                <a:ea typeface="Arial"/>
                <a:cs typeface="Arial"/>
                <a:sym typeface="Arial"/>
              </a:rPr>
              <a:t># of yawns</a:t>
            </a:r>
            <a:endParaRPr lang="en-US" dirty="0"/>
          </a:p>
          <a:p>
            <a:endParaRPr lang="en-US" dirty="0"/>
          </a:p>
        </p:txBody>
      </p:sp>
      <p:sp>
        <p:nvSpPr>
          <p:cNvPr id="4" name="Slide Number Placeholder 3">
            <a:extLst>
              <a:ext uri="{FF2B5EF4-FFF2-40B4-BE49-F238E27FC236}">
                <a16:creationId xmlns:a16="http://schemas.microsoft.com/office/drawing/2014/main" id="{4CF9340D-7545-DE51-C924-E5633698C01B}"/>
              </a:ext>
            </a:extLst>
          </p:cNvPr>
          <p:cNvSpPr>
            <a:spLocks noGrp="1"/>
          </p:cNvSpPr>
          <p:nvPr>
            <p:ph type="sldNum" sz="quarter" idx="5"/>
          </p:nvPr>
        </p:nvSpPr>
        <p:spPr/>
        <p:txBody>
          <a:bodyPr/>
          <a:lstStyle/>
          <a:p>
            <a:fld id="{2B314E68-6428-4057-8802-7FF013249D1B}" type="slidenum">
              <a:rPr lang="en-US" smtClean="0"/>
              <a:t>43</a:t>
            </a:fld>
            <a:endParaRPr lang="en-US"/>
          </a:p>
        </p:txBody>
      </p:sp>
    </p:spTree>
    <p:extLst>
      <p:ext uri="{BB962C8B-B14F-4D97-AF65-F5344CB8AC3E}">
        <p14:creationId xmlns:p14="http://schemas.microsoft.com/office/powerpoint/2010/main" val="1064258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43113-0DA3-97C1-AB74-50795EFFA6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E554F0-84CC-9967-AC88-F07714F1B1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574378-CFAC-1BA8-A802-EC6BEDDCB437}"/>
              </a:ext>
            </a:extLst>
          </p:cNvPr>
          <p:cNvSpPr>
            <a:spLocks noGrp="1"/>
          </p:cNvSpPr>
          <p:nvPr>
            <p:ph type="body" idx="1"/>
          </p:nvPr>
        </p:nvSpPr>
        <p:spPr/>
        <p:txBody>
          <a:bodyPr/>
          <a:lstStyle/>
          <a:p>
            <a:pPr marL="457200" lvl="0" indent="-431800" algn="l" rtl="0">
              <a:lnSpc>
                <a:spcPct val="100000"/>
              </a:lnSpc>
              <a:spcBef>
                <a:spcPts val="640"/>
              </a:spcBef>
              <a:spcAft>
                <a:spcPts val="0"/>
              </a:spcAft>
              <a:buSzPts val="3200"/>
              <a:buChar char="•"/>
            </a:pPr>
            <a:r>
              <a:rPr lang="en-US" dirty="0"/>
              <a:t>Proxy scale funny example: Objective = </a:t>
            </a:r>
            <a:r>
              <a:rPr lang="en-US" dirty="0">
                <a:solidFill>
                  <a:schemeClr val="dk1"/>
                </a:solidFill>
                <a:latin typeface="Arial"/>
                <a:cs typeface="Arial"/>
                <a:sym typeface="Arial"/>
              </a:rPr>
              <a:t>m</a:t>
            </a:r>
            <a:r>
              <a:rPr lang="en-US" dirty="0">
                <a:solidFill>
                  <a:schemeClr val="dk1"/>
                </a:solidFill>
                <a:latin typeface="Arial"/>
                <a:ea typeface="Arial"/>
                <a:cs typeface="Arial"/>
                <a:sym typeface="Arial"/>
              </a:rPr>
              <a:t>inimize student boredom </a:t>
            </a:r>
            <a:r>
              <a:rPr lang="en-US" sz="1200" dirty="0">
                <a:solidFill>
                  <a:schemeClr val="tx1"/>
                </a:solidFill>
                <a:latin typeface="+mn-lt"/>
                <a:ea typeface="+mn-ea"/>
                <a:cs typeface="+mn-cs"/>
                <a:sym typeface="Wingdings" panose="05000000000000000000" pitchFamily="2" charset="2"/>
              </a:rPr>
              <a:t> proxy = </a:t>
            </a:r>
            <a:r>
              <a:rPr lang="en-US" sz="2800" dirty="0">
                <a:solidFill>
                  <a:srgbClr val="C00000"/>
                </a:solidFill>
                <a:latin typeface="Arial"/>
                <a:ea typeface="Arial"/>
                <a:cs typeface="Arial"/>
                <a:sym typeface="Arial"/>
              </a:rPr>
              <a:t># of yawns</a:t>
            </a:r>
            <a:endParaRPr lang="en-US" dirty="0"/>
          </a:p>
          <a:p>
            <a:endParaRPr lang="en-US" dirty="0"/>
          </a:p>
        </p:txBody>
      </p:sp>
      <p:sp>
        <p:nvSpPr>
          <p:cNvPr id="4" name="Slide Number Placeholder 3">
            <a:extLst>
              <a:ext uri="{FF2B5EF4-FFF2-40B4-BE49-F238E27FC236}">
                <a16:creationId xmlns:a16="http://schemas.microsoft.com/office/drawing/2014/main" id="{34F0651F-6E28-EB39-725F-7307B16A424A}"/>
              </a:ext>
            </a:extLst>
          </p:cNvPr>
          <p:cNvSpPr>
            <a:spLocks noGrp="1"/>
          </p:cNvSpPr>
          <p:nvPr>
            <p:ph type="sldNum" sz="quarter" idx="5"/>
          </p:nvPr>
        </p:nvSpPr>
        <p:spPr/>
        <p:txBody>
          <a:bodyPr/>
          <a:lstStyle/>
          <a:p>
            <a:fld id="{2B314E68-6428-4057-8802-7FF013249D1B}" type="slidenum">
              <a:rPr lang="en-US" smtClean="0"/>
              <a:t>44</a:t>
            </a:fld>
            <a:endParaRPr lang="en-US"/>
          </a:p>
        </p:txBody>
      </p:sp>
    </p:spTree>
    <p:extLst>
      <p:ext uri="{BB962C8B-B14F-4D97-AF65-F5344CB8AC3E}">
        <p14:creationId xmlns:p14="http://schemas.microsoft.com/office/powerpoint/2010/main" val="8077360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04868-0F4B-4B9D-241E-C6A367301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6E8523-6115-435D-6995-2D93B32A3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6CA4D-0FD0-B5A0-10E5-A2A0247A8334}"/>
              </a:ext>
            </a:extLst>
          </p:cNvPr>
          <p:cNvSpPr>
            <a:spLocks noGrp="1"/>
          </p:cNvSpPr>
          <p:nvPr>
            <p:ph type="body" idx="1"/>
          </p:nvPr>
        </p:nvSpPr>
        <p:spPr/>
        <p:txBody>
          <a:bodyPr/>
          <a:lstStyle/>
          <a:p>
            <a:pPr marL="457200" lvl="0" indent="-431800" algn="l" rtl="0">
              <a:lnSpc>
                <a:spcPct val="100000"/>
              </a:lnSpc>
              <a:spcBef>
                <a:spcPts val="640"/>
              </a:spcBef>
              <a:spcAft>
                <a:spcPts val="0"/>
              </a:spcAft>
              <a:buSzPts val="3200"/>
              <a:buChar char="•"/>
            </a:pPr>
            <a:r>
              <a:rPr lang="en-US" dirty="0"/>
              <a:t>Proxy scale funny example: Objective = </a:t>
            </a:r>
            <a:r>
              <a:rPr lang="en-US" dirty="0">
                <a:solidFill>
                  <a:schemeClr val="dk1"/>
                </a:solidFill>
                <a:latin typeface="Arial"/>
                <a:cs typeface="Arial"/>
                <a:sym typeface="Arial"/>
              </a:rPr>
              <a:t>m</a:t>
            </a:r>
            <a:r>
              <a:rPr lang="en-US" dirty="0">
                <a:solidFill>
                  <a:schemeClr val="dk1"/>
                </a:solidFill>
                <a:latin typeface="Arial"/>
                <a:ea typeface="Arial"/>
                <a:cs typeface="Arial"/>
                <a:sym typeface="Arial"/>
              </a:rPr>
              <a:t>inimize student boredom </a:t>
            </a:r>
            <a:r>
              <a:rPr lang="en-US" sz="1200" dirty="0">
                <a:solidFill>
                  <a:schemeClr val="tx1"/>
                </a:solidFill>
                <a:latin typeface="+mn-lt"/>
                <a:ea typeface="+mn-ea"/>
                <a:cs typeface="+mn-cs"/>
                <a:sym typeface="Wingdings" panose="05000000000000000000" pitchFamily="2" charset="2"/>
              </a:rPr>
              <a:t> proxy = </a:t>
            </a:r>
            <a:r>
              <a:rPr lang="en-US" sz="2800" dirty="0">
                <a:solidFill>
                  <a:srgbClr val="C00000"/>
                </a:solidFill>
                <a:latin typeface="Arial"/>
                <a:ea typeface="Arial"/>
                <a:cs typeface="Arial"/>
                <a:sym typeface="Arial"/>
              </a:rPr>
              <a:t># of yawns</a:t>
            </a:r>
            <a:endParaRPr lang="en-US" dirty="0"/>
          </a:p>
          <a:p>
            <a:endParaRPr lang="en-US" dirty="0"/>
          </a:p>
        </p:txBody>
      </p:sp>
      <p:sp>
        <p:nvSpPr>
          <p:cNvPr id="4" name="Slide Number Placeholder 3">
            <a:extLst>
              <a:ext uri="{FF2B5EF4-FFF2-40B4-BE49-F238E27FC236}">
                <a16:creationId xmlns:a16="http://schemas.microsoft.com/office/drawing/2014/main" id="{1E21137A-D511-A9ED-F0B5-C3F6007ECDDD}"/>
              </a:ext>
            </a:extLst>
          </p:cNvPr>
          <p:cNvSpPr>
            <a:spLocks noGrp="1"/>
          </p:cNvSpPr>
          <p:nvPr>
            <p:ph type="sldNum" sz="quarter" idx="5"/>
          </p:nvPr>
        </p:nvSpPr>
        <p:spPr/>
        <p:txBody>
          <a:bodyPr/>
          <a:lstStyle/>
          <a:p>
            <a:fld id="{2B314E68-6428-4057-8802-7FF013249D1B}" type="slidenum">
              <a:rPr lang="en-US" smtClean="0"/>
              <a:t>45</a:t>
            </a:fld>
            <a:endParaRPr lang="en-US"/>
          </a:p>
        </p:txBody>
      </p:sp>
    </p:spTree>
    <p:extLst>
      <p:ext uri="{BB962C8B-B14F-4D97-AF65-F5344CB8AC3E}">
        <p14:creationId xmlns:p14="http://schemas.microsoft.com/office/powerpoint/2010/main" val="3474492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47</a:t>
            </a:fld>
            <a:endParaRPr lang="en-US"/>
          </a:p>
        </p:txBody>
      </p:sp>
    </p:spTree>
    <p:extLst>
      <p:ext uri="{BB962C8B-B14F-4D97-AF65-F5344CB8AC3E}">
        <p14:creationId xmlns:p14="http://schemas.microsoft.com/office/powerpoint/2010/main" val="18798082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1D9E2-449A-7210-7436-FA00022D37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35528-BA41-5F0C-443D-E647F96695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77A06B-6780-6457-FBE5-804E312AD4A2}"/>
              </a:ext>
            </a:extLst>
          </p:cNvPr>
          <p:cNvSpPr>
            <a:spLocks noGrp="1"/>
          </p:cNvSpPr>
          <p:nvPr>
            <p:ph type="body" idx="1"/>
          </p:nvPr>
        </p:nvSpPr>
        <p:spPr/>
        <p:txBody>
          <a:bodyPr/>
          <a:lstStyle/>
          <a:p>
            <a:endParaRPr lang="en-US" dirty="0">
              <a:latin typeface="Calibri" charset="0"/>
              <a:ea typeface="MS PGothic" charset="0"/>
            </a:endParaRPr>
          </a:p>
          <a:p>
            <a:r>
              <a:rPr lang="en-US" b="1" dirty="0">
                <a:latin typeface="Calibri" charset="0"/>
                <a:ea typeface="MS PGothic" charset="0"/>
              </a:rPr>
              <a:t>Be sure to take good notes </a:t>
            </a:r>
            <a:r>
              <a:rPr lang="en-US" dirty="0">
                <a:latin typeface="Calibri" charset="0"/>
                <a:ea typeface="MS PGothic" charset="0"/>
              </a:rPr>
              <a:t>– we will build on this example throughout this module</a:t>
            </a:r>
          </a:p>
          <a:p>
            <a:endParaRPr lang="en-US" dirty="0">
              <a:latin typeface="Calibri" charset="0"/>
              <a:ea typeface="MS PGothic" charset="0"/>
            </a:endParaRPr>
          </a:p>
          <a:p>
            <a:r>
              <a:rPr lang="en-US" dirty="0">
                <a:latin typeface="Calibri" charset="0"/>
                <a:ea typeface="MS PGothic" charset="0"/>
              </a:rPr>
              <a:t>I</a:t>
            </a:r>
            <a:r>
              <a:rPr lang="ja-JP" altLang="en-US" dirty="0">
                <a:latin typeface="Calibri" charset="0"/>
                <a:ea typeface="MS PGothic" charset="0"/>
              </a:rPr>
              <a:t>’</a:t>
            </a:r>
            <a:r>
              <a:rPr lang="en-US" altLang="ja-JP" dirty="0" err="1">
                <a:latin typeface="Calibri" charset="0"/>
                <a:ea typeface="MS PGothic" charset="0"/>
              </a:rPr>
              <a:t>ve</a:t>
            </a:r>
            <a:r>
              <a:rPr lang="en-US" altLang="ja-JP" dirty="0">
                <a:latin typeface="Calibri" charset="0"/>
                <a:ea typeface="MS PGothic" charset="0"/>
              </a:rPr>
              <a:t> already given you some brainstorming tips for creating good objectives.</a:t>
            </a:r>
          </a:p>
          <a:p>
            <a:endParaRPr lang="en-US" dirty="0">
              <a:latin typeface="Calibri" charset="0"/>
              <a:ea typeface="MS PGothic" charset="0"/>
            </a:endParaRPr>
          </a:p>
          <a:p>
            <a:r>
              <a:rPr lang="en-US" dirty="0">
                <a:latin typeface="Calibri" charset="0"/>
                <a:ea typeface="MS PGothic" charset="0"/>
              </a:rPr>
              <a:t>I</a:t>
            </a:r>
            <a:r>
              <a:rPr lang="ja-JP" altLang="en-US" dirty="0">
                <a:latin typeface="Calibri" charset="0"/>
                <a:ea typeface="MS PGothic" charset="0"/>
              </a:rPr>
              <a:t>’</a:t>
            </a:r>
            <a:r>
              <a:rPr lang="en-US" altLang="ja-JP" dirty="0" err="1">
                <a:latin typeface="Calibri" charset="0"/>
                <a:ea typeface="MS PGothic" charset="0"/>
              </a:rPr>
              <a:t>ll</a:t>
            </a:r>
            <a:r>
              <a:rPr lang="en-US" altLang="ja-JP" dirty="0">
                <a:latin typeface="Calibri" charset="0"/>
                <a:ea typeface="MS PGothic" charset="0"/>
              </a:rPr>
              <a:t> hear back from a few of you on how you did in 5 minutes (give a little longer if needed).</a:t>
            </a:r>
          </a:p>
          <a:p>
            <a:endParaRPr lang="en-US" dirty="0">
              <a:latin typeface="Calibri" charset="0"/>
              <a:ea typeface="MS PGothic" charset="0"/>
            </a:endParaRPr>
          </a:p>
          <a:p>
            <a:endParaRPr lang="en-US" dirty="0"/>
          </a:p>
        </p:txBody>
      </p:sp>
      <p:sp>
        <p:nvSpPr>
          <p:cNvPr id="4" name="Slide Number Placeholder 3">
            <a:extLst>
              <a:ext uri="{FF2B5EF4-FFF2-40B4-BE49-F238E27FC236}">
                <a16:creationId xmlns:a16="http://schemas.microsoft.com/office/drawing/2014/main" id="{57D9DAAC-5149-672F-26E1-F013946BB0D8}"/>
              </a:ext>
            </a:extLst>
          </p:cNvPr>
          <p:cNvSpPr>
            <a:spLocks noGrp="1"/>
          </p:cNvSpPr>
          <p:nvPr>
            <p:ph type="sldNum" sz="quarter" idx="5"/>
          </p:nvPr>
        </p:nvSpPr>
        <p:spPr/>
        <p:txBody>
          <a:bodyPr/>
          <a:lstStyle/>
          <a:p>
            <a:fld id="{302311F2-5776-4B3C-8949-0AB4A691C0EC}" type="slidenum">
              <a:rPr lang="en-US" smtClean="0"/>
              <a:t>48</a:t>
            </a:fld>
            <a:endParaRPr lang="en-US"/>
          </a:p>
        </p:txBody>
      </p:sp>
    </p:spTree>
    <p:extLst>
      <p:ext uri="{BB962C8B-B14F-4D97-AF65-F5344CB8AC3E}">
        <p14:creationId xmlns:p14="http://schemas.microsoft.com/office/powerpoint/2010/main" val="26075578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52</a:t>
            </a:fld>
            <a:endParaRPr lang="en-US"/>
          </a:p>
        </p:txBody>
      </p:sp>
    </p:spTree>
    <p:extLst>
      <p:ext uri="{BB962C8B-B14F-4D97-AF65-F5344CB8AC3E}">
        <p14:creationId xmlns:p14="http://schemas.microsoft.com/office/powerpoint/2010/main" val="3647799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0212475-7CF0-408A-B5B8-3330C0C12443}" type="datetimeFigureOut">
              <a:rPr lang="en-US" smtClean="0"/>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721657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pic>
        <p:nvPicPr>
          <p:cNvPr id="8" name="Picture 7" descr="A black background with a black square&#10;&#10;Description automatically generated with medium confidence">
            <a:extLst>
              <a:ext uri="{FF2B5EF4-FFF2-40B4-BE49-F238E27FC236}">
                <a16:creationId xmlns:a16="http://schemas.microsoft.com/office/drawing/2014/main" id="{72FD9346-AA22-5D16-331E-DA6EB867F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891973" y="6205403"/>
            <a:ext cx="3185154" cy="626047"/>
          </a:xfrm>
          <a:prstGeom prst="rect">
            <a:avLst/>
          </a:prstGeom>
        </p:spPr>
      </p:pic>
    </p:spTree>
    <p:extLst>
      <p:ext uri="{BB962C8B-B14F-4D97-AF65-F5344CB8AC3E}">
        <p14:creationId xmlns:p14="http://schemas.microsoft.com/office/powerpoint/2010/main" val="22638248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0212475-7CF0-408A-B5B8-3330C0C12443}" type="datetimeFigureOut">
              <a:rPr lang="en-US" smtClean="0"/>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646608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0212475-7CF0-408A-B5B8-3330C0C12443}" type="datetimeFigureOut">
              <a:rPr lang="en-US" smtClean="0"/>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4115076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212475-7CF0-408A-B5B8-3330C0C12443}" type="datetimeFigureOut">
              <a:rPr lang="en-US" smtClean="0"/>
              <a:t>8/27/2025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852401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0212475-7CF0-408A-B5B8-3330C0C12443}" type="datetimeFigureOut">
              <a:rPr lang="en-US" smtClean="0"/>
              <a:t>8/27/2025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951696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212475-7CF0-408A-B5B8-3330C0C12443}" type="datetimeFigureOut">
              <a:rPr lang="en-US" smtClean="0"/>
              <a:t>8/27/2025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541292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194133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64303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012835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867437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212475-7CF0-408A-B5B8-3330C0C12443}" type="datetimeFigureOut">
              <a:rPr lang="en-US" smtClean="0"/>
              <a:t>8/27/2025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8C6AA1-F993-436E-99FC-63F28720B9C1}" type="slidenum">
              <a:rPr lang="en-US" smtClean="0"/>
              <a:t>‹#›</a:t>
            </a:fld>
            <a:endParaRPr lang="en-US"/>
          </a:p>
        </p:txBody>
      </p:sp>
    </p:spTree>
    <p:extLst>
      <p:ext uri="{BB962C8B-B14F-4D97-AF65-F5344CB8AC3E}">
        <p14:creationId xmlns:p14="http://schemas.microsoft.com/office/powerpoint/2010/main" val="36230839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15.svg"/></Relationships>
</file>

<file path=ppt/slides/_rels/slide14.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slides/_rels/slide15.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28.sv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15.sv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38.svg"/><Relationship Id="rId3" Type="http://schemas.openxmlformats.org/officeDocument/2006/relationships/image" Target="../media/image1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15.sv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9.png"/><Relationship Id="rId4"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23848-0866-067B-5C85-225EDB126BA1}"/>
              </a:ext>
            </a:extLst>
          </p:cNvPr>
          <p:cNvSpPr>
            <a:spLocks noGrp="1"/>
          </p:cNvSpPr>
          <p:nvPr>
            <p:ph type="ctrTitle"/>
          </p:nvPr>
        </p:nvSpPr>
        <p:spPr>
          <a:xfrm>
            <a:off x="1366554" y="1481908"/>
            <a:ext cx="9718260" cy="2516776"/>
          </a:xfrm>
        </p:spPr>
        <p:txBody>
          <a:bodyPr anchor="ctr">
            <a:normAutofit/>
          </a:bodyPr>
          <a:lstStyle/>
          <a:p>
            <a:r>
              <a:rPr lang="en-US" sz="7200" b="1" dirty="0"/>
              <a:t>Week 3: </a:t>
            </a:r>
            <a:br>
              <a:rPr lang="en-US" sz="7200" b="1" dirty="0"/>
            </a:br>
            <a:r>
              <a:rPr lang="en-US" sz="4700" dirty="0">
                <a:solidFill>
                  <a:srgbClr val="ED7D31"/>
                </a:solidFill>
                <a:latin typeface="+mn-lt"/>
              </a:rPr>
              <a:t>Objectives Step of </a:t>
            </a:r>
            <a:r>
              <a:rPr lang="en-US" sz="4700" dirty="0" err="1">
                <a:solidFill>
                  <a:srgbClr val="ED7D31"/>
                </a:solidFill>
                <a:latin typeface="+mn-lt"/>
              </a:rPr>
              <a:t>PrOACT</a:t>
            </a:r>
            <a:endParaRPr lang="en-US" sz="4700" dirty="0">
              <a:solidFill>
                <a:srgbClr val="ED7D31"/>
              </a:solidFill>
              <a:latin typeface="+mn-lt"/>
            </a:endParaRPr>
          </a:p>
        </p:txBody>
      </p:sp>
      <p:pic>
        <p:nvPicPr>
          <p:cNvPr id="11" name="Picture 10" descr="A black background with a black square&#10;&#10;Description automatically generated with medium confidence">
            <a:extLst>
              <a:ext uri="{FF2B5EF4-FFF2-40B4-BE49-F238E27FC236}">
                <a16:creationId xmlns:a16="http://schemas.microsoft.com/office/drawing/2014/main" id="{7A4DEB4C-A3E6-F636-2C42-D54CB20DD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005" y="451522"/>
            <a:ext cx="4832857" cy="949906"/>
          </a:xfrm>
          <a:prstGeom prst="rect">
            <a:avLst/>
          </a:prstGeom>
        </p:spPr>
      </p:pic>
      <p:sp>
        <p:nvSpPr>
          <p:cNvPr id="16" name="TextBox 15">
            <a:extLst>
              <a:ext uri="{FF2B5EF4-FFF2-40B4-BE49-F238E27FC236}">
                <a16:creationId xmlns:a16="http://schemas.microsoft.com/office/drawing/2014/main" id="{86D1B4F1-CD55-C0FF-1797-AD87F89108F7}"/>
              </a:ext>
            </a:extLst>
          </p:cNvPr>
          <p:cNvSpPr txBox="1"/>
          <p:nvPr/>
        </p:nvSpPr>
        <p:spPr>
          <a:xfrm>
            <a:off x="2383104" y="4111882"/>
            <a:ext cx="7425791" cy="1384995"/>
          </a:xfrm>
          <a:prstGeom prst="rect">
            <a:avLst/>
          </a:prstGeom>
          <a:noFill/>
        </p:spPr>
        <p:txBody>
          <a:bodyPr wrap="square">
            <a:spAutoFit/>
          </a:bodyPr>
          <a:lstStyle/>
          <a:p>
            <a:pPr algn="ctr"/>
            <a:r>
              <a:rPr lang="en-US" sz="2400" b="1" dirty="0"/>
              <a:t>Instructor: </a:t>
            </a:r>
            <a:r>
              <a:rPr lang="en-US" sz="2400" dirty="0"/>
              <a:t>Brielle K Thompson</a:t>
            </a:r>
          </a:p>
          <a:p>
            <a:pPr algn="ctr"/>
            <a:endParaRPr lang="en-US" sz="1200" dirty="0"/>
          </a:p>
          <a:p>
            <a:pPr algn="ctr"/>
            <a:r>
              <a:rPr lang="en-US" sz="2400" b="1" dirty="0"/>
              <a:t>Course: </a:t>
            </a:r>
            <a:r>
              <a:rPr lang="en-US" sz="2400" dirty="0"/>
              <a:t>NAT_R 8001 Decision Analysis for Research and Management of Natural Resources</a:t>
            </a:r>
          </a:p>
        </p:txBody>
      </p:sp>
    </p:spTree>
    <p:extLst>
      <p:ext uri="{BB962C8B-B14F-4D97-AF65-F5344CB8AC3E}">
        <p14:creationId xmlns:p14="http://schemas.microsoft.com/office/powerpoint/2010/main" val="2472309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8F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B144-4F84-4904-5069-E111693C7CAA}"/>
              </a:ext>
            </a:extLst>
          </p:cNvPr>
          <p:cNvSpPr>
            <a:spLocks noGrp="1"/>
          </p:cNvSpPr>
          <p:nvPr>
            <p:ph type="title"/>
          </p:nvPr>
        </p:nvSpPr>
        <p:spPr>
          <a:xfrm>
            <a:off x="623047" y="182245"/>
            <a:ext cx="10515600" cy="1173219"/>
          </a:xfrm>
          <a:prstGeom prst="leftArrow">
            <a:avLst/>
          </a:prstGeom>
          <a:solidFill>
            <a:srgbClr val="002060"/>
          </a:solidFill>
          <a:ln w="38100">
            <a:solidFill>
              <a:schemeClr val="tx1"/>
            </a:solidFill>
          </a:ln>
        </p:spPr>
        <p:txBody>
          <a:bodyPr>
            <a:normAutofit fontScale="90000"/>
          </a:bodyPr>
          <a:lstStyle/>
          <a:p>
            <a:pPr algn="ctr"/>
            <a:r>
              <a:rPr lang="en-US" b="1" u="sng" dirty="0">
                <a:solidFill>
                  <a:schemeClr val="bg1"/>
                </a:solidFill>
              </a:rPr>
              <a:t>Review of last week</a:t>
            </a:r>
          </a:p>
        </p:txBody>
      </p:sp>
      <p:sp>
        <p:nvSpPr>
          <p:cNvPr id="3" name="Content Placeholder 2">
            <a:extLst>
              <a:ext uri="{FF2B5EF4-FFF2-40B4-BE49-F238E27FC236}">
                <a16:creationId xmlns:a16="http://schemas.microsoft.com/office/drawing/2014/main" id="{835A3ACB-323F-C124-5084-39A44120C243}"/>
              </a:ext>
            </a:extLst>
          </p:cNvPr>
          <p:cNvSpPr>
            <a:spLocks noGrp="1"/>
          </p:cNvSpPr>
          <p:nvPr>
            <p:ph idx="1"/>
          </p:nvPr>
        </p:nvSpPr>
        <p:spPr>
          <a:xfrm>
            <a:off x="935131" y="1452283"/>
            <a:ext cx="6917397" cy="5223472"/>
          </a:xfrm>
        </p:spPr>
        <p:txBody>
          <a:bodyPr>
            <a:normAutofit/>
          </a:bodyPr>
          <a:lstStyle/>
          <a:p>
            <a:r>
              <a:rPr lang="en-US" dirty="0"/>
              <a:t>Discussed the problem framing step of SDM</a:t>
            </a:r>
          </a:p>
          <a:p>
            <a:r>
              <a:rPr lang="en-US" dirty="0"/>
              <a:t>Elements of problem framing</a:t>
            </a:r>
          </a:p>
          <a:p>
            <a:pPr marL="971550" lvl="1" indent="-514350">
              <a:buAutoNum type="arabicPeriod"/>
            </a:pPr>
            <a:r>
              <a:rPr lang="en-US" dirty="0"/>
              <a:t>ID the decision maker(s)</a:t>
            </a:r>
          </a:p>
          <a:p>
            <a:pPr marL="971550" lvl="1" indent="-514350">
              <a:buAutoNum type="arabicPeriod"/>
            </a:pPr>
            <a:r>
              <a:rPr lang="en-US" dirty="0"/>
              <a:t>ID other key players</a:t>
            </a:r>
          </a:p>
          <a:p>
            <a:pPr marL="971550" lvl="1" indent="-514350">
              <a:buAutoNum type="arabicPeriod"/>
            </a:pPr>
            <a:r>
              <a:rPr lang="en-US" dirty="0"/>
              <a:t>Consider legal and regulatory context</a:t>
            </a:r>
          </a:p>
          <a:p>
            <a:pPr marL="971550" lvl="1" indent="-514350">
              <a:buAutoNum type="arabicPeriod"/>
            </a:pPr>
            <a:r>
              <a:rPr lang="en-US" dirty="0"/>
              <a:t>Consider decision structure</a:t>
            </a:r>
          </a:p>
          <a:p>
            <a:pPr marL="971550" lvl="1" indent="-514350">
              <a:buAutoNum type="arabicPeriod"/>
            </a:pPr>
            <a:r>
              <a:rPr lang="en-US" dirty="0"/>
              <a:t>Consider the type of analysis required</a:t>
            </a:r>
          </a:p>
          <a:p>
            <a:pPr marL="457200" lvl="1" indent="0">
              <a:buNone/>
            </a:pPr>
            <a:r>
              <a:rPr lang="en-US" dirty="0"/>
              <a:t>6.  Revise as needed</a:t>
            </a:r>
          </a:p>
          <a:p>
            <a:r>
              <a:rPr lang="en-US" dirty="0"/>
              <a:t>Learned about the template:</a:t>
            </a:r>
          </a:p>
          <a:p>
            <a:pPr lvl="1"/>
            <a:r>
              <a:rPr lang="en-US" dirty="0">
                <a:solidFill>
                  <a:srgbClr val="000000"/>
                </a:solidFill>
                <a:latin typeface="Arial"/>
                <a:ea typeface="Arial"/>
                <a:cs typeface="Arial"/>
                <a:sym typeface="Arial"/>
              </a:rPr>
              <a:t>“Decision Maker (</a:t>
            </a:r>
            <a:r>
              <a:rPr lang="en-US" b="1" u="sng" dirty="0">
                <a:solidFill>
                  <a:srgbClr val="000000"/>
                </a:solidFill>
                <a:latin typeface="Arial"/>
                <a:ea typeface="Arial"/>
                <a:cs typeface="Arial"/>
                <a:sym typeface="Arial"/>
              </a:rPr>
              <a:t>D</a:t>
            </a:r>
            <a:r>
              <a:rPr lang="en-US" dirty="0">
                <a:solidFill>
                  <a:srgbClr val="000000"/>
                </a:solidFill>
                <a:latin typeface="Arial"/>
                <a:ea typeface="Arial"/>
                <a:cs typeface="Arial"/>
                <a:sym typeface="Arial"/>
              </a:rPr>
              <a:t>) is trying to do </a:t>
            </a:r>
            <a:r>
              <a:rPr lang="en-US" b="1" u="sng" dirty="0">
                <a:solidFill>
                  <a:srgbClr val="000000"/>
                </a:solidFill>
                <a:latin typeface="Arial"/>
                <a:ea typeface="Arial"/>
                <a:cs typeface="Arial"/>
                <a:sym typeface="Arial"/>
              </a:rPr>
              <a:t>X</a:t>
            </a:r>
            <a:r>
              <a:rPr lang="en-US" dirty="0">
                <a:solidFill>
                  <a:srgbClr val="000000"/>
                </a:solidFill>
                <a:latin typeface="Arial"/>
                <a:ea typeface="Arial"/>
                <a:cs typeface="Arial"/>
                <a:sym typeface="Arial"/>
              </a:rPr>
              <a:t> to achieve </a:t>
            </a:r>
            <a:r>
              <a:rPr lang="en-US" b="1" u="sng" dirty="0">
                <a:solidFill>
                  <a:srgbClr val="000000"/>
                </a:solidFill>
                <a:latin typeface="Arial"/>
                <a:ea typeface="Arial"/>
                <a:cs typeface="Arial"/>
                <a:sym typeface="Arial"/>
              </a:rPr>
              <a:t>Y</a:t>
            </a:r>
            <a:r>
              <a:rPr lang="en-US" dirty="0">
                <a:solidFill>
                  <a:srgbClr val="000000"/>
                </a:solidFill>
                <a:latin typeface="Arial"/>
                <a:ea typeface="Arial"/>
                <a:cs typeface="Arial"/>
                <a:sym typeface="Arial"/>
              </a:rPr>
              <a:t> over time </a:t>
            </a:r>
            <a:r>
              <a:rPr lang="en-US" b="1" u="sng" dirty="0">
                <a:solidFill>
                  <a:srgbClr val="000000"/>
                </a:solidFill>
                <a:latin typeface="Arial"/>
                <a:ea typeface="Arial"/>
                <a:cs typeface="Arial"/>
                <a:sym typeface="Arial"/>
              </a:rPr>
              <a:t>Z</a:t>
            </a:r>
            <a:r>
              <a:rPr lang="en-US" dirty="0">
                <a:solidFill>
                  <a:srgbClr val="000000"/>
                </a:solidFill>
                <a:latin typeface="Arial"/>
                <a:ea typeface="Arial"/>
                <a:cs typeface="Arial"/>
                <a:sym typeface="Arial"/>
              </a:rPr>
              <a:t> and in place </a:t>
            </a:r>
            <a:r>
              <a:rPr lang="en-US" b="1" u="sng" dirty="0">
                <a:solidFill>
                  <a:srgbClr val="000000"/>
                </a:solidFill>
                <a:latin typeface="Arial"/>
                <a:ea typeface="Arial"/>
                <a:cs typeface="Arial"/>
                <a:sym typeface="Arial"/>
              </a:rPr>
              <a:t>W</a:t>
            </a:r>
            <a:r>
              <a:rPr lang="en-US" dirty="0">
                <a:solidFill>
                  <a:srgbClr val="000000"/>
                </a:solidFill>
                <a:latin typeface="Arial"/>
                <a:ea typeface="Arial"/>
                <a:cs typeface="Arial"/>
                <a:sym typeface="Arial"/>
              </a:rPr>
              <a:t> considering </a:t>
            </a:r>
            <a:r>
              <a:rPr lang="en-US" b="1" u="sng" dirty="0">
                <a:solidFill>
                  <a:srgbClr val="000000"/>
                </a:solidFill>
                <a:latin typeface="Arial"/>
                <a:ea typeface="Arial"/>
                <a:cs typeface="Arial"/>
                <a:sym typeface="Arial"/>
              </a:rPr>
              <a:t>B</a:t>
            </a:r>
            <a:r>
              <a:rPr lang="en-US" dirty="0">
                <a:solidFill>
                  <a:srgbClr val="000000"/>
                </a:solidFill>
                <a:latin typeface="Arial"/>
                <a:ea typeface="Arial"/>
                <a:cs typeface="Arial"/>
                <a:sym typeface="Arial"/>
              </a:rPr>
              <a:t>.” </a:t>
            </a:r>
            <a:endParaRPr lang="en-US" dirty="0"/>
          </a:p>
          <a:p>
            <a:endParaRPr lang="en-US" sz="3200" dirty="0"/>
          </a:p>
        </p:txBody>
      </p:sp>
      <p:pic>
        <p:nvPicPr>
          <p:cNvPr id="6" name="Picture 5">
            <a:extLst>
              <a:ext uri="{FF2B5EF4-FFF2-40B4-BE49-F238E27FC236}">
                <a16:creationId xmlns:a16="http://schemas.microsoft.com/office/drawing/2014/main" id="{60FFCAA1-5EA6-0815-A67C-EE7A38664C03}"/>
              </a:ext>
            </a:extLst>
          </p:cNvPr>
          <p:cNvPicPr>
            <a:picLocks noChangeAspect="1"/>
          </p:cNvPicPr>
          <p:nvPr/>
        </p:nvPicPr>
        <p:blipFill>
          <a:blip r:embed="rId3"/>
          <a:stretch>
            <a:fillRect/>
          </a:stretch>
        </p:blipFill>
        <p:spPr>
          <a:xfrm>
            <a:off x="8116347" y="1452283"/>
            <a:ext cx="3399064" cy="4532085"/>
          </a:xfrm>
          <a:prstGeom prst="rect">
            <a:avLst/>
          </a:prstGeom>
          <a:ln>
            <a:noFill/>
          </a:ln>
          <a:effectLst>
            <a:softEdge rad="25400"/>
          </a:effectLst>
        </p:spPr>
      </p:pic>
    </p:spTree>
    <p:extLst>
      <p:ext uri="{BB962C8B-B14F-4D97-AF65-F5344CB8AC3E}">
        <p14:creationId xmlns:p14="http://schemas.microsoft.com/office/powerpoint/2010/main" val="2716345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6827130-5F1A-E334-4E69-398B9B44D57A}"/>
              </a:ext>
            </a:extLst>
          </p:cNvPr>
          <p:cNvPicPr>
            <a:picLocks noChangeAspect="1"/>
          </p:cNvPicPr>
          <p:nvPr/>
        </p:nvPicPr>
        <p:blipFill>
          <a:blip r:embed="rId2"/>
          <a:srcRect r="2570"/>
          <a:stretch/>
        </p:blipFill>
        <p:spPr>
          <a:xfrm>
            <a:off x="1328673" y="0"/>
            <a:ext cx="8675769" cy="6246796"/>
          </a:xfrm>
          <a:prstGeom prst="rect">
            <a:avLst/>
          </a:prstGeom>
        </p:spPr>
      </p:pic>
      <p:sp>
        <p:nvSpPr>
          <p:cNvPr id="6" name="Star: 5 Points 5">
            <a:extLst>
              <a:ext uri="{FF2B5EF4-FFF2-40B4-BE49-F238E27FC236}">
                <a16:creationId xmlns:a16="http://schemas.microsoft.com/office/drawing/2014/main" id="{000D6200-F35A-3892-70FB-0438F0553F7A}"/>
              </a:ext>
            </a:extLst>
          </p:cNvPr>
          <p:cNvSpPr/>
          <p:nvPr/>
        </p:nvSpPr>
        <p:spPr>
          <a:xfrm>
            <a:off x="7197743" y="1475190"/>
            <a:ext cx="500127" cy="455756"/>
          </a:xfrm>
          <a:prstGeom prst="star5">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6FB75B1D-D86B-0D64-10CD-A08AF3960B26}"/>
              </a:ext>
            </a:extLst>
          </p:cNvPr>
          <p:cNvSpPr txBox="1"/>
          <p:nvPr/>
        </p:nvSpPr>
        <p:spPr>
          <a:xfrm>
            <a:off x="320513" y="384061"/>
            <a:ext cx="2705492" cy="1384995"/>
          </a:xfrm>
          <a:prstGeom prst="rect">
            <a:avLst/>
          </a:prstGeom>
          <a:solidFill>
            <a:schemeClr val="accent4">
              <a:lumMod val="40000"/>
              <a:lumOff val="60000"/>
            </a:schemeClr>
          </a:solidFill>
          <a:ln w="76200">
            <a:solidFill>
              <a:schemeClr val="tx1"/>
            </a:solidFill>
          </a:ln>
        </p:spPr>
        <p:txBody>
          <a:bodyPr wrap="square" rtlCol="0">
            <a:spAutoFit/>
          </a:bodyPr>
          <a:lstStyle/>
          <a:p>
            <a:pPr algn="ctr"/>
            <a:r>
              <a:rPr lang="en-US" sz="2800" dirty="0"/>
              <a:t>Today: </a:t>
            </a:r>
          </a:p>
          <a:p>
            <a:pPr algn="ctr"/>
            <a:r>
              <a:rPr lang="en-US" sz="2800" dirty="0"/>
              <a:t>Learn about the objectives step</a:t>
            </a:r>
          </a:p>
        </p:txBody>
      </p:sp>
    </p:spTree>
    <p:extLst>
      <p:ext uri="{BB962C8B-B14F-4D97-AF65-F5344CB8AC3E}">
        <p14:creationId xmlns:p14="http://schemas.microsoft.com/office/powerpoint/2010/main" val="2342776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5C921-5C78-1110-B612-5B59D6377B4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FCBD1EA-7BE7-F474-B6A3-554997F3E9ED}"/>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
        <p:nvSpPr>
          <p:cNvPr id="6" name="Title 5">
            <a:extLst>
              <a:ext uri="{FF2B5EF4-FFF2-40B4-BE49-F238E27FC236}">
                <a16:creationId xmlns:a16="http://schemas.microsoft.com/office/drawing/2014/main" id="{FFF1FE7A-91EC-86CE-B4B6-381DAE00F597}"/>
              </a:ext>
            </a:extLst>
          </p:cNvPr>
          <p:cNvSpPr>
            <a:spLocks noGrp="1"/>
          </p:cNvSpPr>
          <p:nvPr>
            <p:ph type="title"/>
          </p:nvPr>
        </p:nvSpPr>
        <p:spPr>
          <a:xfrm>
            <a:off x="419100" y="365125"/>
            <a:ext cx="11353800" cy="1044127"/>
          </a:xfrm>
          <a:solidFill>
            <a:schemeClr val="accent4">
              <a:lumMod val="20000"/>
              <a:lumOff val="80000"/>
            </a:schemeClr>
          </a:solidFill>
        </p:spPr>
        <p:txBody>
          <a:bodyPr>
            <a:normAutofit fontScale="90000"/>
          </a:bodyPr>
          <a:lstStyle/>
          <a:p>
            <a:r>
              <a:rPr lang="en-US" dirty="0"/>
              <a:t>Recall: Values focused vs Alternatives focused thinking:</a:t>
            </a:r>
          </a:p>
        </p:txBody>
      </p:sp>
      <p:sp>
        <p:nvSpPr>
          <p:cNvPr id="2" name="TextBox 1">
            <a:extLst>
              <a:ext uri="{FF2B5EF4-FFF2-40B4-BE49-F238E27FC236}">
                <a16:creationId xmlns:a16="http://schemas.microsoft.com/office/drawing/2014/main" id="{5AEEB287-F29B-BD98-4369-B8C2F3ED9759}"/>
              </a:ext>
            </a:extLst>
          </p:cNvPr>
          <p:cNvSpPr txBox="1"/>
          <p:nvPr/>
        </p:nvSpPr>
        <p:spPr>
          <a:xfrm>
            <a:off x="929950" y="1409252"/>
            <a:ext cx="5088366" cy="4585871"/>
          </a:xfrm>
          <a:prstGeom prst="rect">
            <a:avLst/>
          </a:prstGeom>
          <a:noFill/>
        </p:spPr>
        <p:txBody>
          <a:bodyPr wrap="square" rtlCol="0">
            <a:spAutoFit/>
          </a:bodyPr>
          <a:lstStyle/>
          <a:p>
            <a:pPr marL="285750" indent="-285750">
              <a:buFont typeface="Arial" panose="020B0604020202020204" pitchFamily="34" charset="0"/>
              <a:buChar char="•"/>
            </a:pPr>
            <a:r>
              <a:rPr lang="en-US" sz="2800" dirty="0"/>
              <a:t>“Value-focused thinking involves starting at the best and working to make it a reality. </a:t>
            </a:r>
            <a:r>
              <a:rPr lang="en-US" sz="2800" b="1" dirty="0">
                <a:solidFill>
                  <a:schemeClr val="accent1"/>
                </a:solidFill>
              </a:rPr>
              <a:t>Alternative-focused thinking is starting with what is readily available and taking the best of the lot</a:t>
            </a:r>
            <a:r>
              <a:rPr lang="en-US" sz="2800" dirty="0">
                <a:solidFill>
                  <a:schemeClr val="accent1"/>
                </a:solidFill>
              </a:rPr>
              <a:t>” </a:t>
            </a:r>
            <a:r>
              <a:rPr lang="en-US" sz="2800" dirty="0"/>
              <a:t>– Keeny 1992</a:t>
            </a:r>
          </a:p>
          <a:p>
            <a:pPr marL="742950" lvl="1" indent="-285750">
              <a:buFont typeface="Arial" panose="020B0604020202020204" pitchFamily="34" charset="0"/>
              <a:buChar char="•"/>
            </a:pPr>
            <a:r>
              <a:rPr lang="en-US" sz="2400" dirty="0"/>
              <a:t>In other words: value-focused thinking first decides what you want, then you figure out how to get there</a:t>
            </a:r>
          </a:p>
        </p:txBody>
      </p:sp>
      <p:pic>
        <p:nvPicPr>
          <p:cNvPr id="4" name="Picture 3">
            <a:extLst>
              <a:ext uri="{FF2B5EF4-FFF2-40B4-BE49-F238E27FC236}">
                <a16:creationId xmlns:a16="http://schemas.microsoft.com/office/drawing/2014/main" id="{A4C7DC70-BCEC-EFFE-3DD5-AFE2DA6F7B63}"/>
              </a:ext>
            </a:extLst>
          </p:cNvPr>
          <p:cNvPicPr>
            <a:picLocks noChangeAspect="1"/>
          </p:cNvPicPr>
          <p:nvPr/>
        </p:nvPicPr>
        <p:blipFill>
          <a:blip r:embed="rId3"/>
          <a:stretch>
            <a:fillRect/>
          </a:stretch>
        </p:blipFill>
        <p:spPr>
          <a:xfrm>
            <a:off x="6336254" y="1648991"/>
            <a:ext cx="4825393" cy="3891197"/>
          </a:xfrm>
          <a:prstGeom prst="rect">
            <a:avLst/>
          </a:prstGeom>
        </p:spPr>
      </p:pic>
      <p:sp>
        <p:nvSpPr>
          <p:cNvPr id="7" name="TextBox 6">
            <a:extLst>
              <a:ext uri="{FF2B5EF4-FFF2-40B4-BE49-F238E27FC236}">
                <a16:creationId xmlns:a16="http://schemas.microsoft.com/office/drawing/2014/main" id="{18D8A476-1A39-D536-350B-0525C3E0E110}"/>
              </a:ext>
            </a:extLst>
          </p:cNvPr>
          <p:cNvSpPr txBox="1"/>
          <p:nvPr/>
        </p:nvSpPr>
        <p:spPr>
          <a:xfrm>
            <a:off x="9136226" y="5386299"/>
            <a:ext cx="1707483" cy="307777"/>
          </a:xfrm>
          <a:prstGeom prst="rect">
            <a:avLst/>
          </a:prstGeom>
          <a:noFill/>
        </p:spPr>
        <p:txBody>
          <a:bodyPr wrap="square" rtlCol="0">
            <a:spAutoFit/>
          </a:bodyPr>
          <a:lstStyle/>
          <a:p>
            <a:r>
              <a:rPr lang="en-US" sz="1400" dirty="0"/>
              <a:t>Parnell &amp; West 2008</a:t>
            </a:r>
          </a:p>
        </p:txBody>
      </p:sp>
    </p:spTree>
    <p:extLst>
      <p:ext uri="{BB962C8B-B14F-4D97-AF65-F5344CB8AC3E}">
        <p14:creationId xmlns:p14="http://schemas.microsoft.com/office/powerpoint/2010/main" val="1238645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F48E4-DCD3-DDB0-EB3E-77556E08CCB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7C66E89-2507-E9F9-9309-88BA3EB35ECE}"/>
              </a:ext>
            </a:extLst>
          </p:cNvPr>
          <p:cNvSpPr txBox="1"/>
          <p:nvPr/>
        </p:nvSpPr>
        <p:spPr>
          <a:xfrm>
            <a:off x="0" y="6334780"/>
            <a:ext cx="6538586" cy="523220"/>
          </a:xfrm>
          <a:prstGeom prst="rect">
            <a:avLst/>
          </a:prstGeom>
          <a:noFill/>
        </p:spPr>
        <p:txBody>
          <a:bodyPr wrap="square">
            <a:spAutoFit/>
          </a:bodyPr>
          <a:lstStyle/>
          <a:p>
            <a:r>
              <a:rPr lang="en-US" sz="1400" dirty="0"/>
              <a:t>Developed by Brielle Thompson, Alex McInturff, Jean Fitts Cochrane, Angela Matz, Jennifer A. Szymanski, James E. Lyons, </a:t>
            </a:r>
            <a:r>
              <a:rPr lang="it-IT" sz="1400" dirty="0"/>
              <a:t>Sarah J. Converse, &amp; Michael C. Runge</a:t>
            </a:r>
            <a:r>
              <a:rPr lang="en-US" sz="1400" dirty="0"/>
              <a:t> </a:t>
            </a:r>
          </a:p>
        </p:txBody>
      </p:sp>
      <p:sp>
        <p:nvSpPr>
          <p:cNvPr id="6" name="Title 5">
            <a:extLst>
              <a:ext uri="{FF2B5EF4-FFF2-40B4-BE49-F238E27FC236}">
                <a16:creationId xmlns:a16="http://schemas.microsoft.com/office/drawing/2014/main" id="{EF6E981C-4D21-9408-EC3D-7828399D30C7}"/>
              </a:ext>
            </a:extLst>
          </p:cNvPr>
          <p:cNvSpPr>
            <a:spLocks noGrp="1"/>
          </p:cNvSpPr>
          <p:nvPr>
            <p:ph type="title"/>
          </p:nvPr>
        </p:nvSpPr>
        <p:spPr>
          <a:xfrm>
            <a:off x="419100" y="365125"/>
            <a:ext cx="11353800" cy="1044127"/>
          </a:xfrm>
          <a:solidFill>
            <a:schemeClr val="accent4">
              <a:lumMod val="20000"/>
              <a:lumOff val="80000"/>
            </a:schemeClr>
          </a:solidFill>
        </p:spPr>
        <p:txBody>
          <a:bodyPr>
            <a:normAutofit fontScale="90000"/>
          </a:bodyPr>
          <a:lstStyle/>
          <a:p>
            <a:r>
              <a:rPr lang="en-US" dirty="0"/>
              <a:t>Recall: Values focused vs Alternatives focused thinking:</a:t>
            </a:r>
          </a:p>
        </p:txBody>
      </p:sp>
      <p:sp>
        <p:nvSpPr>
          <p:cNvPr id="2" name="TextBox 1">
            <a:extLst>
              <a:ext uri="{FF2B5EF4-FFF2-40B4-BE49-F238E27FC236}">
                <a16:creationId xmlns:a16="http://schemas.microsoft.com/office/drawing/2014/main" id="{1B69CB12-5CDF-5926-D2ED-FAACDB1D6F02}"/>
              </a:ext>
            </a:extLst>
          </p:cNvPr>
          <p:cNvSpPr txBox="1"/>
          <p:nvPr/>
        </p:nvSpPr>
        <p:spPr>
          <a:xfrm>
            <a:off x="929949" y="1409252"/>
            <a:ext cx="5859157" cy="3424014"/>
          </a:xfrm>
          <a:prstGeom prst="rect">
            <a:avLst/>
          </a:prstGeom>
          <a:noFill/>
        </p:spPr>
        <p:txBody>
          <a:bodyPr wrap="square" rtlCol="0">
            <a:spAutoFit/>
          </a:bodyPr>
          <a:lstStyle/>
          <a:p>
            <a:pPr marL="342900" lvl="0" indent="-342900">
              <a:spcBef>
                <a:spcPts val="560"/>
              </a:spcBef>
              <a:buClr>
                <a:schemeClr val="dk2"/>
              </a:buClr>
              <a:buSzPts val="2800"/>
              <a:buFont typeface="Arial"/>
              <a:buChar char="•"/>
            </a:pPr>
            <a:r>
              <a:rPr lang="en-US" sz="3600" dirty="0">
                <a:ea typeface="Century Gothic"/>
                <a:cs typeface="Arial" panose="020B0604020202020204" pitchFamily="34" charset="0"/>
                <a:sym typeface="Century Gothic"/>
              </a:rPr>
              <a:t>What are the risks of Alternative focused thinking? </a:t>
            </a:r>
            <a:endParaRPr lang="en-US" sz="2400" dirty="0"/>
          </a:p>
          <a:p>
            <a:pPr marL="742950" lvl="1" indent="-285750">
              <a:spcBef>
                <a:spcPts val="480"/>
              </a:spcBef>
              <a:buClr>
                <a:srgbClr val="7F7F7F"/>
              </a:buClr>
              <a:buSzPts val="2400"/>
              <a:buFont typeface="Courier New"/>
              <a:buChar char="o"/>
            </a:pPr>
            <a:r>
              <a:rPr lang="en-US" sz="2400" dirty="0">
                <a:ea typeface="Century Gothic"/>
                <a:cs typeface="Arial" panose="020B0604020202020204" pitchFamily="34" charset="0"/>
                <a:sym typeface="Century Gothic"/>
              </a:rPr>
              <a:t>We tend to limit ourselves to a smaller set of alternatives</a:t>
            </a:r>
            <a:endParaRPr lang="en-US" sz="4000" dirty="0"/>
          </a:p>
          <a:p>
            <a:pPr marL="742950" lvl="1" indent="-285750">
              <a:spcBef>
                <a:spcPts val="480"/>
              </a:spcBef>
              <a:buClr>
                <a:srgbClr val="7F7F7F"/>
              </a:buClr>
              <a:buSzPts val="2400"/>
              <a:buFont typeface="Courier New"/>
              <a:buChar char="o"/>
            </a:pPr>
            <a:r>
              <a:rPr lang="en-US" sz="2400" dirty="0">
                <a:ea typeface="Century Gothic"/>
                <a:cs typeface="Arial" panose="020B0604020202020204" pitchFamily="34" charset="0"/>
                <a:sym typeface="Century Gothic"/>
              </a:rPr>
              <a:t>We may anchor on the first alternative</a:t>
            </a:r>
          </a:p>
          <a:p>
            <a:pPr marL="742950" lvl="1" indent="-285750">
              <a:spcBef>
                <a:spcPts val="480"/>
              </a:spcBef>
              <a:buClr>
                <a:srgbClr val="7F7F7F"/>
              </a:buClr>
              <a:buSzPts val="2400"/>
              <a:buFont typeface="Courier New"/>
              <a:buChar char="o"/>
            </a:pPr>
            <a:r>
              <a:rPr lang="en-US" sz="2400" b="1" dirty="0">
                <a:solidFill>
                  <a:srgbClr val="C00000"/>
                </a:solidFill>
              </a:rPr>
              <a:t>We solve the wrong problem</a:t>
            </a:r>
            <a:r>
              <a:rPr lang="en-US" sz="2400" b="1" dirty="0">
                <a:solidFill>
                  <a:srgbClr val="C00000"/>
                </a:solidFill>
                <a:ea typeface="Century Gothic"/>
                <a:cs typeface="Arial" panose="020B0604020202020204" pitchFamily="34" charset="0"/>
                <a:sym typeface="Century Gothic"/>
              </a:rPr>
              <a:t>  </a:t>
            </a:r>
            <a:endParaRPr lang="en-US" sz="2400" b="1" dirty="0">
              <a:solidFill>
                <a:srgbClr val="C00000"/>
              </a:solidFill>
              <a:cs typeface="Arial" panose="020B0604020202020204" pitchFamily="34" charset="0"/>
              <a:sym typeface="Century Gothic"/>
            </a:endParaRPr>
          </a:p>
        </p:txBody>
      </p:sp>
      <p:pic>
        <p:nvPicPr>
          <p:cNvPr id="4" name="Picture 3">
            <a:extLst>
              <a:ext uri="{FF2B5EF4-FFF2-40B4-BE49-F238E27FC236}">
                <a16:creationId xmlns:a16="http://schemas.microsoft.com/office/drawing/2014/main" id="{4199293A-9227-B3E8-DCFC-4228D33A9219}"/>
              </a:ext>
            </a:extLst>
          </p:cNvPr>
          <p:cNvPicPr>
            <a:picLocks noChangeAspect="1"/>
          </p:cNvPicPr>
          <p:nvPr/>
        </p:nvPicPr>
        <p:blipFill>
          <a:blip r:embed="rId3"/>
          <a:stretch>
            <a:fillRect/>
          </a:stretch>
        </p:blipFill>
        <p:spPr>
          <a:xfrm>
            <a:off x="6336254" y="1648991"/>
            <a:ext cx="4825393" cy="3891197"/>
          </a:xfrm>
          <a:prstGeom prst="rect">
            <a:avLst/>
          </a:prstGeom>
        </p:spPr>
      </p:pic>
      <p:sp>
        <p:nvSpPr>
          <p:cNvPr id="7" name="TextBox 6">
            <a:extLst>
              <a:ext uri="{FF2B5EF4-FFF2-40B4-BE49-F238E27FC236}">
                <a16:creationId xmlns:a16="http://schemas.microsoft.com/office/drawing/2014/main" id="{CA330307-B584-1DC3-A108-583891A8839E}"/>
              </a:ext>
            </a:extLst>
          </p:cNvPr>
          <p:cNvSpPr txBox="1"/>
          <p:nvPr/>
        </p:nvSpPr>
        <p:spPr>
          <a:xfrm>
            <a:off x="9136226" y="5386299"/>
            <a:ext cx="1707483" cy="307777"/>
          </a:xfrm>
          <a:prstGeom prst="rect">
            <a:avLst/>
          </a:prstGeom>
          <a:noFill/>
        </p:spPr>
        <p:txBody>
          <a:bodyPr wrap="square" rtlCol="0">
            <a:spAutoFit/>
          </a:bodyPr>
          <a:lstStyle/>
          <a:p>
            <a:r>
              <a:rPr lang="en-US" sz="1400" dirty="0"/>
              <a:t>Parnell &amp; West 2008</a:t>
            </a:r>
          </a:p>
        </p:txBody>
      </p:sp>
      <p:sp>
        <p:nvSpPr>
          <p:cNvPr id="8" name="TextBox 7">
            <a:extLst>
              <a:ext uri="{FF2B5EF4-FFF2-40B4-BE49-F238E27FC236}">
                <a16:creationId xmlns:a16="http://schemas.microsoft.com/office/drawing/2014/main" id="{6C13EAD8-5CD7-1538-5E4E-CB09104C312C}"/>
              </a:ext>
            </a:extLst>
          </p:cNvPr>
          <p:cNvSpPr txBox="1"/>
          <p:nvPr/>
        </p:nvSpPr>
        <p:spPr>
          <a:xfrm>
            <a:off x="575038" y="5386299"/>
            <a:ext cx="7161202" cy="646331"/>
          </a:xfrm>
          <a:prstGeom prst="rect">
            <a:avLst/>
          </a:prstGeom>
          <a:noFill/>
        </p:spPr>
        <p:txBody>
          <a:bodyPr wrap="square">
            <a:spAutoFit/>
          </a:bodyPr>
          <a:lstStyle/>
          <a:p>
            <a:r>
              <a:rPr lang="en-US" sz="3600" b="1" dirty="0"/>
              <a:t>Values are pieces of an objective</a:t>
            </a:r>
          </a:p>
        </p:txBody>
      </p:sp>
    </p:spTree>
    <p:extLst>
      <p:ext uri="{BB962C8B-B14F-4D97-AF65-F5344CB8AC3E}">
        <p14:creationId xmlns:p14="http://schemas.microsoft.com/office/powerpoint/2010/main" val="2340138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E7182-5B2E-CB12-B9ED-AD0DCDD74C3C}"/>
              </a:ext>
            </a:extLst>
          </p:cNvPr>
          <p:cNvSpPr>
            <a:spLocks noGrp="1"/>
          </p:cNvSpPr>
          <p:nvPr>
            <p:ph type="title"/>
          </p:nvPr>
        </p:nvSpPr>
        <p:spPr/>
        <p:txBody>
          <a:bodyPr/>
          <a:lstStyle/>
          <a:p>
            <a:r>
              <a:rPr lang="en-US" dirty="0"/>
              <a:t>Management Objectives vs Research Objectives</a:t>
            </a:r>
          </a:p>
        </p:txBody>
      </p:sp>
      <p:sp>
        <p:nvSpPr>
          <p:cNvPr id="3" name="Content Placeholder 2">
            <a:extLst>
              <a:ext uri="{FF2B5EF4-FFF2-40B4-BE49-F238E27FC236}">
                <a16:creationId xmlns:a16="http://schemas.microsoft.com/office/drawing/2014/main" id="{536F1B1B-CCA7-3A54-0573-A47067789982}"/>
              </a:ext>
            </a:extLst>
          </p:cNvPr>
          <p:cNvSpPr>
            <a:spLocks noGrp="1"/>
          </p:cNvSpPr>
          <p:nvPr>
            <p:ph idx="1"/>
          </p:nvPr>
        </p:nvSpPr>
        <p:spPr/>
        <p:txBody>
          <a:bodyPr>
            <a:normAutofit/>
          </a:bodyPr>
          <a:lstStyle/>
          <a:p>
            <a:r>
              <a:rPr lang="en-US" sz="3200" b="1" u="sng" dirty="0"/>
              <a:t>Research objectives</a:t>
            </a:r>
            <a:r>
              <a:rPr lang="en-US" sz="3200" b="1" dirty="0"/>
              <a:t>  </a:t>
            </a:r>
            <a:r>
              <a:rPr lang="en-US" sz="3200" dirty="0"/>
              <a:t>= “active statement[s] about how the study [or analysis] is going to answer the specific research question[s]” (Farrugia et al., 2010)</a:t>
            </a:r>
          </a:p>
          <a:p>
            <a:pPr marL="0" indent="0">
              <a:buNone/>
            </a:pPr>
            <a:endParaRPr lang="en-US" sz="3200" dirty="0"/>
          </a:p>
          <a:p>
            <a:r>
              <a:rPr lang="en-US" sz="3200" b="1" u="sng" dirty="0"/>
              <a:t>Management objectives</a:t>
            </a:r>
            <a:r>
              <a:rPr lang="en-US" sz="3200" b="1" dirty="0"/>
              <a:t>  </a:t>
            </a:r>
            <a:r>
              <a:rPr lang="en-US" sz="3200" dirty="0"/>
              <a:t>= “statements of the fundamental interests that could be affected by a decision—the ‘things that matter’ to people” or the things that have intrinsic social and cultural value (Gregory et al., 2012)</a:t>
            </a:r>
          </a:p>
        </p:txBody>
      </p:sp>
      <p:sp>
        <p:nvSpPr>
          <p:cNvPr id="4" name="TextBox 3">
            <a:extLst>
              <a:ext uri="{FF2B5EF4-FFF2-40B4-BE49-F238E27FC236}">
                <a16:creationId xmlns:a16="http://schemas.microsoft.com/office/drawing/2014/main" id="{AF342606-5283-4735-BCB9-C89B56AD8B56}"/>
              </a:ext>
            </a:extLst>
          </p:cNvPr>
          <p:cNvSpPr txBox="1"/>
          <p:nvPr/>
        </p:nvSpPr>
        <p:spPr>
          <a:xfrm>
            <a:off x="0" y="6492875"/>
            <a:ext cx="6538586" cy="307777"/>
          </a:xfrm>
          <a:prstGeom prst="rect">
            <a:avLst/>
          </a:prstGeom>
          <a:noFill/>
        </p:spPr>
        <p:txBody>
          <a:bodyPr wrap="square">
            <a:spAutoFit/>
          </a:bodyPr>
          <a:lstStyle/>
          <a:p>
            <a:r>
              <a:rPr lang="en-US" sz="1400" dirty="0"/>
              <a:t>Developed by Brielle Thompson, see Aldridge and Colvin 2024</a:t>
            </a:r>
          </a:p>
        </p:txBody>
      </p:sp>
    </p:spTree>
    <p:extLst>
      <p:ext uri="{BB962C8B-B14F-4D97-AF65-F5344CB8AC3E}">
        <p14:creationId xmlns:p14="http://schemas.microsoft.com/office/powerpoint/2010/main" val="37638131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58E6E-3886-145B-C746-06A0223ABC1B}"/>
              </a:ext>
            </a:extLst>
          </p:cNvPr>
          <p:cNvSpPr>
            <a:spLocks noGrp="1"/>
          </p:cNvSpPr>
          <p:nvPr>
            <p:ph type="title"/>
          </p:nvPr>
        </p:nvSpPr>
        <p:spPr/>
        <p:txBody>
          <a:bodyPr/>
          <a:lstStyle/>
          <a:p>
            <a:r>
              <a:rPr lang="en-US" dirty="0"/>
              <a:t>Management objectives ≠ Alternatives</a:t>
            </a:r>
          </a:p>
        </p:txBody>
      </p:sp>
      <p:sp>
        <p:nvSpPr>
          <p:cNvPr id="3" name="Content Placeholder 2">
            <a:extLst>
              <a:ext uri="{FF2B5EF4-FFF2-40B4-BE49-F238E27FC236}">
                <a16:creationId xmlns:a16="http://schemas.microsoft.com/office/drawing/2014/main" id="{C54BE161-5499-BC2D-B20E-D58ED0CF99B4}"/>
              </a:ext>
            </a:extLst>
          </p:cNvPr>
          <p:cNvSpPr>
            <a:spLocks noGrp="1"/>
          </p:cNvSpPr>
          <p:nvPr>
            <p:ph idx="1"/>
          </p:nvPr>
        </p:nvSpPr>
        <p:spPr/>
        <p:txBody>
          <a:bodyPr/>
          <a:lstStyle/>
          <a:p>
            <a:r>
              <a:rPr lang="en-US" dirty="0"/>
              <a:t>Management actions and monitoring activities are often conflated with management objectives. For example, statements such as “better understand habitat effects on bobwhite quail reproduction” (research), “monitor water quality” (monitoring), or “develop crappie length limit recommendations” (management action) are not management objectives but describe activities that serve as means of achieving various ends (i.e. management objectives).</a:t>
            </a:r>
          </a:p>
        </p:txBody>
      </p:sp>
    </p:spTree>
    <p:extLst>
      <p:ext uri="{BB962C8B-B14F-4D97-AF65-F5344CB8AC3E}">
        <p14:creationId xmlns:p14="http://schemas.microsoft.com/office/powerpoint/2010/main" val="1017658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CEA7-D40E-1C9E-E81C-DC23DD5884A0}"/>
              </a:ext>
            </a:extLst>
          </p:cNvPr>
          <p:cNvSpPr>
            <a:spLocks noGrp="1"/>
          </p:cNvSpPr>
          <p:nvPr>
            <p:ph type="title"/>
          </p:nvPr>
        </p:nvSpPr>
        <p:spPr>
          <a:xfrm>
            <a:off x="344424" y="300990"/>
            <a:ext cx="11503152" cy="1325563"/>
          </a:xfrm>
        </p:spPr>
        <p:txBody>
          <a:bodyPr/>
          <a:lstStyle/>
          <a:p>
            <a:r>
              <a:rPr lang="en-US" dirty="0"/>
              <a:t>What are objectives, and why are they important? </a:t>
            </a:r>
          </a:p>
        </p:txBody>
      </p:sp>
      <p:sp>
        <p:nvSpPr>
          <p:cNvPr id="3" name="Content Placeholder 2">
            <a:extLst>
              <a:ext uri="{FF2B5EF4-FFF2-40B4-BE49-F238E27FC236}">
                <a16:creationId xmlns:a16="http://schemas.microsoft.com/office/drawing/2014/main" id="{A41088DE-BC8B-5541-8FA1-0906461E1896}"/>
              </a:ext>
            </a:extLst>
          </p:cNvPr>
          <p:cNvSpPr>
            <a:spLocks noGrp="1"/>
          </p:cNvSpPr>
          <p:nvPr>
            <p:ph idx="1"/>
          </p:nvPr>
        </p:nvSpPr>
        <p:spPr>
          <a:xfrm>
            <a:off x="755904" y="1405001"/>
            <a:ext cx="10515600" cy="1091311"/>
          </a:xfrm>
        </p:spPr>
        <p:txBody>
          <a:bodyPr>
            <a:normAutofit fontScale="92500" lnSpcReduction="20000"/>
          </a:bodyPr>
          <a:lstStyle/>
          <a:p>
            <a:r>
              <a:rPr lang="en-US" dirty="0"/>
              <a:t>We make decisions to achieve something</a:t>
            </a:r>
          </a:p>
          <a:p>
            <a:r>
              <a:rPr lang="en-US" dirty="0"/>
              <a:t>Objectives are what we want to achieve</a:t>
            </a:r>
          </a:p>
          <a:p>
            <a:pPr lvl="1"/>
            <a:r>
              <a:rPr lang="en-US" dirty="0"/>
              <a:t>Concise statements on what matters</a:t>
            </a:r>
          </a:p>
          <a:p>
            <a:endParaRPr lang="en-US" dirty="0"/>
          </a:p>
        </p:txBody>
      </p:sp>
      <p:sp>
        <p:nvSpPr>
          <p:cNvPr id="9" name="TextBox 8">
            <a:extLst>
              <a:ext uri="{FF2B5EF4-FFF2-40B4-BE49-F238E27FC236}">
                <a16:creationId xmlns:a16="http://schemas.microsoft.com/office/drawing/2014/main" id="{51A960E6-B5EE-1B54-0CF7-E11EA28949B1}"/>
              </a:ext>
            </a:extLst>
          </p:cNvPr>
          <p:cNvSpPr txBox="1"/>
          <p:nvPr/>
        </p:nvSpPr>
        <p:spPr>
          <a:xfrm>
            <a:off x="734407" y="2598003"/>
            <a:ext cx="6472428" cy="830997"/>
          </a:xfrm>
          <a:prstGeom prst="rect">
            <a:avLst/>
          </a:prstGeom>
          <a:noFill/>
        </p:spPr>
        <p:txBody>
          <a:bodyPr wrap="square" rtlCol="0">
            <a:spAutoFit/>
          </a:bodyPr>
          <a:lstStyle/>
          <a:p>
            <a:r>
              <a:rPr lang="en-US" sz="2400" dirty="0"/>
              <a:t>Example: I am deciding where to go on vacation. </a:t>
            </a:r>
          </a:p>
          <a:p>
            <a:r>
              <a:rPr lang="en-US" sz="2400" dirty="0"/>
              <a:t>What objectives are in play for me?</a:t>
            </a:r>
          </a:p>
        </p:txBody>
      </p:sp>
      <p:sp>
        <p:nvSpPr>
          <p:cNvPr id="10" name="TextBox 9">
            <a:extLst>
              <a:ext uri="{FF2B5EF4-FFF2-40B4-BE49-F238E27FC236}">
                <a16:creationId xmlns:a16="http://schemas.microsoft.com/office/drawing/2014/main" id="{00CDF91E-E5E9-D2F3-9C6C-96DDCF3C781A}"/>
              </a:ext>
            </a:extLst>
          </p:cNvPr>
          <p:cNvSpPr txBox="1"/>
          <p:nvPr/>
        </p:nvSpPr>
        <p:spPr>
          <a:xfrm>
            <a:off x="1863691" y="3429000"/>
            <a:ext cx="3384965" cy="3046988"/>
          </a:xfrm>
          <a:prstGeom prst="rect">
            <a:avLst/>
          </a:prstGeom>
          <a:noFill/>
        </p:spPr>
        <p:txBody>
          <a:bodyPr wrap="square" rtlCol="0">
            <a:spAutoFit/>
          </a:bodyPr>
          <a:lstStyle/>
          <a:p>
            <a:r>
              <a:rPr lang="en-US" sz="2400" dirty="0"/>
              <a:t>I want to maximize:</a:t>
            </a:r>
          </a:p>
          <a:p>
            <a:pPr marL="342900" indent="-342900">
              <a:buFontTx/>
              <a:buChar char="-"/>
            </a:pPr>
            <a:r>
              <a:rPr lang="en-US" sz="2400" dirty="0"/>
              <a:t>Relaxation</a:t>
            </a:r>
          </a:p>
          <a:p>
            <a:pPr marL="342900" indent="-342900">
              <a:buFontTx/>
              <a:buChar char="-"/>
            </a:pPr>
            <a:r>
              <a:rPr lang="en-US" sz="2400" dirty="0"/>
              <a:t>Fun</a:t>
            </a:r>
          </a:p>
          <a:p>
            <a:pPr marL="342900" indent="-342900">
              <a:buFontTx/>
              <a:buChar char="-"/>
            </a:pPr>
            <a:r>
              <a:rPr lang="en-US" sz="2400" dirty="0"/>
              <a:t>Comfort</a:t>
            </a:r>
          </a:p>
          <a:p>
            <a:pPr marL="342900" indent="-342900">
              <a:buFontTx/>
              <a:buChar char="-"/>
            </a:pPr>
            <a:endParaRPr lang="en-US" sz="2400" dirty="0"/>
          </a:p>
          <a:p>
            <a:r>
              <a:rPr lang="en-US" sz="2400" dirty="0"/>
              <a:t>I want to minimize:</a:t>
            </a:r>
          </a:p>
          <a:p>
            <a:pPr marL="342900" indent="-342900">
              <a:buFontTx/>
              <a:buChar char="-"/>
            </a:pPr>
            <a:r>
              <a:rPr lang="en-US" sz="2400" dirty="0"/>
              <a:t>Cost </a:t>
            </a:r>
          </a:p>
          <a:p>
            <a:pPr marL="342900" indent="-342900">
              <a:buFontTx/>
              <a:buChar char="-"/>
            </a:pPr>
            <a:r>
              <a:rPr lang="en-US" sz="2400" dirty="0"/>
              <a:t>Travel time</a:t>
            </a:r>
          </a:p>
        </p:txBody>
      </p:sp>
      <p:pic>
        <p:nvPicPr>
          <p:cNvPr id="11" name="Picture 10">
            <a:extLst>
              <a:ext uri="{FF2B5EF4-FFF2-40B4-BE49-F238E27FC236}">
                <a16:creationId xmlns:a16="http://schemas.microsoft.com/office/drawing/2014/main" id="{DE2C1F93-3933-2449-5A65-619824F3F418}"/>
              </a:ext>
            </a:extLst>
          </p:cNvPr>
          <p:cNvPicPr>
            <a:picLocks noChangeAspect="1"/>
          </p:cNvPicPr>
          <p:nvPr/>
        </p:nvPicPr>
        <p:blipFill>
          <a:blip r:embed="rId2"/>
          <a:srcRect b="49750"/>
          <a:stretch/>
        </p:blipFill>
        <p:spPr>
          <a:xfrm>
            <a:off x="7667513" y="2112264"/>
            <a:ext cx="3961300" cy="1837944"/>
          </a:xfrm>
          <a:prstGeom prst="rect">
            <a:avLst/>
          </a:prstGeom>
        </p:spPr>
      </p:pic>
      <p:sp>
        <p:nvSpPr>
          <p:cNvPr id="13" name="TextBox 12">
            <a:extLst>
              <a:ext uri="{FF2B5EF4-FFF2-40B4-BE49-F238E27FC236}">
                <a16:creationId xmlns:a16="http://schemas.microsoft.com/office/drawing/2014/main" id="{F616E51B-3223-0CD1-F714-7CCC7C7C1BB4}"/>
              </a:ext>
            </a:extLst>
          </p:cNvPr>
          <p:cNvSpPr txBox="1"/>
          <p:nvPr/>
        </p:nvSpPr>
        <p:spPr>
          <a:xfrm>
            <a:off x="10829051" y="3823250"/>
            <a:ext cx="719821" cy="253916"/>
          </a:xfrm>
          <a:prstGeom prst="rect">
            <a:avLst/>
          </a:prstGeom>
          <a:noFill/>
        </p:spPr>
        <p:txBody>
          <a:bodyPr wrap="square">
            <a:spAutoFit/>
          </a:bodyPr>
          <a:lstStyle/>
          <a:p>
            <a:r>
              <a:rPr lang="en-US" sz="1050" dirty="0"/>
              <a:t>Medium</a:t>
            </a:r>
          </a:p>
        </p:txBody>
      </p:sp>
      <p:pic>
        <p:nvPicPr>
          <p:cNvPr id="5" name="Graphic 4" descr="Vacation with solid fill">
            <a:extLst>
              <a:ext uri="{FF2B5EF4-FFF2-40B4-BE49-F238E27FC236}">
                <a16:creationId xmlns:a16="http://schemas.microsoft.com/office/drawing/2014/main" id="{8DB0FB56-77BB-35EA-984D-51C9E235ED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20106" y="3658896"/>
            <a:ext cx="2587195" cy="2587195"/>
          </a:xfrm>
          <a:prstGeom prst="rect">
            <a:avLst/>
          </a:prstGeom>
        </p:spPr>
      </p:pic>
      <p:sp>
        <p:nvSpPr>
          <p:cNvPr id="4" name="TextBox 3">
            <a:extLst>
              <a:ext uri="{FF2B5EF4-FFF2-40B4-BE49-F238E27FC236}">
                <a16:creationId xmlns:a16="http://schemas.microsoft.com/office/drawing/2014/main" id="{9ADB5427-D0B0-4731-E15E-7C04A74A9EC5}"/>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Tree>
    <p:extLst>
      <p:ext uri="{BB962C8B-B14F-4D97-AF65-F5344CB8AC3E}">
        <p14:creationId xmlns:p14="http://schemas.microsoft.com/office/powerpoint/2010/main" val="201371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E3086-CAD7-5E7D-9E9B-61A4DFF803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AAAB99-EAF3-B9DE-F33B-0F669B396843}"/>
              </a:ext>
            </a:extLst>
          </p:cNvPr>
          <p:cNvSpPr>
            <a:spLocks noGrp="1"/>
          </p:cNvSpPr>
          <p:nvPr>
            <p:ph type="title"/>
          </p:nvPr>
        </p:nvSpPr>
        <p:spPr>
          <a:xfrm>
            <a:off x="344424" y="300990"/>
            <a:ext cx="11503152" cy="1325563"/>
          </a:xfrm>
        </p:spPr>
        <p:txBody>
          <a:bodyPr/>
          <a:lstStyle/>
          <a:p>
            <a:r>
              <a:rPr lang="en-US" dirty="0"/>
              <a:t>What are objectives, and why are they important? </a:t>
            </a:r>
          </a:p>
        </p:txBody>
      </p:sp>
      <p:sp>
        <p:nvSpPr>
          <p:cNvPr id="3" name="Content Placeholder 2">
            <a:extLst>
              <a:ext uri="{FF2B5EF4-FFF2-40B4-BE49-F238E27FC236}">
                <a16:creationId xmlns:a16="http://schemas.microsoft.com/office/drawing/2014/main" id="{00144930-9806-BD67-616C-33B9FD65FA7D}"/>
              </a:ext>
            </a:extLst>
          </p:cNvPr>
          <p:cNvSpPr>
            <a:spLocks noGrp="1"/>
          </p:cNvSpPr>
          <p:nvPr>
            <p:ph idx="1"/>
          </p:nvPr>
        </p:nvSpPr>
        <p:spPr>
          <a:xfrm>
            <a:off x="1122219" y="1660066"/>
            <a:ext cx="6351331" cy="4580283"/>
          </a:xfrm>
        </p:spPr>
        <p:txBody>
          <a:bodyPr>
            <a:noAutofit/>
          </a:bodyPr>
          <a:lstStyle/>
          <a:p>
            <a:r>
              <a:rPr lang="en-US" sz="3600" dirty="0"/>
              <a:t>Spending time on this step is important because we will:</a:t>
            </a:r>
          </a:p>
          <a:p>
            <a:pPr lvl="1"/>
            <a:r>
              <a:rPr lang="en-US" sz="3200" dirty="0"/>
              <a:t>Compare alternatives on the right criteria </a:t>
            </a:r>
          </a:p>
          <a:p>
            <a:pPr lvl="1"/>
            <a:r>
              <a:rPr lang="en-US" sz="3200" dirty="0"/>
              <a:t>Develop creative alternatives</a:t>
            </a:r>
          </a:p>
          <a:p>
            <a:pPr lvl="1"/>
            <a:r>
              <a:rPr lang="en-US" sz="3200" dirty="0"/>
              <a:t>Know what we want to make predictions about </a:t>
            </a:r>
          </a:p>
          <a:p>
            <a:pPr lvl="1"/>
            <a:r>
              <a:rPr lang="en-US" sz="3200" dirty="0"/>
              <a:t>Better explain our decisions</a:t>
            </a:r>
          </a:p>
        </p:txBody>
      </p:sp>
      <p:pic>
        <p:nvPicPr>
          <p:cNvPr id="4" name="Picture 3">
            <a:extLst>
              <a:ext uri="{FF2B5EF4-FFF2-40B4-BE49-F238E27FC236}">
                <a16:creationId xmlns:a16="http://schemas.microsoft.com/office/drawing/2014/main" id="{8C5E4636-74BC-D4EF-AD97-4D34870BE74A}"/>
              </a:ext>
            </a:extLst>
          </p:cNvPr>
          <p:cNvPicPr>
            <a:picLocks noChangeAspect="1"/>
          </p:cNvPicPr>
          <p:nvPr/>
        </p:nvPicPr>
        <p:blipFill>
          <a:blip r:embed="rId2"/>
          <a:srcRect b="49750"/>
          <a:stretch/>
        </p:blipFill>
        <p:spPr>
          <a:xfrm>
            <a:off x="7667513" y="2112264"/>
            <a:ext cx="3961300" cy="1837944"/>
          </a:xfrm>
          <a:prstGeom prst="rect">
            <a:avLst/>
          </a:prstGeom>
        </p:spPr>
      </p:pic>
      <p:sp>
        <p:nvSpPr>
          <p:cNvPr id="5" name="TextBox 4">
            <a:extLst>
              <a:ext uri="{FF2B5EF4-FFF2-40B4-BE49-F238E27FC236}">
                <a16:creationId xmlns:a16="http://schemas.microsoft.com/office/drawing/2014/main" id="{54731540-A18E-5EBC-2DDA-36759EAD870D}"/>
              </a:ext>
            </a:extLst>
          </p:cNvPr>
          <p:cNvSpPr txBox="1"/>
          <p:nvPr/>
        </p:nvSpPr>
        <p:spPr>
          <a:xfrm>
            <a:off x="10829051" y="3823250"/>
            <a:ext cx="719821" cy="253916"/>
          </a:xfrm>
          <a:prstGeom prst="rect">
            <a:avLst/>
          </a:prstGeom>
          <a:noFill/>
        </p:spPr>
        <p:txBody>
          <a:bodyPr wrap="square">
            <a:spAutoFit/>
          </a:bodyPr>
          <a:lstStyle/>
          <a:p>
            <a:r>
              <a:rPr lang="en-US" sz="1050" dirty="0"/>
              <a:t>Medium</a:t>
            </a:r>
          </a:p>
        </p:txBody>
      </p:sp>
      <p:sp>
        <p:nvSpPr>
          <p:cNvPr id="6" name="TextBox 5">
            <a:extLst>
              <a:ext uri="{FF2B5EF4-FFF2-40B4-BE49-F238E27FC236}">
                <a16:creationId xmlns:a16="http://schemas.microsoft.com/office/drawing/2014/main" id="{08DC43FC-E3B7-D429-59B8-90943CC90BCE}"/>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TextBox 7">
            <a:extLst>
              <a:ext uri="{FF2B5EF4-FFF2-40B4-BE49-F238E27FC236}">
                <a16:creationId xmlns:a16="http://schemas.microsoft.com/office/drawing/2014/main" id="{09A6E814-A3F2-23D0-3597-B69C234A5022}"/>
              </a:ext>
            </a:extLst>
          </p:cNvPr>
          <p:cNvSpPr txBox="1"/>
          <p:nvPr/>
        </p:nvSpPr>
        <p:spPr>
          <a:xfrm>
            <a:off x="850664" y="5702789"/>
            <a:ext cx="6894439" cy="707886"/>
          </a:xfrm>
          <a:prstGeom prst="rect">
            <a:avLst/>
          </a:prstGeom>
          <a:noFill/>
        </p:spPr>
        <p:txBody>
          <a:bodyPr wrap="square">
            <a:spAutoFit/>
          </a:bodyPr>
          <a:lstStyle/>
          <a:p>
            <a:r>
              <a:rPr lang="en-US" sz="2000" b="1" dirty="0">
                <a:solidFill>
                  <a:schemeClr val="accent1">
                    <a:lumMod val="75000"/>
                  </a:schemeClr>
                </a:solidFill>
              </a:rPr>
              <a:t>Yogi Berra is reported to have said, </a:t>
            </a:r>
            <a:r>
              <a:rPr lang="en-US" sz="2000" b="1" i="1" dirty="0">
                <a:solidFill>
                  <a:schemeClr val="accent1">
                    <a:lumMod val="75000"/>
                  </a:schemeClr>
                </a:solidFill>
              </a:rPr>
              <a:t>“If you don’t know where you’re going, chances are you will end up somewhere else”</a:t>
            </a:r>
          </a:p>
        </p:txBody>
      </p:sp>
    </p:spTree>
    <p:extLst>
      <p:ext uri="{BB962C8B-B14F-4D97-AF65-F5344CB8AC3E}">
        <p14:creationId xmlns:p14="http://schemas.microsoft.com/office/powerpoint/2010/main" val="12797394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4C230-CD9D-8658-71CD-D94A4979C3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4CE6DD-E2B2-5502-3375-58A802DCF927}"/>
              </a:ext>
            </a:extLst>
          </p:cNvPr>
          <p:cNvSpPr>
            <a:spLocks noGrp="1"/>
          </p:cNvSpPr>
          <p:nvPr>
            <p:ph type="title"/>
          </p:nvPr>
        </p:nvSpPr>
        <p:spPr>
          <a:xfrm>
            <a:off x="344424" y="300990"/>
            <a:ext cx="11503152" cy="1325563"/>
          </a:xfrm>
        </p:spPr>
        <p:txBody>
          <a:bodyPr/>
          <a:lstStyle/>
          <a:p>
            <a:r>
              <a:rPr lang="en-US" dirty="0"/>
              <a:t>What are objectives, and why are they important? </a:t>
            </a:r>
          </a:p>
        </p:txBody>
      </p:sp>
      <p:sp>
        <p:nvSpPr>
          <p:cNvPr id="3" name="Content Placeholder 2">
            <a:extLst>
              <a:ext uri="{FF2B5EF4-FFF2-40B4-BE49-F238E27FC236}">
                <a16:creationId xmlns:a16="http://schemas.microsoft.com/office/drawing/2014/main" id="{E95AD98E-0640-C7B4-F226-B7EB31E5CB04}"/>
              </a:ext>
            </a:extLst>
          </p:cNvPr>
          <p:cNvSpPr>
            <a:spLocks noGrp="1"/>
          </p:cNvSpPr>
          <p:nvPr>
            <p:ph idx="1"/>
          </p:nvPr>
        </p:nvSpPr>
        <p:spPr>
          <a:xfrm>
            <a:off x="1122219" y="1660066"/>
            <a:ext cx="6351331" cy="4580283"/>
          </a:xfrm>
        </p:spPr>
        <p:txBody>
          <a:bodyPr>
            <a:noAutofit/>
          </a:bodyPr>
          <a:lstStyle/>
          <a:p>
            <a:r>
              <a:rPr lang="en-US" sz="3600" dirty="0"/>
              <a:t>Spending time on this step is important because we will:</a:t>
            </a:r>
          </a:p>
          <a:p>
            <a:pPr lvl="1"/>
            <a:r>
              <a:rPr lang="en-US" sz="3200" dirty="0"/>
              <a:t>Compare alternatives on the right criteria </a:t>
            </a:r>
          </a:p>
          <a:p>
            <a:pPr lvl="1"/>
            <a:r>
              <a:rPr lang="en-US" sz="3200" dirty="0"/>
              <a:t>Develop creative alternatives</a:t>
            </a:r>
          </a:p>
          <a:p>
            <a:pPr lvl="1"/>
            <a:r>
              <a:rPr lang="en-US" sz="3200" dirty="0"/>
              <a:t>Know what we want to make predictions about </a:t>
            </a:r>
          </a:p>
          <a:p>
            <a:pPr lvl="1"/>
            <a:r>
              <a:rPr lang="en-US" sz="3200" dirty="0"/>
              <a:t>Better explain our decisions</a:t>
            </a:r>
          </a:p>
        </p:txBody>
      </p:sp>
      <p:pic>
        <p:nvPicPr>
          <p:cNvPr id="4" name="Picture 3">
            <a:extLst>
              <a:ext uri="{FF2B5EF4-FFF2-40B4-BE49-F238E27FC236}">
                <a16:creationId xmlns:a16="http://schemas.microsoft.com/office/drawing/2014/main" id="{E93B6C00-05BA-6167-7C9E-5FB52BCDBFC8}"/>
              </a:ext>
            </a:extLst>
          </p:cNvPr>
          <p:cNvPicPr>
            <a:picLocks noChangeAspect="1"/>
          </p:cNvPicPr>
          <p:nvPr/>
        </p:nvPicPr>
        <p:blipFill>
          <a:blip r:embed="rId2"/>
          <a:srcRect b="49750"/>
          <a:stretch/>
        </p:blipFill>
        <p:spPr>
          <a:xfrm>
            <a:off x="7667513" y="2112264"/>
            <a:ext cx="3961300" cy="1837944"/>
          </a:xfrm>
          <a:prstGeom prst="rect">
            <a:avLst/>
          </a:prstGeom>
        </p:spPr>
      </p:pic>
      <p:sp>
        <p:nvSpPr>
          <p:cNvPr id="5" name="TextBox 4">
            <a:extLst>
              <a:ext uri="{FF2B5EF4-FFF2-40B4-BE49-F238E27FC236}">
                <a16:creationId xmlns:a16="http://schemas.microsoft.com/office/drawing/2014/main" id="{417C7D37-C62B-2645-4B52-4537CABDCCE0}"/>
              </a:ext>
            </a:extLst>
          </p:cNvPr>
          <p:cNvSpPr txBox="1"/>
          <p:nvPr/>
        </p:nvSpPr>
        <p:spPr>
          <a:xfrm>
            <a:off x="10829051" y="3823250"/>
            <a:ext cx="719821" cy="253916"/>
          </a:xfrm>
          <a:prstGeom prst="rect">
            <a:avLst/>
          </a:prstGeom>
          <a:noFill/>
        </p:spPr>
        <p:txBody>
          <a:bodyPr wrap="square">
            <a:spAutoFit/>
          </a:bodyPr>
          <a:lstStyle/>
          <a:p>
            <a:r>
              <a:rPr lang="en-US" sz="1050" dirty="0"/>
              <a:t>Medium</a:t>
            </a:r>
          </a:p>
        </p:txBody>
      </p:sp>
      <p:sp>
        <p:nvSpPr>
          <p:cNvPr id="6" name="TextBox 5">
            <a:extLst>
              <a:ext uri="{FF2B5EF4-FFF2-40B4-BE49-F238E27FC236}">
                <a16:creationId xmlns:a16="http://schemas.microsoft.com/office/drawing/2014/main" id="{5EE417C0-AA9B-E145-5BA3-1C9A328D6BDF}"/>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TextBox 7">
            <a:extLst>
              <a:ext uri="{FF2B5EF4-FFF2-40B4-BE49-F238E27FC236}">
                <a16:creationId xmlns:a16="http://schemas.microsoft.com/office/drawing/2014/main" id="{0FC34686-3E49-E96F-D7D9-6E677071460E}"/>
              </a:ext>
            </a:extLst>
          </p:cNvPr>
          <p:cNvSpPr txBox="1"/>
          <p:nvPr/>
        </p:nvSpPr>
        <p:spPr>
          <a:xfrm>
            <a:off x="850664" y="5702789"/>
            <a:ext cx="6894439" cy="707886"/>
          </a:xfrm>
          <a:prstGeom prst="rect">
            <a:avLst/>
          </a:prstGeom>
          <a:noFill/>
        </p:spPr>
        <p:txBody>
          <a:bodyPr wrap="square">
            <a:spAutoFit/>
          </a:bodyPr>
          <a:lstStyle/>
          <a:p>
            <a:r>
              <a:rPr lang="en-US" sz="2000" b="1" dirty="0">
                <a:solidFill>
                  <a:schemeClr val="accent1">
                    <a:lumMod val="75000"/>
                  </a:schemeClr>
                </a:solidFill>
              </a:rPr>
              <a:t>Yogi Berra is reported to have said, </a:t>
            </a:r>
            <a:r>
              <a:rPr lang="en-US" sz="2000" b="1" i="1" dirty="0">
                <a:solidFill>
                  <a:schemeClr val="accent1">
                    <a:lumMod val="75000"/>
                  </a:schemeClr>
                </a:solidFill>
              </a:rPr>
              <a:t>“If you don’t know where you’re going, chances are you will end up somewhere else”</a:t>
            </a:r>
          </a:p>
        </p:txBody>
      </p:sp>
    </p:spTree>
    <p:extLst>
      <p:ext uri="{BB962C8B-B14F-4D97-AF65-F5344CB8AC3E}">
        <p14:creationId xmlns:p14="http://schemas.microsoft.com/office/powerpoint/2010/main" val="645106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5DEBD9-1BE4-F20D-1A96-7D1E8243994A}"/>
              </a:ext>
            </a:extLst>
          </p:cNvPr>
          <p:cNvSpPr>
            <a:spLocks noGrp="1"/>
          </p:cNvSpPr>
          <p:nvPr>
            <p:ph idx="1"/>
          </p:nvPr>
        </p:nvSpPr>
        <p:spPr>
          <a:xfrm>
            <a:off x="130633" y="1806965"/>
            <a:ext cx="7667512" cy="4723794"/>
          </a:xfrm>
        </p:spPr>
        <p:txBody>
          <a:bodyPr>
            <a:normAutofit fontScale="92500" lnSpcReduction="20000"/>
          </a:bodyPr>
          <a:lstStyle/>
          <a:p>
            <a:pPr marL="457200" lvl="1" indent="0">
              <a:lnSpc>
                <a:spcPct val="120000"/>
              </a:lnSpc>
              <a:spcBef>
                <a:spcPts val="0"/>
              </a:spcBef>
              <a:buNone/>
            </a:pPr>
            <a:r>
              <a:rPr lang="en-US" sz="3500" dirty="0"/>
              <a:t>1) We often don’t know all our objectives:</a:t>
            </a:r>
          </a:p>
          <a:p>
            <a:pPr lvl="2">
              <a:lnSpc>
                <a:spcPct val="120000"/>
              </a:lnSpc>
              <a:spcBef>
                <a:spcPts val="0"/>
              </a:spcBef>
            </a:pPr>
            <a:r>
              <a:rPr lang="en-US" sz="3500" dirty="0"/>
              <a:t>Bond et al. (2008) asked MBA students to imagine choosing an MBA program, list their objectives, then check against a master list </a:t>
            </a:r>
          </a:p>
          <a:p>
            <a:pPr lvl="2">
              <a:lnSpc>
                <a:spcPct val="120000"/>
              </a:lnSpc>
              <a:spcBef>
                <a:spcPts val="0"/>
              </a:spcBef>
            </a:pPr>
            <a:endParaRPr lang="en-US" sz="4100" dirty="0"/>
          </a:p>
          <a:p>
            <a:pPr lvl="3">
              <a:lnSpc>
                <a:spcPct val="120000"/>
              </a:lnSpc>
              <a:spcBef>
                <a:spcPts val="0"/>
              </a:spcBef>
            </a:pPr>
            <a:r>
              <a:rPr lang="en-US" sz="3100" dirty="0">
                <a:latin typeface="Cambria Math" panose="02040503050406030204" pitchFamily="18" charset="0"/>
              </a:rPr>
              <a:t>4/10 of the final top 10 objectives were absent from the student’s first list</a:t>
            </a:r>
          </a:p>
          <a:p>
            <a:endParaRPr lang="en-US" dirty="0"/>
          </a:p>
        </p:txBody>
      </p:sp>
      <p:sp>
        <p:nvSpPr>
          <p:cNvPr id="2" name="Title 1">
            <a:extLst>
              <a:ext uri="{FF2B5EF4-FFF2-40B4-BE49-F238E27FC236}">
                <a16:creationId xmlns:a16="http://schemas.microsoft.com/office/drawing/2014/main" id="{BE5E0DC2-5F8D-2635-E4E9-4DA71802191A}"/>
              </a:ext>
            </a:extLst>
          </p:cNvPr>
          <p:cNvSpPr>
            <a:spLocks noGrp="1"/>
          </p:cNvSpPr>
          <p:nvPr>
            <p:ph type="title"/>
          </p:nvPr>
        </p:nvSpPr>
        <p:spPr>
          <a:xfrm>
            <a:off x="493776" y="392557"/>
            <a:ext cx="11204448" cy="1325563"/>
          </a:xfrm>
        </p:spPr>
        <p:txBody>
          <a:bodyPr/>
          <a:lstStyle/>
          <a:p>
            <a:r>
              <a:rPr lang="en-US" dirty="0"/>
              <a:t>We are surprisingly poor at identifying objectives</a:t>
            </a:r>
          </a:p>
        </p:txBody>
      </p:sp>
      <p:pic>
        <p:nvPicPr>
          <p:cNvPr id="4" name="Picture 3">
            <a:extLst>
              <a:ext uri="{FF2B5EF4-FFF2-40B4-BE49-F238E27FC236}">
                <a16:creationId xmlns:a16="http://schemas.microsoft.com/office/drawing/2014/main" id="{753267A3-A27B-4CB4-7578-147D79615F33}"/>
              </a:ext>
            </a:extLst>
          </p:cNvPr>
          <p:cNvPicPr>
            <a:picLocks noChangeAspect="1"/>
          </p:cNvPicPr>
          <p:nvPr/>
        </p:nvPicPr>
        <p:blipFill>
          <a:blip r:embed="rId2"/>
          <a:srcRect t="2" b="1297"/>
          <a:stretch/>
        </p:blipFill>
        <p:spPr>
          <a:xfrm>
            <a:off x="7667513" y="2112263"/>
            <a:ext cx="3961300" cy="3610111"/>
          </a:xfrm>
          <a:prstGeom prst="rect">
            <a:avLst/>
          </a:prstGeom>
        </p:spPr>
      </p:pic>
      <p:sp>
        <p:nvSpPr>
          <p:cNvPr id="5" name="TextBox 4">
            <a:extLst>
              <a:ext uri="{FF2B5EF4-FFF2-40B4-BE49-F238E27FC236}">
                <a16:creationId xmlns:a16="http://schemas.microsoft.com/office/drawing/2014/main" id="{5CBD22F6-6AFE-E3D6-C701-08F9F445B1A5}"/>
              </a:ext>
            </a:extLst>
          </p:cNvPr>
          <p:cNvSpPr txBox="1"/>
          <p:nvPr/>
        </p:nvSpPr>
        <p:spPr>
          <a:xfrm>
            <a:off x="10945568" y="5450170"/>
            <a:ext cx="719821" cy="253916"/>
          </a:xfrm>
          <a:prstGeom prst="rect">
            <a:avLst/>
          </a:prstGeom>
          <a:noFill/>
        </p:spPr>
        <p:txBody>
          <a:bodyPr wrap="square">
            <a:spAutoFit/>
          </a:bodyPr>
          <a:lstStyle/>
          <a:p>
            <a:r>
              <a:rPr lang="en-US" sz="1050" dirty="0"/>
              <a:t>Medium</a:t>
            </a:r>
          </a:p>
        </p:txBody>
      </p:sp>
      <p:sp>
        <p:nvSpPr>
          <p:cNvPr id="6" name="TextBox 5">
            <a:extLst>
              <a:ext uri="{FF2B5EF4-FFF2-40B4-BE49-F238E27FC236}">
                <a16:creationId xmlns:a16="http://schemas.microsoft.com/office/drawing/2014/main" id="{8C921A63-F944-EC91-75C6-FFB3E7EEE3E1}"/>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Tree>
    <p:extLst>
      <p:ext uri="{BB962C8B-B14F-4D97-AF65-F5344CB8AC3E}">
        <p14:creationId xmlns:p14="http://schemas.microsoft.com/office/powerpoint/2010/main" val="754799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29AF3-D9C6-2764-6ECB-5DB120C89B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E6A448-C767-B88D-C5C3-97CE501E66E9}"/>
              </a:ext>
            </a:extLst>
          </p:cNvPr>
          <p:cNvSpPr>
            <a:spLocks noGrp="1"/>
          </p:cNvSpPr>
          <p:nvPr>
            <p:ph type="title"/>
          </p:nvPr>
        </p:nvSpPr>
        <p:spPr>
          <a:xfrm>
            <a:off x="493776" y="392557"/>
            <a:ext cx="11204448" cy="1325563"/>
          </a:xfrm>
        </p:spPr>
        <p:txBody>
          <a:bodyPr/>
          <a:lstStyle/>
          <a:p>
            <a:r>
              <a:rPr lang="en-US" dirty="0"/>
              <a:t>We are surprisingly poor at identifying objectives</a:t>
            </a:r>
          </a:p>
        </p:txBody>
      </p:sp>
      <p:sp>
        <p:nvSpPr>
          <p:cNvPr id="3" name="Content Placeholder 2">
            <a:extLst>
              <a:ext uri="{FF2B5EF4-FFF2-40B4-BE49-F238E27FC236}">
                <a16:creationId xmlns:a16="http://schemas.microsoft.com/office/drawing/2014/main" id="{6A53F5C7-7A5F-8FDD-910C-04846DBC2B7B}"/>
              </a:ext>
            </a:extLst>
          </p:cNvPr>
          <p:cNvSpPr>
            <a:spLocks noGrp="1"/>
          </p:cNvSpPr>
          <p:nvPr>
            <p:ph idx="1"/>
          </p:nvPr>
        </p:nvSpPr>
        <p:spPr>
          <a:xfrm>
            <a:off x="107384" y="1741649"/>
            <a:ext cx="7523553" cy="4723794"/>
          </a:xfrm>
        </p:spPr>
        <p:txBody>
          <a:bodyPr>
            <a:noAutofit/>
          </a:bodyPr>
          <a:lstStyle/>
          <a:p>
            <a:pPr marL="914400" lvl="1" indent="-457200">
              <a:lnSpc>
                <a:spcPct val="120000"/>
              </a:lnSpc>
              <a:spcBef>
                <a:spcPts val="0"/>
              </a:spcBef>
              <a:buAutoNum type="arabicParenR"/>
            </a:pPr>
            <a:r>
              <a:rPr lang="en-US" sz="3200" dirty="0"/>
              <a:t>We often don’t know all our objectives</a:t>
            </a:r>
          </a:p>
          <a:p>
            <a:pPr marL="914400" lvl="1" indent="-457200">
              <a:lnSpc>
                <a:spcPct val="120000"/>
              </a:lnSpc>
              <a:spcBef>
                <a:spcPts val="0"/>
              </a:spcBef>
              <a:buAutoNum type="arabicParenR"/>
            </a:pPr>
            <a:r>
              <a:rPr lang="en-US" sz="3200" dirty="0"/>
              <a:t>We confuse ends and means:</a:t>
            </a:r>
          </a:p>
          <a:p>
            <a:pPr lvl="2">
              <a:lnSpc>
                <a:spcPct val="120000"/>
              </a:lnSpc>
              <a:spcBef>
                <a:spcPts val="0"/>
              </a:spcBef>
            </a:pPr>
            <a:r>
              <a:rPr lang="en-US" sz="2800" dirty="0"/>
              <a:t>Example – when deciding about management of an endangered species:</a:t>
            </a:r>
          </a:p>
          <a:p>
            <a:pPr lvl="3">
              <a:lnSpc>
                <a:spcPct val="120000"/>
              </a:lnSpc>
              <a:spcBef>
                <a:spcPts val="0"/>
              </a:spcBef>
            </a:pPr>
            <a:r>
              <a:rPr lang="en-US" sz="2400" dirty="0"/>
              <a:t>Is this the objective?</a:t>
            </a:r>
          </a:p>
          <a:p>
            <a:pPr lvl="4">
              <a:lnSpc>
                <a:spcPct val="120000"/>
              </a:lnSpc>
              <a:spcBef>
                <a:spcPts val="0"/>
              </a:spcBef>
            </a:pPr>
            <a:r>
              <a:rPr lang="en-US" sz="2400" dirty="0"/>
              <a:t>Maximize survival probability of the endangered species</a:t>
            </a:r>
          </a:p>
          <a:p>
            <a:pPr lvl="3">
              <a:lnSpc>
                <a:spcPct val="120000"/>
              </a:lnSpc>
              <a:spcBef>
                <a:spcPts val="0"/>
              </a:spcBef>
            </a:pPr>
            <a:r>
              <a:rPr lang="en-US" sz="2400" dirty="0"/>
              <a:t>Or is this the objective?</a:t>
            </a:r>
          </a:p>
          <a:p>
            <a:pPr lvl="4">
              <a:lnSpc>
                <a:spcPct val="120000"/>
              </a:lnSpc>
              <a:spcBef>
                <a:spcPts val="0"/>
              </a:spcBef>
            </a:pPr>
            <a:r>
              <a:rPr lang="en-US" sz="2400" dirty="0"/>
              <a:t>Maximize probability of persistence of the endangered species</a:t>
            </a:r>
          </a:p>
        </p:txBody>
      </p:sp>
      <p:pic>
        <p:nvPicPr>
          <p:cNvPr id="4" name="Picture 3">
            <a:extLst>
              <a:ext uri="{FF2B5EF4-FFF2-40B4-BE49-F238E27FC236}">
                <a16:creationId xmlns:a16="http://schemas.microsoft.com/office/drawing/2014/main" id="{24A47B1A-8FD3-953A-A9A4-FA924BEC1005}"/>
              </a:ext>
            </a:extLst>
          </p:cNvPr>
          <p:cNvPicPr>
            <a:picLocks noChangeAspect="1"/>
          </p:cNvPicPr>
          <p:nvPr/>
        </p:nvPicPr>
        <p:blipFill>
          <a:blip r:embed="rId2"/>
          <a:srcRect t="2" b="1297"/>
          <a:stretch/>
        </p:blipFill>
        <p:spPr>
          <a:xfrm>
            <a:off x="7667513" y="2112263"/>
            <a:ext cx="3961300" cy="3610111"/>
          </a:xfrm>
          <a:prstGeom prst="rect">
            <a:avLst/>
          </a:prstGeom>
        </p:spPr>
      </p:pic>
      <p:sp>
        <p:nvSpPr>
          <p:cNvPr id="5" name="TextBox 4">
            <a:extLst>
              <a:ext uri="{FF2B5EF4-FFF2-40B4-BE49-F238E27FC236}">
                <a16:creationId xmlns:a16="http://schemas.microsoft.com/office/drawing/2014/main" id="{2926513F-6A40-0D5C-F0C9-E0965E188678}"/>
              </a:ext>
            </a:extLst>
          </p:cNvPr>
          <p:cNvSpPr txBox="1"/>
          <p:nvPr/>
        </p:nvSpPr>
        <p:spPr>
          <a:xfrm>
            <a:off x="10945568" y="5450170"/>
            <a:ext cx="719821" cy="253916"/>
          </a:xfrm>
          <a:prstGeom prst="rect">
            <a:avLst/>
          </a:prstGeom>
          <a:noFill/>
        </p:spPr>
        <p:txBody>
          <a:bodyPr wrap="square">
            <a:spAutoFit/>
          </a:bodyPr>
          <a:lstStyle/>
          <a:p>
            <a:r>
              <a:rPr lang="en-US" sz="1050" dirty="0"/>
              <a:t>Medium</a:t>
            </a:r>
          </a:p>
        </p:txBody>
      </p:sp>
      <p:sp>
        <p:nvSpPr>
          <p:cNvPr id="6" name="TextBox 5">
            <a:extLst>
              <a:ext uri="{FF2B5EF4-FFF2-40B4-BE49-F238E27FC236}">
                <a16:creationId xmlns:a16="http://schemas.microsoft.com/office/drawing/2014/main" id="{C228E349-FFB2-A10D-98FD-59BBD71ABD6F}"/>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Tree>
    <p:extLst>
      <p:ext uri="{BB962C8B-B14F-4D97-AF65-F5344CB8AC3E}">
        <p14:creationId xmlns:p14="http://schemas.microsoft.com/office/powerpoint/2010/main" val="943169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a:extLst>
              <a:ext uri="{FF2B5EF4-FFF2-40B4-BE49-F238E27FC236}">
                <a16:creationId xmlns:a16="http://schemas.microsoft.com/office/drawing/2014/main" id="{2F366992-F516-7FE4-2B93-015999141ADD}"/>
              </a:ext>
            </a:extLst>
          </p:cNvPr>
          <p:cNvSpPr txBox="1">
            <a:spLocks/>
          </p:cNvSpPr>
          <p:nvPr/>
        </p:nvSpPr>
        <p:spPr>
          <a:xfrm>
            <a:off x="987552" y="2483993"/>
            <a:ext cx="3319272" cy="14570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b="1" dirty="0"/>
              <a:t>Direction</a:t>
            </a:r>
            <a:r>
              <a:rPr lang="en-US" dirty="0"/>
              <a:t> </a:t>
            </a:r>
          </a:p>
          <a:p>
            <a:pPr marL="0" indent="0" algn="ctr">
              <a:buFont typeface="Arial" panose="020B0604020202020204" pitchFamily="34" charset="0"/>
              <a:buNone/>
            </a:pPr>
            <a:r>
              <a:rPr lang="en-US" dirty="0"/>
              <a:t>(maximize, minimize)</a:t>
            </a:r>
          </a:p>
        </p:txBody>
      </p:sp>
      <p:sp>
        <p:nvSpPr>
          <p:cNvPr id="2" name="Title 1">
            <a:extLst>
              <a:ext uri="{FF2B5EF4-FFF2-40B4-BE49-F238E27FC236}">
                <a16:creationId xmlns:a16="http://schemas.microsoft.com/office/drawing/2014/main" id="{66DBEEFE-DE79-7BC7-C10C-32EF30C1414E}"/>
              </a:ext>
            </a:extLst>
          </p:cNvPr>
          <p:cNvSpPr>
            <a:spLocks noGrp="1"/>
          </p:cNvSpPr>
          <p:nvPr>
            <p:ph type="title"/>
          </p:nvPr>
        </p:nvSpPr>
        <p:spPr/>
        <p:txBody>
          <a:bodyPr/>
          <a:lstStyle/>
          <a:p>
            <a:r>
              <a:rPr lang="en-US" dirty="0"/>
              <a:t>Pieces of an objective:</a:t>
            </a:r>
          </a:p>
        </p:txBody>
      </p:sp>
      <p:sp>
        <p:nvSpPr>
          <p:cNvPr id="3" name="Content Placeholder 2">
            <a:extLst>
              <a:ext uri="{FF2B5EF4-FFF2-40B4-BE49-F238E27FC236}">
                <a16:creationId xmlns:a16="http://schemas.microsoft.com/office/drawing/2014/main" id="{29BF6EC2-64EF-11DE-CAA5-7C263A633D33}"/>
              </a:ext>
            </a:extLst>
          </p:cNvPr>
          <p:cNvSpPr>
            <a:spLocks noGrp="1"/>
          </p:cNvSpPr>
          <p:nvPr>
            <p:ph idx="1"/>
          </p:nvPr>
        </p:nvSpPr>
        <p:spPr>
          <a:xfrm>
            <a:off x="8726424" y="2483992"/>
            <a:ext cx="1943100" cy="1457071"/>
          </a:xfrm>
        </p:spPr>
        <p:txBody>
          <a:bodyPr>
            <a:normAutofit/>
          </a:bodyPr>
          <a:lstStyle/>
          <a:p>
            <a:pPr marL="0" indent="0" algn="ctr">
              <a:buNone/>
            </a:pPr>
            <a:r>
              <a:rPr lang="en-US" b="1" dirty="0"/>
              <a:t>Attribute</a:t>
            </a:r>
            <a:endParaRPr lang="en-US" dirty="0"/>
          </a:p>
          <a:p>
            <a:pPr marL="0" indent="0" algn="ctr">
              <a:buNone/>
            </a:pPr>
            <a:r>
              <a:rPr lang="en-US" dirty="0"/>
              <a:t>(the units)</a:t>
            </a:r>
          </a:p>
        </p:txBody>
      </p:sp>
      <p:sp>
        <p:nvSpPr>
          <p:cNvPr id="4" name="Content Placeholder 2">
            <a:extLst>
              <a:ext uri="{FF2B5EF4-FFF2-40B4-BE49-F238E27FC236}">
                <a16:creationId xmlns:a16="http://schemas.microsoft.com/office/drawing/2014/main" id="{500DE7E3-AB45-0481-3132-66F876547714}"/>
              </a:ext>
            </a:extLst>
          </p:cNvPr>
          <p:cNvSpPr txBox="1">
            <a:spLocks/>
          </p:cNvSpPr>
          <p:nvPr/>
        </p:nvSpPr>
        <p:spPr>
          <a:xfrm>
            <a:off x="3802380" y="2483993"/>
            <a:ext cx="1862328" cy="116751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8000" dirty="0"/>
              <a:t>+</a:t>
            </a:r>
          </a:p>
        </p:txBody>
      </p:sp>
      <p:sp>
        <p:nvSpPr>
          <p:cNvPr id="6" name="Content Placeholder 2">
            <a:extLst>
              <a:ext uri="{FF2B5EF4-FFF2-40B4-BE49-F238E27FC236}">
                <a16:creationId xmlns:a16="http://schemas.microsoft.com/office/drawing/2014/main" id="{9ACE476A-0087-5F1E-DCE5-CE38794E5160}"/>
              </a:ext>
            </a:extLst>
          </p:cNvPr>
          <p:cNvSpPr txBox="1">
            <a:spLocks/>
          </p:cNvSpPr>
          <p:nvPr/>
        </p:nvSpPr>
        <p:spPr>
          <a:xfrm>
            <a:off x="4114800" y="2757234"/>
            <a:ext cx="4611624" cy="5975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b="1" dirty="0"/>
              <a:t>What is desired</a:t>
            </a:r>
            <a:endParaRPr lang="en-US" dirty="0"/>
          </a:p>
        </p:txBody>
      </p:sp>
      <p:sp>
        <p:nvSpPr>
          <p:cNvPr id="7" name="Content Placeholder 2">
            <a:extLst>
              <a:ext uri="{FF2B5EF4-FFF2-40B4-BE49-F238E27FC236}">
                <a16:creationId xmlns:a16="http://schemas.microsoft.com/office/drawing/2014/main" id="{E459D757-E412-F18C-B82D-B44E4E6AF085}"/>
              </a:ext>
            </a:extLst>
          </p:cNvPr>
          <p:cNvSpPr txBox="1">
            <a:spLocks/>
          </p:cNvSpPr>
          <p:nvPr/>
        </p:nvSpPr>
        <p:spPr>
          <a:xfrm>
            <a:off x="7176516" y="2483993"/>
            <a:ext cx="1862328" cy="116751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8000" dirty="0"/>
              <a:t>+</a:t>
            </a:r>
          </a:p>
        </p:txBody>
      </p:sp>
      <p:pic>
        <p:nvPicPr>
          <p:cNvPr id="8" name="Graphic 7" descr="Arrow Up with solid fill">
            <a:extLst>
              <a:ext uri="{FF2B5EF4-FFF2-40B4-BE49-F238E27FC236}">
                <a16:creationId xmlns:a16="http://schemas.microsoft.com/office/drawing/2014/main" id="{52FB7161-6344-4B4B-F6D9-AAD9A851C36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71462" y="3651504"/>
            <a:ext cx="914400" cy="914400"/>
          </a:xfrm>
          <a:prstGeom prst="rect">
            <a:avLst/>
          </a:prstGeom>
        </p:spPr>
      </p:pic>
      <p:pic>
        <p:nvPicPr>
          <p:cNvPr id="11" name="Graphic 10" descr="Arrow Down with solid fill">
            <a:extLst>
              <a:ext uri="{FF2B5EF4-FFF2-40B4-BE49-F238E27FC236}">
                <a16:creationId xmlns:a16="http://schemas.microsoft.com/office/drawing/2014/main" id="{A0FE5BA0-2463-D238-D59B-ECB8EC9CF0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32562" y="3651504"/>
            <a:ext cx="914400" cy="914400"/>
          </a:xfrm>
          <a:prstGeom prst="rect">
            <a:avLst/>
          </a:prstGeom>
        </p:spPr>
      </p:pic>
      <p:pic>
        <p:nvPicPr>
          <p:cNvPr id="13" name="Graphic 12" descr="Heart with solid fill">
            <a:extLst>
              <a:ext uri="{FF2B5EF4-FFF2-40B4-BE49-F238E27FC236}">
                <a16:creationId xmlns:a16="http://schemas.microsoft.com/office/drawing/2014/main" id="{13BFACF2-4398-D3A1-E7F9-9CCA3A179FA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688053" y="3560064"/>
            <a:ext cx="1097280" cy="1097280"/>
          </a:xfrm>
          <a:prstGeom prst="rect">
            <a:avLst/>
          </a:prstGeom>
        </p:spPr>
      </p:pic>
      <p:pic>
        <p:nvPicPr>
          <p:cNvPr id="15" name="Graphic 14" descr="Dollar with solid fill">
            <a:extLst>
              <a:ext uri="{FF2B5EF4-FFF2-40B4-BE49-F238E27FC236}">
                <a16:creationId xmlns:a16="http://schemas.microsoft.com/office/drawing/2014/main" id="{BBAAD181-552E-422F-CF91-401DB0A921A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240774" y="3649776"/>
            <a:ext cx="914400" cy="914400"/>
          </a:xfrm>
          <a:prstGeom prst="rect">
            <a:avLst/>
          </a:prstGeom>
        </p:spPr>
      </p:pic>
      <p:sp>
        <p:nvSpPr>
          <p:cNvPr id="10" name="TextBox 9">
            <a:extLst>
              <a:ext uri="{FF2B5EF4-FFF2-40B4-BE49-F238E27FC236}">
                <a16:creationId xmlns:a16="http://schemas.microsoft.com/office/drawing/2014/main" id="{FFC7C4FA-A601-8FC1-5E22-3E450EE2BD1A}"/>
              </a:ext>
            </a:extLst>
          </p:cNvPr>
          <p:cNvSpPr txBox="1"/>
          <p:nvPr/>
        </p:nvSpPr>
        <p:spPr>
          <a:xfrm>
            <a:off x="8534579" y="3979401"/>
            <a:ext cx="1008529" cy="584775"/>
          </a:xfrm>
          <a:prstGeom prst="rect">
            <a:avLst/>
          </a:prstGeom>
          <a:noFill/>
        </p:spPr>
        <p:txBody>
          <a:bodyPr wrap="square">
            <a:spAutoFit/>
          </a:bodyPr>
          <a:lstStyle/>
          <a:p>
            <a:pPr marL="0" indent="0" algn="ctr">
              <a:buNone/>
            </a:pPr>
            <a:r>
              <a:rPr lang="en-US" sz="3200" dirty="0"/>
              <a:t>e.g. </a:t>
            </a:r>
          </a:p>
        </p:txBody>
      </p:sp>
      <p:sp>
        <p:nvSpPr>
          <p:cNvPr id="5" name="TextBox 4">
            <a:extLst>
              <a:ext uri="{FF2B5EF4-FFF2-40B4-BE49-F238E27FC236}">
                <a16:creationId xmlns:a16="http://schemas.microsoft.com/office/drawing/2014/main" id="{D4BDFE9C-4D52-D92B-790E-E62DAF737360}"/>
              </a:ext>
            </a:extLst>
          </p:cNvPr>
          <p:cNvSpPr txBox="1"/>
          <p:nvPr/>
        </p:nvSpPr>
        <p:spPr>
          <a:xfrm>
            <a:off x="0" y="6581001"/>
            <a:ext cx="8918089" cy="276999"/>
          </a:xfrm>
          <a:prstGeom prst="rect">
            <a:avLst/>
          </a:prstGeom>
          <a:noFill/>
        </p:spPr>
        <p:txBody>
          <a:bodyPr wrap="square">
            <a:spAutoFit/>
          </a:bodyPr>
          <a:lstStyle/>
          <a:p>
            <a:r>
              <a:rPr lang="en-US" sz="1200" dirty="0"/>
              <a:t>Developed by Brielle K Thompson</a:t>
            </a:r>
          </a:p>
        </p:txBody>
      </p:sp>
      <p:sp>
        <p:nvSpPr>
          <p:cNvPr id="14" name="Rectangle 13">
            <a:extLst>
              <a:ext uri="{FF2B5EF4-FFF2-40B4-BE49-F238E27FC236}">
                <a16:creationId xmlns:a16="http://schemas.microsoft.com/office/drawing/2014/main" id="{42E77B37-8E24-ADB5-9090-71A18391FBAB}"/>
              </a:ext>
            </a:extLst>
          </p:cNvPr>
          <p:cNvSpPr/>
          <p:nvPr/>
        </p:nvSpPr>
        <p:spPr>
          <a:xfrm>
            <a:off x="414035" y="4830317"/>
            <a:ext cx="5573405" cy="1437986"/>
          </a:xfrm>
          <a:prstGeom prst="rect">
            <a:avLst/>
          </a:prstGeom>
          <a:solidFill>
            <a:schemeClr val="accent4">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*Maximize/Minimize may be uncomfortable to state (but its useful for optimization purposes). So, as long as the direction is clear we can use other verbs (e.g.,  increase, decrease, etc.) </a:t>
            </a:r>
          </a:p>
        </p:txBody>
      </p:sp>
      <p:sp>
        <p:nvSpPr>
          <p:cNvPr id="16" name="Star: 5 Points 15">
            <a:extLst>
              <a:ext uri="{FF2B5EF4-FFF2-40B4-BE49-F238E27FC236}">
                <a16:creationId xmlns:a16="http://schemas.microsoft.com/office/drawing/2014/main" id="{00D08980-E15D-FE83-8138-EF6C7237D7AF}"/>
              </a:ext>
            </a:extLst>
          </p:cNvPr>
          <p:cNvSpPr/>
          <p:nvPr/>
        </p:nvSpPr>
        <p:spPr>
          <a:xfrm>
            <a:off x="706771" y="2869501"/>
            <a:ext cx="425885" cy="372999"/>
          </a:xfrm>
          <a:prstGeom prst="star5">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481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4930FBC-AFDF-89BE-E219-EA67919D535E}"/>
                  </a:ext>
                </a:extLst>
              </p:cNvPr>
              <p:cNvSpPr>
                <a:spLocks noGrp="1"/>
              </p:cNvSpPr>
              <p:nvPr>
                <p:ph type="title"/>
              </p:nvPr>
            </p:nvSpPr>
            <p:spPr/>
            <p:txBody>
              <a:bodyPr/>
              <a:lstStyle/>
              <a:p>
                <a:r>
                  <a:rPr lang="en-US" dirty="0"/>
                  <a:t>Objectives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Targets</a:t>
                </a:r>
              </a:p>
            </p:txBody>
          </p:sp>
        </mc:Choice>
        <mc:Fallback xmlns="">
          <p:sp>
            <p:nvSpPr>
              <p:cNvPr id="2" name="Title 1">
                <a:extLst>
                  <a:ext uri="{FF2B5EF4-FFF2-40B4-BE49-F238E27FC236}">
                    <a16:creationId xmlns:a16="http://schemas.microsoft.com/office/drawing/2014/main" id="{24930FBC-AFDF-89BE-E219-EA67919D535E}"/>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52E0E5DB-C787-DC97-F223-71575521C240}"/>
              </a:ext>
            </a:extLst>
          </p:cNvPr>
          <p:cNvSpPr>
            <a:spLocks noGrp="1"/>
          </p:cNvSpPr>
          <p:nvPr>
            <p:ph idx="1"/>
          </p:nvPr>
        </p:nvSpPr>
        <p:spPr>
          <a:xfrm>
            <a:off x="838200" y="1825625"/>
            <a:ext cx="6652364" cy="4437389"/>
          </a:xfrm>
        </p:spPr>
        <p:txBody>
          <a:bodyPr>
            <a:normAutofit lnSpcReduction="10000"/>
          </a:bodyPr>
          <a:lstStyle/>
          <a:p>
            <a:r>
              <a:rPr lang="en-US" sz="3600" dirty="0"/>
              <a:t>Target = Desired level of performance towards an objective</a:t>
            </a:r>
          </a:p>
          <a:p>
            <a:pPr lvl="1"/>
            <a:r>
              <a:rPr lang="en-US" sz="3200" dirty="0"/>
              <a:t>Example:</a:t>
            </a:r>
          </a:p>
          <a:p>
            <a:pPr lvl="2"/>
            <a:r>
              <a:rPr lang="en-US" sz="2800" b="1" dirty="0"/>
              <a:t>Create 1000 jobs is a target </a:t>
            </a:r>
            <a:r>
              <a:rPr lang="en-US" sz="2800" dirty="0"/>
              <a:t>– a specific quantitative level of performance we want to achieve. </a:t>
            </a:r>
          </a:p>
          <a:p>
            <a:pPr lvl="2"/>
            <a:r>
              <a:rPr lang="en-US" sz="2800" b="1" dirty="0"/>
              <a:t>Maximize employment </a:t>
            </a:r>
            <a:r>
              <a:rPr lang="en-US" sz="2800" dirty="0"/>
              <a:t>is an objective (employment is the thing we want, more is better than less</a:t>
            </a:r>
          </a:p>
          <a:p>
            <a:endParaRPr lang="en-US" sz="3600" dirty="0"/>
          </a:p>
        </p:txBody>
      </p:sp>
      <p:pic>
        <p:nvPicPr>
          <p:cNvPr id="7" name="Graphic 6" descr="Briefcase with solid fill">
            <a:extLst>
              <a:ext uri="{FF2B5EF4-FFF2-40B4-BE49-F238E27FC236}">
                <a16:creationId xmlns:a16="http://schemas.microsoft.com/office/drawing/2014/main" id="{943050C7-6805-762B-5434-6D5A515A7D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8865" y="2865567"/>
            <a:ext cx="1725460" cy="1725460"/>
          </a:xfrm>
          <a:prstGeom prst="rect">
            <a:avLst/>
          </a:prstGeom>
        </p:spPr>
      </p:pic>
      <p:pic>
        <p:nvPicPr>
          <p:cNvPr id="9" name="Graphic 8" descr="Office worker female with solid fill">
            <a:extLst>
              <a:ext uri="{FF2B5EF4-FFF2-40B4-BE49-F238E27FC236}">
                <a16:creationId xmlns:a16="http://schemas.microsoft.com/office/drawing/2014/main" id="{75050A4B-9D30-54B6-E7C8-7E6907402EB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994309" y="682625"/>
            <a:ext cx="2286000" cy="2286000"/>
          </a:xfrm>
          <a:prstGeom prst="rect">
            <a:avLst/>
          </a:prstGeom>
        </p:spPr>
      </p:pic>
      <p:pic>
        <p:nvPicPr>
          <p:cNvPr id="11" name="Graphic 10" descr="Office worker male with solid fill">
            <a:extLst>
              <a:ext uri="{FF2B5EF4-FFF2-40B4-BE49-F238E27FC236}">
                <a16:creationId xmlns:a16="http://schemas.microsoft.com/office/drawing/2014/main" id="{442F26FE-3099-6EB2-0384-CC729F8EC4D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731679" y="2450360"/>
            <a:ext cx="2286000" cy="2286000"/>
          </a:xfrm>
          <a:prstGeom prst="rect">
            <a:avLst/>
          </a:prstGeom>
        </p:spPr>
      </p:pic>
    </p:spTree>
    <p:extLst>
      <p:ext uri="{BB962C8B-B14F-4D97-AF65-F5344CB8AC3E}">
        <p14:creationId xmlns:p14="http://schemas.microsoft.com/office/powerpoint/2010/main" val="2111722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A5655-53BC-CCEF-81A2-EFD6D711F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BF8E14D-C8B5-2866-B1DA-1959CA0C1AC7}"/>
                  </a:ext>
                </a:extLst>
              </p:cNvPr>
              <p:cNvSpPr>
                <a:spLocks noGrp="1"/>
              </p:cNvSpPr>
              <p:nvPr>
                <p:ph type="title"/>
              </p:nvPr>
            </p:nvSpPr>
            <p:spPr/>
            <p:txBody>
              <a:bodyPr/>
              <a:lstStyle/>
              <a:p>
                <a:r>
                  <a:rPr lang="en-US" dirty="0"/>
                  <a:t>Objectives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Targets</a:t>
                </a:r>
              </a:p>
            </p:txBody>
          </p:sp>
        </mc:Choice>
        <mc:Fallback xmlns="">
          <p:sp>
            <p:nvSpPr>
              <p:cNvPr id="2" name="Title 1">
                <a:extLst>
                  <a:ext uri="{FF2B5EF4-FFF2-40B4-BE49-F238E27FC236}">
                    <a16:creationId xmlns:a16="http://schemas.microsoft.com/office/drawing/2014/main" id="{FBF8E14D-C8B5-2866-B1DA-1959CA0C1AC7}"/>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BE916B67-0293-6F79-A480-DAE80CCDF5AA}"/>
              </a:ext>
            </a:extLst>
          </p:cNvPr>
          <p:cNvSpPr>
            <a:spLocks noGrp="1"/>
          </p:cNvSpPr>
          <p:nvPr>
            <p:ph idx="1"/>
          </p:nvPr>
        </p:nvSpPr>
        <p:spPr>
          <a:xfrm>
            <a:off x="838200" y="1825625"/>
            <a:ext cx="6652364" cy="4437389"/>
          </a:xfrm>
        </p:spPr>
        <p:txBody>
          <a:bodyPr>
            <a:normAutofit lnSpcReduction="10000"/>
          </a:bodyPr>
          <a:lstStyle/>
          <a:p>
            <a:r>
              <a:rPr lang="en-US" sz="3600" dirty="0"/>
              <a:t>Target = Desired level of performance towards an objective</a:t>
            </a:r>
          </a:p>
          <a:p>
            <a:pPr lvl="1"/>
            <a:r>
              <a:rPr lang="en-US" sz="3200" dirty="0"/>
              <a:t>Example:</a:t>
            </a:r>
          </a:p>
          <a:p>
            <a:pPr lvl="2"/>
            <a:r>
              <a:rPr lang="en-US" sz="2800" b="1" dirty="0"/>
              <a:t>Create 1000 jobs is a target </a:t>
            </a:r>
            <a:r>
              <a:rPr lang="en-US" sz="2800" dirty="0"/>
              <a:t>– a specific quantitative level of performance we want to achieve. </a:t>
            </a:r>
          </a:p>
          <a:p>
            <a:pPr lvl="2"/>
            <a:r>
              <a:rPr lang="en-US" sz="2800" b="1" dirty="0"/>
              <a:t>Maximize employment </a:t>
            </a:r>
            <a:r>
              <a:rPr lang="en-US" sz="2800" dirty="0"/>
              <a:t>is an objective (employment is the thing we want, more is better than less</a:t>
            </a:r>
          </a:p>
          <a:p>
            <a:endParaRPr lang="en-US" sz="3600" dirty="0"/>
          </a:p>
        </p:txBody>
      </p:sp>
      <p:pic>
        <p:nvPicPr>
          <p:cNvPr id="7" name="Graphic 6" descr="Briefcase with solid fill">
            <a:extLst>
              <a:ext uri="{FF2B5EF4-FFF2-40B4-BE49-F238E27FC236}">
                <a16:creationId xmlns:a16="http://schemas.microsoft.com/office/drawing/2014/main" id="{FE2C9DC8-55F9-68F7-737C-678D442BF0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28865" y="2865567"/>
            <a:ext cx="1725460" cy="1725460"/>
          </a:xfrm>
          <a:prstGeom prst="rect">
            <a:avLst/>
          </a:prstGeom>
        </p:spPr>
      </p:pic>
      <p:pic>
        <p:nvPicPr>
          <p:cNvPr id="9" name="Graphic 8" descr="Office worker female with solid fill">
            <a:extLst>
              <a:ext uri="{FF2B5EF4-FFF2-40B4-BE49-F238E27FC236}">
                <a16:creationId xmlns:a16="http://schemas.microsoft.com/office/drawing/2014/main" id="{39F14301-0C7E-4EF8-C34C-6A5179B860B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994309" y="682625"/>
            <a:ext cx="2286000" cy="2286000"/>
          </a:xfrm>
          <a:prstGeom prst="rect">
            <a:avLst/>
          </a:prstGeom>
        </p:spPr>
      </p:pic>
      <p:pic>
        <p:nvPicPr>
          <p:cNvPr id="11" name="Graphic 10" descr="Office worker male with solid fill">
            <a:extLst>
              <a:ext uri="{FF2B5EF4-FFF2-40B4-BE49-F238E27FC236}">
                <a16:creationId xmlns:a16="http://schemas.microsoft.com/office/drawing/2014/main" id="{F9758226-D5EB-C838-4925-093503F608A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731679" y="2450360"/>
            <a:ext cx="2286000" cy="2286000"/>
          </a:xfrm>
          <a:prstGeom prst="rect">
            <a:avLst/>
          </a:prstGeom>
        </p:spPr>
      </p:pic>
    </p:spTree>
    <p:extLst>
      <p:ext uri="{BB962C8B-B14F-4D97-AF65-F5344CB8AC3E}">
        <p14:creationId xmlns:p14="http://schemas.microsoft.com/office/powerpoint/2010/main" val="16717246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7847C-9071-E07C-1FD5-DF059C277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7B9617-58C2-8D60-5CA8-C6CD3881D7FC}"/>
              </a:ext>
            </a:extLst>
          </p:cNvPr>
          <p:cNvSpPr>
            <a:spLocks noGrp="1"/>
          </p:cNvSpPr>
          <p:nvPr>
            <p:ph type="title"/>
          </p:nvPr>
        </p:nvSpPr>
        <p:spPr>
          <a:xfrm>
            <a:off x="1598655" y="1732171"/>
            <a:ext cx="10644368" cy="4283901"/>
          </a:xfrm>
        </p:spPr>
        <p:txBody>
          <a:bodyPr>
            <a:normAutofit/>
          </a:bodyPr>
          <a:lstStyle/>
          <a:p>
            <a:pPr lvl="0">
              <a:lnSpc>
                <a:spcPct val="100000"/>
              </a:lnSpc>
              <a:spcBef>
                <a:spcPts val="640"/>
              </a:spcBef>
              <a:buSzPts val="3200"/>
            </a:pPr>
            <a:r>
              <a:rPr lang="en-US" sz="4000" b="1" u="sng" dirty="0"/>
              <a:t>1. Articulate goals &amp; concerns</a:t>
            </a:r>
            <a:br>
              <a:rPr lang="en-US" sz="4000" dirty="0"/>
            </a:br>
            <a:r>
              <a:rPr lang="en-US" sz="4000" dirty="0"/>
              <a:t>2. </a:t>
            </a:r>
            <a:r>
              <a:rPr lang="en-US" sz="4000" dirty="0">
                <a:solidFill>
                  <a:schemeClr val="dk1"/>
                </a:solidFill>
              </a:rPr>
              <a:t>Convert goals &amp; concerns to objectives</a:t>
            </a:r>
            <a:br>
              <a:rPr lang="en-US" sz="4000" dirty="0"/>
            </a:br>
            <a:r>
              <a:rPr lang="en-US" sz="4000" dirty="0"/>
              <a:t>3. </a:t>
            </a:r>
            <a:r>
              <a:rPr lang="en-US" sz="4000" dirty="0">
                <a:solidFill>
                  <a:schemeClr val="dk1"/>
                </a:solidFill>
              </a:rPr>
              <a:t>Structure objectives</a:t>
            </a:r>
            <a:br>
              <a:rPr lang="en-US" sz="4000" dirty="0"/>
            </a:br>
            <a:r>
              <a:rPr lang="en-US" sz="4000" dirty="0"/>
              <a:t>4. </a:t>
            </a:r>
            <a:r>
              <a:rPr lang="en-US" sz="4000" dirty="0">
                <a:solidFill>
                  <a:schemeClr val="dk1"/>
                </a:solidFill>
              </a:rPr>
              <a:t>Create measurable attributes for each objective</a:t>
            </a:r>
            <a:br>
              <a:rPr lang="en-US" sz="4000" dirty="0"/>
            </a:br>
            <a:r>
              <a:rPr lang="en-US" sz="4000" i="1" dirty="0">
                <a:solidFill>
                  <a:schemeClr val="dk1"/>
                </a:solidFill>
              </a:rPr>
              <a:t>Repeat as needed</a:t>
            </a:r>
            <a:br>
              <a:rPr lang="en-US" sz="4000" dirty="0"/>
            </a:br>
            <a:endParaRPr lang="en-US" sz="4000" dirty="0"/>
          </a:p>
        </p:txBody>
      </p:sp>
      <p:sp>
        <p:nvSpPr>
          <p:cNvPr id="4" name="Title 1">
            <a:extLst>
              <a:ext uri="{FF2B5EF4-FFF2-40B4-BE49-F238E27FC236}">
                <a16:creationId xmlns:a16="http://schemas.microsoft.com/office/drawing/2014/main" id="{16813E78-8FB8-AF79-5FAE-AA7098D8D821}"/>
              </a:ext>
            </a:extLst>
          </p:cNvPr>
          <p:cNvSpPr txBox="1">
            <a:spLocks/>
          </p:cNvSpPr>
          <p:nvPr/>
        </p:nvSpPr>
        <p:spPr>
          <a:xfrm>
            <a:off x="933022" y="5936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5" name="TextBox 4">
            <a:extLst>
              <a:ext uri="{FF2B5EF4-FFF2-40B4-BE49-F238E27FC236}">
                <a16:creationId xmlns:a16="http://schemas.microsoft.com/office/drawing/2014/main" id="{4F8F5C07-31EF-7B8F-CB42-86782BC0C72B}"/>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Left Brace 7">
            <a:extLst>
              <a:ext uri="{FF2B5EF4-FFF2-40B4-BE49-F238E27FC236}">
                <a16:creationId xmlns:a16="http://schemas.microsoft.com/office/drawing/2014/main" id="{84F68348-2DB7-56E1-76E1-AA515DEA7E67}"/>
              </a:ext>
            </a:extLst>
          </p:cNvPr>
          <p:cNvSpPr/>
          <p:nvPr/>
        </p:nvSpPr>
        <p:spPr>
          <a:xfrm>
            <a:off x="1046948" y="2287439"/>
            <a:ext cx="601449" cy="867077"/>
          </a:xfrm>
          <a:prstGeom prst="leftBrace">
            <a:avLst/>
          </a:prstGeom>
          <a:ln w="381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FBDA3E38-76E6-6755-D141-0B6254AA95D4}"/>
              </a:ext>
            </a:extLst>
          </p:cNvPr>
          <p:cNvSpPr txBox="1"/>
          <p:nvPr/>
        </p:nvSpPr>
        <p:spPr>
          <a:xfrm>
            <a:off x="110153" y="2299159"/>
            <a:ext cx="936795" cy="707886"/>
          </a:xfrm>
          <a:prstGeom prst="rect">
            <a:avLst/>
          </a:prstGeom>
          <a:noFill/>
        </p:spPr>
        <p:txBody>
          <a:bodyPr wrap="none" rtlCol="0">
            <a:spAutoFit/>
          </a:bodyPr>
          <a:lstStyle/>
          <a:p>
            <a:pPr algn="ctr"/>
            <a:r>
              <a:rPr lang="en-US" sz="2000" b="1" dirty="0">
                <a:solidFill>
                  <a:schemeClr val="accent1"/>
                </a:solidFill>
              </a:rPr>
              <a:t>Big</a:t>
            </a:r>
          </a:p>
          <a:p>
            <a:pPr algn="ctr"/>
            <a:r>
              <a:rPr lang="en-US" sz="2000" b="1" dirty="0">
                <a:solidFill>
                  <a:schemeClr val="accent1"/>
                </a:solidFill>
              </a:rPr>
              <a:t>picture</a:t>
            </a:r>
          </a:p>
        </p:txBody>
      </p:sp>
      <p:sp>
        <p:nvSpPr>
          <p:cNvPr id="10" name="Left Brace 9">
            <a:extLst>
              <a:ext uri="{FF2B5EF4-FFF2-40B4-BE49-F238E27FC236}">
                <a16:creationId xmlns:a16="http://schemas.microsoft.com/office/drawing/2014/main" id="{AA1F72A4-BC9C-B50D-454F-C0AC97746CED}"/>
              </a:ext>
            </a:extLst>
          </p:cNvPr>
          <p:cNvSpPr/>
          <p:nvPr/>
        </p:nvSpPr>
        <p:spPr>
          <a:xfrm>
            <a:off x="976696" y="3423739"/>
            <a:ext cx="567559" cy="867077"/>
          </a:xfrm>
          <a:prstGeom prst="leftBrace">
            <a:avLst/>
          </a:prstGeom>
          <a:ln w="3810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44CC66A6-0C12-F6F8-1AB4-C745B298D747}"/>
              </a:ext>
            </a:extLst>
          </p:cNvPr>
          <p:cNvSpPr txBox="1"/>
          <p:nvPr/>
        </p:nvSpPr>
        <p:spPr>
          <a:xfrm>
            <a:off x="80657" y="3497013"/>
            <a:ext cx="995785" cy="707886"/>
          </a:xfrm>
          <a:prstGeom prst="rect">
            <a:avLst/>
          </a:prstGeom>
          <a:noFill/>
        </p:spPr>
        <p:txBody>
          <a:bodyPr wrap="none" rtlCol="0">
            <a:spAutoFit/>
          </a:bodyPr>
          <a:lstStyle/>
          <a:p>
            <a:pPr algn="ctr"/>
            <a:r>
              <a:rPr lang="en-US" sz="2000" b="1" dirty="0">
                <a:solidFill>
                  <a:schemeClr val="accent6"/>
                </a:solidFill>
              </a:rPr>
              <a:t>Specific</a:t>
            </a:r>
          </a:p>
          <a:p>
            <a:pPr algn="ctr"/>
            <a:r>
              <a:rPr lang="en-US" sz="2000" b="1" dirty="0">
                <a:solidFill>
                  <a:schemeClr val="accent6"/>
                </a:solidFill>
              </a:rPr>
              <a:t>Steps</a:t>
            </a:r>
          </a:p>
        </p:txBody>
      </p:sp>
    </p:spTree>
    <p:extLst>
      <p:ext uri="{BB962C8B-B14F-4D97-AF65-F5344CB8AC3E}">
        <p14:creationId xmlns:p14="http://schemas.microsoft.com/office/powerpoint/2010/main" val="1227561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0" grpId="0" animBg="1"/>
      <p:bldP spid="1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35042-21EB-2B3F-5DFA-432A2CFFE0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0ADDBC-1565-E30C-720E-19638BF5BE81}"/>
              </a:ext>
            </a:extLst>
          </p:cNvPr>
          <p:cNvSpPr>
            <a:spLocks noGrp="1"/>
          </p:cNvSpPr>
          <p:nvPr>
            <p:ph type="title"/>
          </p:nvPr>
        </p:nvSpPr>
        <p:spPr>
          <a:xfrm>
            <a:off x="838200" y="1603332"/>
            <a:ext cx="10920984" cy="613776"/>
          </a:xfrm>
        </p:spPr>
        <p:txBody>
          <a:bodyPr>
            <a:normAutofit fontScale="90000"/>
          </a:bodyPr>
          <a:lstStyle/>
          <a:p>
            <a:pPr lvl="0">
              <a:lnSpc>
                <a:spcPct val="100000"/>
              </a:lnSpc>
              <a:spcBef>
                <a:spcPts val="640"/>
              </a:spcBef>
              <a:buSzPts val="3200"/>
            </a:pPr>
            <a:r>
              <a:rPr lang="en-US" sz="4000" b="1" dirty="0"/>
              <a:t>1. Articulate goals &amp; concerns</a:t>
            </a:r>
          </a:p>
        </p:txBody>
      </p:sp>
      <p:sp>
        <p:nvSpPr>
          <p:cNvPr id="4" name="Title 1">
            <a:extLst>
              <a:ext uri="{FF2B5EF4-FFF2-40B4-BE49-F238E27FC236}">
                <a16:creationId xmlns:a16="http://schemas.microsoft.com/office/drawing/2014/main" id="{B1797433-6834-11F5-55A0-E4DB0D7021AC}"/>
              </a:ext>
            </a:extLst>
          </p:cNvPr>
          <p:cNvSpPr txBox="1">
            <a:spLocks/>
          </p:cNvSpPr>
          <p:nvPr/>
        </p:nvSpPr>
        <p:spPr>
          <a:xfrm>
            <a:off x="933022" y="5936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5" name="TextBox 4">
            <a:extLst>
              <a:ext uri="{FF2B5EF4-FFF2-40B4-BE49-F238E27FC236}">
                <a16:creationId xmlns:a16="http://schemas.microsoft.com/office/drawing/2014/main" id="{677D6E08-C371-7B4F-D2B0-1F82CEB5253A}"/>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6" name="TextBox 5">
            <a:extLst>
              <a:ext uri="{FF2B5EF4-FFF2-40B4-BE49-F238E27FC236}">
                <a16:creationId xmlns:a16="http://schemas.microsoft.com/office/drawing/2014/main" id="{D17B5C50-39CA-A11C-4C16-8027D0DC333F}"/>
              </a:ext>
            </a:extLst>
          </p:cNvPr>
          <p:cNvSpPr txBox="1"/>
          <p:nvPr/>
        </p:nvSpPr>
        <p:spPr>
          <a:xfrm>
            <a:off x="1069932" y="2320782"/>
            <a:ext cx="9664873" cy="3465564"/>
          </a:xfrm>
          <a:prstGeom prst="rect">
            <a:avLst/>
          </a:prstGeom>
          <a:noFill/>
        </p:spPr>
        <p:txBody>
          <a:bodyPr wrap="square">
            <a:spAutoFit/>
          </a:bodyPr>
          <a:lstStyle/>
          <a:p>
            <a:pPr marL="0" indent="0" eaLnBrk="1" hangingPunct="1">
              <a:lnSpc>
                <a:spcPct val="120000"/>
              </a:lnSpc>
              <a:buFont typeface="Arial" charset="0"/>
              <a:buNone/>
            </a:pPr>
            <a:r>
              <a:rPr lang="en-US" sz="2400" b="1" dirty="0">
                <a:solidFill>
                  <a:schemeClr val="tx1"/>
                </a:solidFill>
                <a:ea typeface="MS PGothic" charset="0"/>
              </a:rPr>
              <a:t>To help identify the values that should drive the decision, think about:</a:t>
            </a:r>
          </a:p>
          <a:p>
            <a:pPr indent="-457200">
              <a:lnSpc>
                <a:spcPct val="120000"/>
              </a:lnSpc>
              <a:buFont typeface="Arial" panose="020B0604020202020204" pitchFamily="34" charset="0"/>
              <a:buChar char="•"/>
            </a:pPr>
            <a:r>
              <a:rPr lang="en-US" sz="2000" dirty="0">
                <a:solidFill>
                  <a:schemeClr val="tx1"/>
                </a:solidFill>
              </a:rPr>
              <a:t>What do you hope to achieve with this decision?</a:t>
            </a:r>
            <a:r>
              <a:rPr lang="en-US" sz="2000" dirty="0">
                <a:solidFill>
                  <a:schemeClr val="tx1"/>
                </a:solidFill>
                <a:ea typeface="MS PGothic" charset="0"/>
              </a:rPr>
              <a:t> </a:t>
            </a:r>
          </a:p>
          <a:p>
            <a:pPr indent="-457200">
              <a:lnSpc>
                <a:spcPct val="120000"/>
              </a:lnSpc>
              <a:buFont typeface="Arial" panose="020B0604020202020204" pitchFamily="34" charset="0"/>
              <a:buChar char="•"/>
            </a:pPr>
            <a:r>
              <a:rPr lang="en-US" sz="2000" dirty="0">
                <a:solidFill>
                  <a:schemeClr val="tx1"/>
                </a:solidFill>
                <a:ea typeface="MS PGothic" charset="0"/>
              </a:rPr>
              <a:t>What concerns will this decision address?</a:t>
            </a:r>
          </a:p>
          <a:p>
            <a:pPr indent="-457200">
              <a:lnSpc>
                <a:spcPct val="120000"/>
              </a:lnSpc>
              <a:buFont typeface="Arial" panose="020B0604020202020204" pitchFamily="34" charset="0"/>
              <a:buChar char="•"/>
            </a:pPr>
            <a:r>
              <a:rPr lang="en-US" sz="2000" dirty="0">
                <a:solidFill>
                  <a:schemeClr val="tx1"/>
                </a:solidFill>
                <a:ea typeface="MS PGothic" charset="0"/>
              </a:rPr>
              <a:t>What’s wrong with the current situation? </a:t>
            </a:r>
          </a:p>
          <a:p>
            <a:pPr indent="-457200">
              <a:lnSpc>
                <a:spcPct val="120000"/>
              </a:lnSpc>
              <a:buFont typeface="Arial" panose="020B0604020202020204" pitchFamily="34" charset="0"/>
              <a:buChar char="•"/>
            </a:pPr>
            <a:r>
              <a:rPr lang="en-US" sz="2000" dirty="0">
                <a:solidFill>
                  <a:schemeClr val="tx1"/>
                </a:solidFill>
                <a:ea typeface="MS PGothic" charset="0"/>
              </a:rPr>
              <a:t>How can the current situation be improved?</a:t>
            </a:r>
          </a:p>
          <a:p>
            <a:pPr indent="-457200">
              <a:lnSpc>
                <a:spcPct val="120000"/>
              </a:lnSpc>
              <a:buFont typeface="Arial" panose="020B0604020202020204" pitchFamily="34" charset="0"/>
              <a:buChar char="•"/>
            </a:pPr>
            <a:r>
              <a:rPr lang="en-US" sz="2000" dirty="0">
                <a:solidFill>
                  <a:schemeClr val="tx1"/>
                </a:solidFill>
                <a:ea typeface="MS PGothic" charset="0"/>
              </a:rPr>
              <a:t>What is the best (and worst) possible outcome  from this decision?</a:t>
            </a:r>
            <a:endParaRPr lang="en-US" sz="2000" dirty="0">
              <a:ea typeface="MS PGothic" charset="0"/>
            </a:endParaRPr>
          </a:p>
          <a:p>
            <a:pPr marL="342900" indent="-342900">
              <a:lnSpc>
                <a:spcPct val="120000"/>
              </a:lnSpc>
              <a:buFont typeface="Arial" panose="020B0604020202020204" pitchFamily="34" charset="0"/>
              <a:buChar char="•"/>
            </a:pPr>
            <a:r>
              <a:rPr lang="en-US" sz="2000" dirty="0">
                <a:solidFill>
                  <a:schemeClr val="tx1"/>
                </a:solidFill>
                <a:ea typeface="MS PGothic" charset="0"/>
              </a:rPr>
              <a:t>If you do make a decision, what do you want to avoid?</a:t>
            </a:r>
          </a:p>
          <a:p>
            <a:pPr marL="342900" indent="-342900">
              <a:lnSpc>
                <a:spcPct val="120000"/>
              </a:lnSpc>
              <a:buFont typeface="Arial" panose="020B0604020202020204" pitchFamily="34" charset="0"/>
              <a:buChar char="•"/>
            </a:pPr>
            <a:r>
              <a:rPr lang="en-US" sz="2000" dirty="0">
                <a:solidFill>
                  <a:schemeClr val="tx1"/>
                </a:solidFill>
                <a:ea typeface="MS PGothic" charset="0"/>
              </a:rPr>
              <a:t>If you don’t make a decision, what will happen?</a:t>
            </a:r>
          </a:p>
          <a:p>
            <a:pPr marL="342900" indent="-342900">
              <a:lnSpc>
                <a:spcPct val="120000"/>
              </a:lnSpc>
              <a:buFont typeface="Arial" panose="020B0604020202020204" pitchFamily="34" charset="0"/>
              <a:buChar char="•"/>
            </a:pPr>
            <a:r>
              <a:rPr lang="en-US" sz="2000" dirty="0">
                <a:solidFill>
                  <a:schemeClr val="tx1"/>
                </a:solidFill>
                <a:ea typeface="MS PGothic" charset="0"/>
              </a:rPr>
              <a:t>What does this issue look like from other perspectives?</a:t>
            </a:r>
            <a:endParaRPr lang="en-US" sz="2400" dirty="0">
              <a:solidFill>
                <a:schemeClr val="tx1"/>
              </a:solidFill>
              <a:ea typeface="MS PGothic" charset="0"/>
            </a:endParaRPr>
          </a:p>
        </p:txBody>
      </p:sp>
      <p:pic>
        <p:nvPicPr>
          <p:cNvPr id="8" name="Picture 7" descr="Magnifying glass and question mark">
            <a:extLst>
              <a:ext uri="{FF2B5EF4-FFF2-40B4-BE49-F238E27FC236}">
                <a16:creationId xmlns:a16="http://schemas.microsoft.com/office/drawing/2014/main" id="{2507D211-77FC-9C99-5F68-7CD46A81A490}"/>
              </a:ext>
            </a:extLst>
          </p:cNvPr>
          <p:cNvPicPr>
            <a:picLocks noChangeAspect="1"/>
          </p:cNvPicPr>
          <p:nvPr/>
        </p:nvPicPr>
        <p:blipFill>
          <a:blip r:embed="rId3">
            <a:extLst>
              <a:ext uri="{28A0092B-C50C-407E-A947-70E740481C1C}">
                <a14:useLocalDpi xmlns:a14="http://schemas.microsoft.com/office/drawing/2010/main" val="0"/>
              </a:ext>
            </a:extLst>
          </a:blip>
          <a:srcRect l="26917" t="12968" r="25143"/>
          <a:stretch>
            <a:fillRect/>
          </a:stretch>
        </p:blipFill>
        <p:spPr>
          <a:xfrm>
            <a:off x="8622023" y="2825775"/>
            <a:ext cx="3182714" cy="3250234"/>
          </a:xfrm>
          <a:prstGeom prst="rect">
            <a:avLst/>
          </a:prstGeom>
        </p:spPr>
      </p:pic>
    </p:spTree>
    <p:extLst>
      <p:ext uri="{BB962C8B-B14F-4D97-AF65-F5344CB8AC3E}">
        <p14:creationId xmlns:p14="http://schemas.microsoft.com/office/powerpoint/2010/main" val="1987270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AA01C-CE9F-15E4-548B-C747CB0DF1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2D21-A601-9E9B-AC77-1CB7C7944CAD}"/>
              </a:ext>
            </a:extLst>
          </p:cNvPr>
          <p:cNvSpPr>
            <a:spLocks noGrp="1"/>
          </p:cNvSpPr>
          <p:nvPr>
            <p:ph type="title"/>
          </p:nvPr>
        </p:nvSpPr>
        <p:spPr>
          <a:xfrm>
            <a:off x="838200" y="1603332"/>
            <a:ext cx="10920984" cy="613776"/>
          </a:xfrm>
        </p:spPr>
        <p:txBody>
          <a:bodyPr>
            <a:normAutofit fontScale="90000"/>
          </a:bodyPr>
          <a:lstStyle/>
          <a:p>
            <a:pPr lvl="0">
              <a:lnSpc>
                <a:spcPct val="100000"/>
              </a:lnSpc>
              <a:spcBef>
                <a:spcPts val="640"/>
              </a:spcBef>
              <a:buSzPts val="3200"/>
            </a:pPr>
            <a:r>
              <a:rPr lang="en-US" sz="4000" b="1" dirty="0"/>
              <a:t>1. Articulate goals &amp; concerns</a:t>
            </a:r>
          </a:p>
        </p:txBody>
      </p:sp>
      <p:sp>
        <p:nvSpPr>
          <p:cNvPr id="4" name="Title 1">
            <a:extLst>
              <a:ext uri="{FF2B5EF4-FFF2-40B4-BE49-F238E27FC236}">
                <a16:creationId xmlns:a16="http://schemas.microsoft.com/office/drawing/2014/main" id="{846F7D10-D94F-8F16-9411-5009F5B37A4D}"/>
              </a:ext>
            </a:extLst>
          </p:cNvPr>
          <p:cNvSpPr txBox="1">
            <a:spLocks/>
          </p:cNvSpPr>
          <p:nvPr/>
        </p:nvSpPr>
        <p:spPr>
          <a:xfrm>
            <a:off x="933022" y="5936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5" name="TextBox 4">
            <a:extLst>
              <a:ext uri="{FF2B5EF4-FFF2-40B4-BE49-F238E27FC236}">
                <a16:creationId xmlns:a16="http://schemas.microsoft.com/office/drawing/2014/main" id="{758A0139-3931-B112-F974-812B48188CBC}"/>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7" name="TextBox 6">
            <a:extLst>
              <a:ext uri="{FF2B5EF4-FFF2-40B4-BE49-F238E27FC236}">
                <a16:creationId xmlns:a16="http://schemas.microsoft.com/office/drawing/2014/main" id="{B5AC8CB2-E436-6181-21E9-103A882B6083}"/>
              </a:ext>
            </a:extLst>
          </p:cNvPr>
          <p:cNvSpPr txBox="1"/>
          <p:nvPr/>
        </p:nvSpPr>
        <p:spPr>
          <a:xfrm>
            <a:off x="1571795" y="2327772"/>
            <a:ext cx="5367625" cy="3546805"/>
          </a:xfrm>
          <a:prstGeom prst="rect">
            <a:avLst/>
          </a:prstGeom>
          <a:noFill/>
        </p:spPr>
        <p:txBody>
          <a:bodyPr wrap="square">
            <a:spAutoFit/>
          </a:bodyPr>
          <a:lstStyle/>
          <a:p>
            <a:pPr>
              <a:lnSpc>
                <a:spcPct val="120000"/>
              </a:lnSpc>
              <a:spcBef>
                <a:spcPts val="800"/>
              </a:spcBef>
            </a:pPr>
            <a:r>
              <a:rPr lang="en-US" sz="2800" b="1" dirty="0">
                <a:solidFill>
                  <a:schemeClr val="tx1"/>
                </a:solidFill>
                <a:ea typeface="MS PGothic" charset="0"/>
              </a:rPr>
              <a:t>Think of possible solutions</a:t>
            </a:r>
          </a:p>
          <a:p>
            <a:pPr marL="342900" indent="-342900">
              <a:lnSpc>
                <a:spcPct val="120000"/>
              </a:lnSpc>
              <a:spcBef>
                <a:spcPts val="800"/>
              </a:spcBef>
              <a:buFont typeface="Arial" panose="020B0604020202020204" pitchFamily="34" charset="0"/>
              <a:buChar char="•"/>
            </a:pPr>
            <a:r>
              <a:rPr lang="en-US" sz="2400" dirty="0">
                <a:solidFill>
                  <a:schemeClr val="tx1"/>
                </a:solidFill>
                <a:ea typeface="MS PGothic" charset="0"/>
              </a:rPr>
              <a:t>What do you like and dislike about these solutions?</a:t>
            </a:r>
          </a:p>
          <a:p>
            <a:pPr marL="342900" indent="-342900">
              <a:lnSpc>
                <a:spcPct val="120000"/>
              </a:lnSpc>
              <a:spcBef>
                <a:spcPts val="800"/>
              </a:spcBef>
              <a:buFont typeface="Arial" panose="020B0604020202020204" pitchFamily="34" charset="0"/>
              <a:buChar char="•"/>
            </a:pPr>
            <a:r>
              <a:rPr lang="en-US" sz="2400" dirty="0">
                <a:solidFill>
                  <a:schemeClr val="tx1"/>
                </a:solidFill>
                <a:ea typeface="MS PGothic" charset="0"/>
              </a:rPr>
              <a:t>What constraints and guidelines are restricting your choices?</a:t>
            </a:r>
          </a:p>
          <a:p>
            <a:pPr marL="342900" indent="-342900">
              <a:lnSpc>
                <a:spcPct val="120000"/>
              </a:lnSpc>
              <a:spcBef>
                <a:spcPts val="800"/>
              </a:spcBef>
              <a:buFont typeface="Arial" panose="020B0604020202020204" pitchFamily="34" charset="0"/>
              <a:buChar char="•"/>
            </a:pPr>
            <a:r>
              <a:rPr lang="en-US" sz="2400" dirty="0">
                <a:solidFill>
                  <a:schemeClr val="tx1"/>
                </a:solidFill>
                <a:ea typeface="MS PGothic" charset="0"/>
              </a:rPr>
              <a:t>Make goals and concerns distinct and independent</a:t>
            </a:r>
          </a:p>
        </p:txBody>
      </p:sp>
      <p:pic>
        <p:nvPicPr>
          <p:cNvPr id="13" name="Graphic 12" descr="Comment Dislike with solid fill">
            <a:extLst>
              <a:ext uri="{FF2B5EF4-FFF2-40B4-BE49-F238E27FC236}">
                <a16:creationId xmlns:a16="http://schemas.microsoft.com/office/drawing/2014/main" id="{7B7267A0-F067-F08C-1591-5B0043519A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flipH="1">
            <a:off x="9300243" y="3598102"/>
            <a:ext cx="2478066" cy="2478066"/>
          </a:xfrm>
          <a:prstGeom prst="rect">
            <a:avLst/>
          </a:prstGeom>
        </p:spPr>
      </p:pic>
      <p:pic>
        <p:nvPicPr>
          <p:cNvPr id="15" name="Graphic 14" descr="Comment Like with solid fill">
            <a:extLst>
              <a:ext uri="{FF2B5EF4-FFF2-40B4-BE49-F238E27FC236}">
                <a16:creationId xmlns:a16="http://schemas.microsoft.com/office/drawing/2014/main" id="{39C075B9-7ADF-438C-3AE2-A0C4A7B5FA9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29188" y="2359070"/>
            <a:ext cx="2478065" cy="2478065"/>
          </a:xfrm>
          <a:prstGeom prst="rect">
            <a:avLst/>
          </a:prstGeom>
        </p:spPr>
      </p:pic>
    </p:spTree>
    <p:extLst>
      <p:ext uri="{BB962C8B-B14F-4D97-AF65-F5344CB8AC3E}">
        <p14:creationId xmlns:p14="http://schemas.microsoft.com/office/powerpoint/2010/main" val="15688798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6797F-DD9E-25FC-FAE7-5A5422603B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50A41E-8BCE-299F-D93F-7B2787210A5C}"/>
              </a:ext>
            </a:extLst>
          </p:cNvPr>
          <p:cNvSpPr>
            <a:spLocks noGrp="1"/>
          </p:cNvSpPr>
          <p:nvPr>
            <p:ph type="title"/>
          </p:nvPr>
        </p:nvSpPr>
        <p:spPr>
          <a:xfrm>
            <a:off x="1598655" y="1732172"/>
            <a:ext cx="10644368" cy="3206602"/>
          </a:xfrm>
        </p:spPr>
        <p:txBody>
          <a:bodyPr>
            <a:normAutofit/>
          </a:bodyPr>
          <a:lstStyle/>
          <a:p>
            <a:pPr lvl="0">
              <a:lnSpc>
                <a:spcPct val="100000"/>
              </a:lnSpc>
              <a:spcBef>
                <a:spcPts val="640"/>
              </a:spcBef>
              <a:buSzPts val="3200"/>
            </a:pPr>
            <a:r>
              <a:rPr lang="en-US" sz="4000" dirty="0"/>
              <a:t>1. Articulate goals &amp; concerns</a:t>
            </a:r>
            <a:br>
              <a:rPr lang="en-US" sz="4000" dirty="0"/>
            </a:br>
            <a:r>
              <a:rPr lang="en-US" sz="4000" b="1" u="sng" dirty="0"/>
              <a:t>2. </a:t>
            </a:r>
            <a:r>
              <a:rPr lang="en-US" sz="4000" b="1" u="sng" dirty="0">
                <a:solidFill>
                  <a:schemeClr val="dk1"/>
                </a:solidFill>
              </a:rPr>
              <a:t>Convert goals &amp; concerns to objectives</a:t>
            </a:r>
            <a:br>
              <a:rPr lang="en-US" sz="4000" b="1" dirty="0"/>
            </a:br>
            <a:br>
              <a:rPr lang="en-US" sz="4000" b="1" dirty="0"/>
            </a:br>
            <a:endParaRPr lang="en-US" sz="4000" b="1" dirty="0"/>
          </a:p>
        </p:txBody>
      </p:sp>
      <p:sp>
        <p:nvSpPr>
          <p:cNvPr id="4" name="Title 1">
            <a:extLst>
              <a:ext uri="{FF2B5EF4-FFF2-40B4-BE49-F238E27FC236}">
                <a16:creationId xmlns:a16="http://schemas.microsoft.com/office/drawing/2014/main" id="{3553A2CE-0BFF-6A12-FA75-E2D17B23B48E}"/>
              </a:ext>
            </a:extLst>
          </p:cNvPr>
          <p:cNvSpPr txBox="1">
            <a:spLocks/>
          </p:cNvSpPr>
          <p:nvPr/>
        </p:nvSpPr>
        <p:spPr>
          <a:xfrm>
            <a:off x="933022" y="5936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5" name="TextBox 4">
            <a:extLst>
              <a:ext uri="{FF2B5EF4-FFF2-40B4-BE49-F238E27FC236}">
                <a16:creationId xmlns:a16="http://schemas.microsoft.com/office/drawing/2014/main" id="{C510A651-5605-E3A4-A207-F17B437D2535}"/>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Left Brace 7">
            <a:extLst>
              <a:ext uri="{FF2B5EF4-FFF2-40B4-BE49-F238E27FC236}">
                <a16:creationId xmlns:a16="http://schemas.microsoft.com/office/drawing/2014/main" id="{30D69CAE-27A5-9C59-9CFF-DF91A333094F}"/>
              </a:ext>
            </a:extLst>
          </p:cNvPr>
          <p:cNvSpPr/>
          <p:nvPr/>
        </p:nvSpPr>
        <p:spPr>
          <a:xfrm>
            <a:off x="1046948" y="2287439"/>
            <a:ext cx="601449" cy="867077"/>
          </a:xfrm>
          <a:prstGeom prst="leftBrace">
            <a:avLst/>
          </a:prstGeom>
          <a:ln w="381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1DE84525-B333-FC7A-7B4A-015D350EF3A5}"/>
              </a:ext>
            </a:extLst>
          </p:cNvPr>
          <p:cNvSpPr txBox="1"/>
          <p:nvPr/>
        </p:nvSpPr>
        <p:spPr>
          <a:xfrm>
            <a:off x="110153" y="2299159"/>
            <a:ext cx="936795" cy="707886"/>
          </a:xfrm>
          <a:prstGeom prst="rect">
            <a:avLst/>
          </a:prstGeom>
          <a:noFill/>
        </p:spPr>
        <p:txBody>
          <a:bodyPr wrap="none" rtlCol="0">
            <a:spAutoFit/>
          </a:bodyPr>
          <a:lstStyle/>
          <a:p>
            <a:pPr algn="ctr"/>
            <a:r>
              <a:rPr lang="en-US" sz="2000" b="1" dirty="0">
                <a:solidFill>
                  <a:schemeClr val="accent1"/>
                </a:solidFill>
              </a:rPr>
              <a:t>Big</a:t>
            </a:r>
          </a:p>
          <a:p>
            <a:pPr algn="ctr"/>
            <a:r>
              <a:rPr lang="en-US" sz="2000" b="1" dirty="0">
                <a:solidFill>
                  <a:schemeClr val="accent1"/>
                </a:solidFill>
              </a:rPr>
              <a:t>picture</a:t>
            </a:r>
          </a:p>
        </p:txBody>
      </p:sp>
    </p:spTree>
    <p:extLst>
      <p:ext uri="{BB962C8B-B14F-4D97-AF65-F5344CB8AC3E}">
        <p14:creationId xmlns:p14="http://schemas.microsoft.com/office/powerpoint/2010/main" val="1527614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5CC8E-B69E-DEF7-7CAD-A26539123C55}"/>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2467A-F1C4-A6B9-A964-429644FEBB44}"/>
              </a:ext>
            </a:extLst>
          </p:cNvPr>
          <p:cNvGraphicFramePr>
            <a:graphicFrameLocks noGrp="1"/>
          </p:cNvGraphicFramePr>
          <p:nvPr/>
        </p:nvGraphicFramePr>
        <p:xfrm>
          <a:off x="838200" y="1751486"/>
          <a:ext cx="11119104" cy="4352667"/>
        </p:xfrm>
        <a:graphic>
          <a:graphicData uri="http://schemas.openxmlformats.org/drawingml/2006/table">
            <a:tbl>
              <a:tblPr firstRow="1" firstCol="1" lastRow="1" lastCol="1" bandRow="1" bandCol="1"/>
              <a:tblGrid>
                <a:gridCol w="3776422">
                  <a:extLst>
                    <a:ext uri="{9D8B030D-6E8A-4147-A177-3AD203B41FA5}">
                      <a16:colId xmlns:a16="http://schemas.microsoft.com/office/drawing/2014/main" val="20000"/>
                    </a:ext>
                  </a:extLst>
                </a:gridCol>
                <a:gridCol w="3295313">
                  <a:extLst>
                    <a:ext uri="{9D8B030D-6E8A-4147-A177-3AD203B41FA5}">
                      <a16:colId xmlns:a16="http://schemas.microsoft.com/office/drawing/2014/main" val="20001"/>
                    </a:ext>
                  </a:extLst>
                </a:gridCol>
                <a:gridCol w="4047369">
                  <a:extLst>
                    <a:ext uri="{9D8B030D-6E8A-4147-A177-3AD203B41FA5}">
                      <a16:colId xmlns:a16="http://schemas.microsoft.com/office/drawing/2014/main" val="20002"/>
                    </a:ext>
                  </a:extLst>
                </a:gridCol>
              </a:tblGrid>
              <a:tr h="317098">
                <a:tc>
                  <a:txBody>
                    <a:bodyPr/>
                    <a:lstStyle/>
                    <a:p>
                      <a:pPr marL="64770" marR="0">
                        <a:lnSpc>
                          <a:spcPct val="115000"/>
                        </a:lnSpc>
                        <a:spcBef>
                          <a:spcPts val="270"/>
                        </a:spcBef>
                        <a:spcAft>
                          <a:spcPts val="0"/>
                        </a:spcAft>
                      </a:pPr>
                      <a:r>
                        <a:rPr lang="en-US" sz="2000" b="1" i="1" spc="-5" dirty="0">
                          <a:effectLst/>
                          <a:latin typeface="+mn-lt"/>
                          <a:ea typeface="Times New Roman"/>
                          <a:cs typeface="Times New Roman"/>
                        </a:rPr>
                        <a:t>G</a:t>
                      </a:r>
                      <a:r>
                        <a:rPr lang="en-US" sz="2000" b="1" i="1" spc="5" dirty="0">
                          <a:effectLst/>
                          <a:latin typeface="+mn-lt"/>
                          <a:ea typeface="Times New Roman"/>
                          <a:cs typeface="Times New Roman"/>
                        </a:rPr>
                        <a:t>o</a:t>
                      </a:r>
                      <a:r>
                        <a:rPr lang="en-US" sz="2000" b="1" i="1" spc="-5" dirty="0">
                          <a:effectLst/>
                          <a:latin typeface="+mn-lt"/>
                          <a:ea typeface="Times New Roman"/>
                          <a:cs typeface="Times New Roman"/>
                        </a:rPr>
                        <a:t>a</a:t>
                      </a:r>
                      <a:r>
                        <a:rPr lang="en-US" sz="2000" b="1" i="1" dirty="0">
                          <a:effectLst/>
                          <a:latin typeface="+mn-lt"/>
                          <a:ea typeface="Times New Roman"/>
                          <a:cs typeface="Times New Roman"/>
                        </a:rPr>
                        <a:t>l</a:t>
                      </a:r>
                      <a:r>
                        <a:rPr lang="en-US" sz="2000" b="1" i="1" spc="5" dirty="0">
                          <a:effectLst/>
                          <a:latin typeface="+mn-lt"/>
                          <a:ea typeface="Times New Roman"/>
                          <a:cs typeface="Times New Roman"/>
                        </a:rPr>
                        <a:t> </a:t>
                      </a:r>
                      <a:r>
                        <a:rPr lang="en-US" sz="2000" b="1" i="1" spc="-5" dirty="0">
                          <a:effectLst/>
                          <a:latin typeface="+mn-lt"/>
                          <a:ea typeface="Times New Roman"/>
                          <a:cs typeface="Times New Roman"/>
                        </a:rPr>
                        <a:t>o</a:t>
                      </a:r>
                      <a:r>
                        <a:rPr lang="en-US" sz="2000" b="1" i="1" dirty="0">
                          <a:effectLst/>
                          <a:latin typeface="+mn-lt"/>
                          <a:ea typeface="Times New Roman"/>
                          <a:cs typeface="Times New Roman"/>
                        </a:rPr>
                        <a:t>r</a:t>
                      </a:r>
                      <a:r>
                        <a:rPr lang="en-US" sz="2000" b="1" i="1" spc="5" dirty="0">
                          <a:effectLst/>
                          <a:latin typeface="+mn-lt"/>
                          <a:ea typeface="Times New Roman"/>
                          <a:cs typeface="Times New Roman"/>
                        </a:rPr>
                        <a:t> </a:t>
                      </a:r>
                      <a:r>
                        <a:rPr lang="en-US" sz="2000" b="1" i="1" dirty="0">
                          <a:effectLst/>
                          <a:latin typeface="+mn-lt"/>
                          <a:ea typeface="Times New Roman"/>
                          <a:cs typeface="Times New Roman"/>
                        </a:rPr>
                        <a:t>C</a:t>
                      </a:r>
                      <a:r>
                        <a:rPr lang="en-US" sz="2000" b="1" i="1" spc="-5" dirty="0">
                          <a:effectLst/>
                          <a:latin typeface="+mn-lt"/>
                          <a:ea typeface="Times New Roman"/>
                          <a:cs typeface="Times New Roman"/>
                        </a:rPr>
                        <a:t>o</a:t>
                      </a:r>
                      <a:r>
                        <a:rPr lang="en-US" sz="2000" b="1" i="1" dirty="0">
                          <a:effectLst/>
                          <a:latin typeface="+mn-lt"/>
                          <a:ea typeface="Times New Roman"/>
                          <a:cs typeface="Times New Roman"/>
                        </a:rPr>
                        <a:t>nc</a:t>
                      </a:r>
                      <a:r>
                        <a:rPr lang="en-US" sz="2000" b="1" i="1" spc="-10" dirty="0">
                          <a:effectLst/>
                          <a:latin typeface="+mn-lt"/>
                          <a:ea typeface="Times New Roman"/>
                          <a:cs typeface="Times New Roman"/>
                        </a:rPr>
                        <a:t>e</a:t>
                      </a:r>
                      <a:r>
                        <a:rPr lang="en-US" sz="2000" b="1" i="1" spc="5" dirty="0">
                          <a:effectLst/>
                          <a:latin typeface="+mn-lt"/>
                          <a:ea typeface="Times New Roman"/>
                          <a:cs typeface="Times New Roman"/>
                        </a:rPr>
                        <a:t>r</a:t>
                      </a:r>
                      <a:r>
                        <a:rPr lang="en-US" sz="2000" b="1" i="1" dirty="0">
                          <a:effectLst/>
                          <a:latin typeface="+mn-lt"/>
                          <a:ea typeface="Times New Roman"/>
                          <a:cs typeface="Times New Roman"/>
                        </a:rPr>
                        <a:t>n</a:t>
                      </a:r>
                      <a:endParaRPr lang="en-US" sz="2000" dirty="0">
                        <a:effectLst/>
                        <a:latin typeface="+mn-lt"/>
                        <a:ea typeface="Calibri"/>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0">
                        <a:lnSpc>
                          <a:spcPct val="115000"/>
                        </a:lnSpc>
                        <a:spcBef>
                          <a:spcPts val="270"/>
                        </a:spcBef>
                        <a:spcAft>
                          <a:spcPts val="0"/>
                        </a:spcAft>
                      </a:pPr>
                      <a:r>
                        <a:rPr lang="en-US" sz="2000" b="1" i="1" spc="-5" dirty="0">
                          <a:effectLst/>
                          <a:latin typeface="+mn-lt"/>
                          <a:ea typeface="Times New Roman"/>
                          <a:cs typeface="Times New Roman"/>
                        </a:rPr>
                        <a:t>Hope to Achieve</a:t>
                      </a:r>
                      <a:endParaRPr lang="en-US" sz="2000" dirty="0">
                        <a:effectLst/>
                        <a:latin typeface="+mn-lt"/>
                        <a:ea typeface="Calibri"/>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0">
                        <a:lnSpc>
                          <a:spcPct val="115000"/>
                        </a:lnSpc>
                        <a:spcBef>
                          <a:spcPts val="270"/>
                        </a:spcBef>
                        <a:spcAft>
                          <a:spcPts val="0"/>
                        </a:spcAft>
                      </a:pPr>
                      <a:r>
                        <a:rPr lang="en-US" sz="2000" b="1" i="1" spc="-5" dirty="0">
                          <a:effectLst/>
                          <a:latin typeface="+mn-lt"/>
                          <a:ea typeface="Times New Roman"/>
                          <a:cs typeface="Times New Roman"/>
                        </a:rPr>
                        <a:t>P</a:t>
                      </a:r>
                      <a:r>
                        <a:rPr lang="en-US" sz="2000" b="1" i="1" spc="5" dirty="0">
                          <a:effectLst/>
                          <a:latin typeface="+mn-lt"/>
                          <a:ea typeface="Times New Roman"/>
                          <a:cs typeface="Times New Roman"/>
                        </a:rPr>
                        <a:t>ot</a:t>
                      </a:r>
                      <a:r>
                        <a:rPr lang="en-US" sz="2000" b="1" i="1" dirty="0">
                          <a:effectLst/>
                          <a:latin typeface="+mn-lt"/>
                          <a:ea typeface="Times New Roman"/>
                          <a:cs typeface="Times New Roman"/>
                        </a:rPr>
                        <a:t>e</a:t>
                      </a:r>
                      <a:r>
                        <a:rPr lang="en-US" sz="2000" b="1" i="1" spc="-15" dirty="0">
                          <a:effectLst/>
                          <a:latin typeface="+mn-lt"/>
                          <a:ea typeface="Times New Roman"/>
                          <a:cs typeface="Times New Roman"/>
                        </a:rPr>
                        <a:t>n</a:t>
                      </a:r>
                      <a:r>
                        <a:rPr lang="en-US" sz="2000" b="1" i="1" spc="5" dirty="0">
                          <a:effectLst/>
                          <a:latin typeface="+mn-lt"/>
                          <a:ea typeface="Times New Roman"/>
                          <a:cs typeface="Times New Roman"/>
                        </a:rPr>
                        <a:t>t</a:t>
                      </a:r>
                      <a:r>
                        <a:rPr lang="en-US" sz="2000" b="1" i="1" spc="-5" dirty="0">
                          <a:effectLst/>
                          <a:latin typeface="+mn-lt"/>
                          <a:ea typeface="Times New Roman"/>
                          <a:cs typeface="Times New Roman"/>
                        </a:rPr>
                        <a:t>ia</a:t>
                      </a:r>
                      <a:r>
                        <a:rPr lang="en-US" sz="2000" b="1" i="1" dirty="0">
                          <a:effectLst/>
                          <a:latin typeface="+mn-lt"/>
                          <a:ea typeface="Times New Roman"/>
                          <a:cs typeface="Times New Roman"/>
                        </a:rPr>
                        <a:t>l</a:t>
                      </a:r>
                      <a:r>
                        <a:rPr lang="en-US" sz="2000" b="1" i="1" spc="5" dirty="0">
                          <a:effectLst/>
                          <a:latin typeface="+mn-lt"/>
                          <a:ea typeface="Times New Roman"/>
                          <a:cs typeface="Times New Roman"/>
                        </a:rPr>
                        <a:t> </a:t>
                      </a:r>
                      <a:r>
                        <a:rPr lang="en-US" sz="2000" b="1" i="1" spc="-5" dirty="0">
                          <a:effectLst/>
                          <a:latin typeface="+mn-lt"/>
                          <a:ea typeface="Times New Roman"/>
                          <a:cs typeface="Times New Roman"/>
                        </a:rPr>
                        <a:t>Ob</a:t>
                      </a:r>
                      <a:r>
                        <a:rPr lang="en-US" sz="2000" b="1" i="1" spc="5" dirty="0">
                          <a:effectLst/>
                          <a:latin typeface="+mn-lt"/>
                          <a:ea typeface="Times New Roman"/>
                          <a:cs typeface="Times New Roman"/>
                        </a:rPr>
                        <a:t>j</a:t>
                      </a:r>
                      <a:r>
                        <a:rPr lang="en-US" sz="2000" b="1" i="1" dirty="0">
                          <a:effectLst/>
                          <a:latin typeface="+mn-lt"/>
                          <a:ea typeface="Times New Roman"/>
                          <a:cs typeface="Times New Roman"/>
                        </a:rPr>
                        <a:t>e</a:t>
                      </a:r>
                      <a:r>
                        <a:rPr lang="en-US" sz="2000" b="1" i="1" spc="-10" dirty="0">
                          <a:effectLst/>
                          <a:latin typeface="+mn-lt"/>
                          <a:ea typeface="Times New Roman"/>
                          <a:cs typeface="Times New Roman"/>
                        </a:rPr>
                        <a:t>c</a:t>
                      </a:r>
                      <a:r>
                        <a:rPr lang="en-US" sz="2000" b="1" i="1" spc="5" dirty="0">
                          <a:effectLst/>
                          <a:latin typeface="+mn-lt"/>
                          <a:ea typeface="Times New Roman"/>
                          <a:cs typeface="Times New Roman"/>
                        </a:rPr>
                        <a:t>ti</a:t>
                      </a:r>
                      <a:r>
                        <a:rPr lang="en-US" sz="2000" b="1" i="1" spc="-10" dirty="0">
                          <a:effectLst/>
                          <a:latin typeface="+mn-lt"/>
                          <a:ea typeface="Times New Roman"/>
                          <a:cs typeface="Times New Roman"/>
                        </a:rPr>
                        <a:t>v</a:t>
                      </a:r>
                      <a:r>
                        <a:rPr lang="en-US" sz="2000" b="1" i="1" dirty="0">
                          <a:effectLst/>
                          <a:latin typeface="+mn-lt"/>
                          <a:ea typeface="Times New Roman"/>
                          <a:cs typeface="Times New Roman"/>
                        </a:rPr>
                        <a:t>e</a:t>
                      </a:r>
                      <a:endParaRPr lang="en-US" sz="2000" dirty="0">
                        <a:effectLst/>
                        <a:latin typeface="+mn-lt"/>
                        <a:ea typeface="Calibri"/>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594737">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5" dirty="0">
                          <a:effectLst/>
                          <a:latin typeface="+mn-lt"/>
                          <a:ea typeface="Times New Roman"/>
                          <a:cs typeface="Times New Roman"/>
                        </a:rPr>
                        <a:t>I</a:t>
                      </a:r>
                      <a:r>
                        <a:rPr lang="en-US" sz="2000" dirty="0">
                          <a:effectLst/>
                          <a:latin typeface="+mn-lt"/>
                          <a:ea typeface="Times New Roman"/>
                          <a:cs typeface="Times New Roman"/>
                        </a:rPr>
                        <a:t>t</a:t>
                      </a:r>
                      <a:r>
                        <a:rPr lang="en-US" sz="2000" spc="-5" dirty="0">
                          <a:effectLst/>
                          <a:latin typeface="+mn-lt"/>
                          <a:ea typeface="Times New Roman"/>
                          <a:cs typeface="Times New Roman"/>
                        </a:rPr>
                        <a:t>’</a:t>
                      </a:r>
                      <a:r>
                        <a:rPr lang="en-US" sz="2000" dirty="0">
                          <a:effectLst/>
                          <a:latin typeface="+mn-lt"/>
                          <a:ea typeface="Times New Roman"/>
                          <a:cs typeface="Times New Roman"/>
                        </a:rPr>
                        <a:t>s </a:t>
                      </a:r>
                      <a:r>
                        <a:rPr lang="en-US" sz="2000" spc="10" dirty="0">
                          <a:effectLst/>
                          <a:latin typeface="+mn-lt"/>
                          <a:ea typeface="Times New Roman"/>
                          <a:cs typeface="Times New Roman"/>
                        </a:rPr>
                        <a:t>h</a:t>
                      </a:r>
                      <a:r>
                        <a:rPr lang="en-US" sz="2000" spc="-5" dirty="0">
                          <a:effectLst/>
                          <a:latin typeface="+mn-lt"/>
                          <a:ea typeface="Times New Roman"/>
                          <a:cs typeface="Times New Roman"/>
                        </a:rPr>
                        <a:t>ar</a:t>
                      </a:r>
                      <a:r>
                        <a:rPr lang="en-US" sz="2000" dirty="0">
                          <a:effectLst/>
                          <a:latin typeface="+mn-lt"/>
                          <a:ea typeface="Times New Roman"/>
                          <a:cs typeface="Times New Roman"/>
                        </a:rPr>
                        <a:t>d to </a:t>
                      </a:r>
                      <a:r>
                        <a:rPr lang="en-US" sz="2000" spc="5" dirty="0">
                          <a:effectLst/>
                          <a:latin typeface="+mn-lt"/>
                          <a:ea typeface="Times New Roman"/>
                          <a:cs typeface="Times New Roman"/>
                        </a:rPr>
                        <a:t>c</a:t>
                      </a:r>
                      <a:r>
                        <a:rPr lang="en-US" sz="2000" spc="-5" dirty="0">
                          <a:effectLst/>
                          <a:latin typeface="+mn-lt"/>
                          <a:ea typeface="Times New Roman"/>
                          <a:cs typeface="Times New Roman"/>
                        </a:rPr>
                        <a:t>a</a:t>
                      </a:r>
                      <a:r>
                        <a:rPr lang="en-US" sz="2000" dirty="0">
                          <a:effectLst/>
                          <a:latin typeface="+mn-lt"/>
                          <a:ea typeface="Times New Roman"/>
                          <a:cs typeface="Times New Roman"/>
                        </a:rPr>
                        <a:t>t</a:t>
                      </a:r>
                      <a:r>
                        <a:rPr lang="en-US" sz="2000" spc="-5" dirty="0">
                          <a:effectLst/>
                          <a:latin typeface="+mn-lt"/>
                          <a:ea typeface="Times New Roman"/>
                          <a:cs typeface="Times New Roman"/>
                        </a:rPr>
                        <a:t>c</a:t>
                      </a:r>
                      <a:r>
                        <a:rPr lang="en-US" sz="2000" dirty="0">
                          <a:effectLst/>
                          <a:latin typeface="+mn-lt"/>
                          <a:ea typeface="Times New Roman"/>
                          <a:cs typeface="Times New Roman"/>
                        </a:rPr>
                        <a:t>h blu</a:t>
                      </a:r>
                      <a:r>
                        <a:rPr lang="en-US" sz="2000" spc="5" dirty="0">
                          <a:effectLst/>
                          <a:latin typeface="+mn-lt"/>
                          <a:ea typeface="Times New Roman"/>
                          <a:cs typeface="Times New Roman"/>
                        </a:rPr>
                        <a:t>e</a:t>
                      </a:r>
                      <a:r>
                        <a:rPr lang="en-US" sz="2000" spc="-10" dirty="0">
                          <a:effectLst/>
                          <a:latin typeface="+mn-lt"/>
                          <a:ea typeface="Times New Roman"/>
                          <a:cs typeface="Times New Roman"/>
                        </a:rPr>
                        <a:t>g</a:t>
                      </a:r>
                      <a:r>
                        <a:rPr lang="en-US" sz="2000" dirty="0">
                          <a:effectLst/>
                          <a:latin typeface="+mn-lt"/>
                          <a:ea typeface="Times New Roman"/>
                          <a:cs typeface="Times New Roman"/>
                        </a:rPr>
                        <a:t>ills </a:t>
                      </a:r>
                      <a:r>
                        <a:rPr lang="en-US" sz="2000" spc="-5" dirty="0">
                          <a:effectLst/>
                          <a:latin typeface="+mn-lt"/>
                          <a:ea typeface="Times New Roman"/>
                          <a:cs typeface="Times New Roman"/>
                        </a:rPr>
                        <a:t>a</a:t>
                      </a:r>
                      <a:r>
                        <a:rPr lang="en-US" sz="2000" spc="10" dirty="0">
                          <a:effectLst/>
                          <a:latin typeface="+mn-lt"/>
                          <a:ea typeface="Times New Roman"/>
                          <a:cs typeface="Times New Roman"/>
                        </a:rPr>
                        <a:t>n</a:t>
                      </a:r>
                      <a:r>
                        <a:rPr lang="en-US" sz="2000" dirty="0">
                          <a:effectLst/>
                          <a:latin typeface="+mn-lt"/>
                          <a:ea typeface="Times New Roman"/>
                          <a:cs typeface="Times New Roman"/>
                        </a:rPr>
                        <a:t>y</a:t>
                      </a:r>
                      <a:r>
                        <a:rPr lang="en-US" sz="2000" spc="-25" dirty="0">
                          <a:effectLst/>
                          <a:latin typeface="+mn-lt"/>
                          <a:ea typeface="Times New Roman"/>
                          <a:cs typeface="Times New Roman"/>
                        </a:rPr>
                        <a:t> </a:t>
                      </a:r>
                      <a:r>
                        <a:rPr lang="en-US" sz="2000" dirty="0">
                          <a:effectLst/>
                          <a:latin typeface="+mn-lt"/>
                          <a:ea typeface="Times New Roman"/>
                          <a:cs typeface="Times New Roman"/>
                        </a:rPr>
                        <a:t>mo</a:t>
                      </a:r>
                      <a:r>
                        <a:rPr lang="en-US" sz="2000" spc="10" dirty="0">
                          <a:effectLst/>
                          <a:latin typeface="+mn-lt"/>
                          <a:ea typeface="Times New Roman"/>
                          <a:cs typeface="Times New Roman"/>
                        </a:rPr>
                        <a:t>r</a:t>
                      </a:r>
                      <a:r>
                        <a:rPr lang="en-US" sz="2000" dirty="0">
                          <a:effectLst/>
                          <a:latin typeface="+mn-lt"/>
                          <a:ea typeface="Times New Roman"/>
                          <a:cs typeface="Times New Roman"/>
                        </a:rPr>
                        <a:t>e</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5" dirty="0">
                          <a:effectLst/>
                          <a:latin typeface="+mn-lt"/>
                          <a:ea typeface="Times New Roman"/>
                          <a:cs typeface="Times New Roman"/>
                        </a:rPr>
                        <a:t>Improve fishing</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75655">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M</a:t>
                      </a:r>
                      <a:r>
                        <a:rPr lang="en-US" sz="2000" spc="-5" dirty="0">
                          <a:effectLst/>
                          <a:latin typeface="+mn-lt"/>
                          <a:ea typeface="Times New Roman"/>
                          <a:cs typeface="Times New Roman"/>
                        </a:rPr>
                        <a:t>a</a:t>
                      </a:r>
                      <a:r>
                        <a:rPr lang="en-US" sz="2000" spc="10" dirty="0">
                          <a:effectLst/>
                          <a:latin typeface="+mn-lt"/>
                          <a:ea typeface="Times New Roman"/>
                          <a:cs typeface="Times New Roman"/>
                        </a:rPr>
                        <a:t>n</a:t>
                      </a:r>
                      <a:r>
                        <a:rPr lang="en-US" sz="2000" dirty="0">
                          <a:effectLst/>
                          <a:latin typeface="+mn-lt"/>
                          <a:ea typeface="Times New Roman"/>
                          <a:cs typeface="Times New Roman"/>
                        </a:rPr>
                        <a:t>y</a:t>
                      </a:r>
                      <a:r>
                        <a:rPr lang="en-US" sz="2000" spc="-25" dirty="0">
                          <a:effectLst/>
                          <a:latin typeface="+mn-lt"/>
                          <a:ea typeface="Times New Roman"/>
                          <a:cs typeface="Times New Roman"/>
                        </a:rPr>
                        <a:t> </a:t>
                      </a:r>
                      <a:r>
                        <a:rPr lang="en-US" sz="2000" dirty="0">
                          <a:effectLst/>
                          <a:latin typeface="+mn-lt"/>
                          <a:ea typeface="Times New Roman"/>
                          <a:cs typeface="Times New Roman"/>
                        </a:rPr>
                        <a:t>loons die</a:t>
                      </a:r>
                      <a:r>
                        <a:rPr lang="en-US" sz="2000" spc="-5" dirty="0">
                          <a:effectLst/>
                          <a:latin typeface="+mn-lt"/>
                          <a:ea typeface="Times New Roman"/>
                          <a:cs typeface="Times New Roman"/>
                        </a:rPr>
                        <a:t> </a:t>
                      </a:r>
                      <a:r>
                        <a:rPr lang="en-US" sz="2000" dirty="0">
                          <a:effectLst/>
                          <a:latin typeface="+mn-lt"/>
                          <a:ea typeface="Times New Roman"/>
                          <a:cs typeface="Times New Roman"/>
                        </a:rPr>
                        <a:t>i</a:t>
                      </a:r>
                      <a:r>
                        <a:rPr lang="en-US" sz="2000" spc="10" dirty="0">
                          <a:effectLst/>
                          <a:latin typeface="+mn-lt"/>
                          <a:ea typeface="Times New Roman"/>
                          <a:cs typeface="Times New Roman"/>
                        </a:rPr>
                        <a:t>n</a:t>
                      </a:r>
                      <a:r>
                        <a:rPr lang="en-US" sz="2000" spc="-10" dirty="0">
                          <a:effectLst/>
                          <a:latin typeface="+mn-lt"/>
                          <a:ea typeface="Times New Roman"/>
                          <a:cs typeface="Times New Roman"/>
                        </a:rPr>
                        <a:t>g</a:t>
                      </a:r>
                      <a:r>
                        <a:rPr lang="en-US" sz="2000" spc="-5" dirty="0">
                          <a:effectLst/>
                          <a:latin typeface="+mn-lt"/>
                          <a:ea typeface="Times New Roman"/>
                          <a:cs typeface="Times New Roman"/>
                        </a:rPr>
                        <a:t>e</a:t>
                      </a:r>
                      <a:r>
                        <a:rPr lang="en-US" sz="2000" dirty="0">
                          <a:effectLst/>
                          <a:latin typeface="+mn-lt"/>
                          <a:ea typeface="Times New Roman"/>
                          <a:cs typeface="Times New Roman"/>
                        </a:rPr>
                        <a:t>sti</a:t>
                      </a:r>
                      <a:r>
                        <a:rPr lang="en-US" sz="2000" spc="10" dirty="0">
                          <a:effectLst/>
                          <a:latin typeface="+mn-lt"/>
                          <a:ea typeface="Times New Roman"/>
                          <a:cs typeface="Times New Roman"/>
                        </a:rPr>
                        <a:t>n</a:t>
                      </a:r>
                      <a:r>
                        <a:rPr lang="en-US" sz="2000" dirty="0">
                          <a:effectLst/>
                          <a:latin typeface="+mn-lt"/>
                          <a:ea typeface="Times New Roman"/>
                          <a:cs typeface="Times New Roman"/>
                        </a:rPr>
                        <a:t>g l</a:t>
                      </a:r>
                      <a:r>
                        <a:rPr lang="en-US" sz="2000" spc="-5" dirty="0">
                          <a:effectLst/>
                          <a:latin typeface="+mn-lt"/>
                          <a:ea typeface="Times New Roman"/>
                          <a:cs typeface="Times New Roman"/>
                        </a:rPr>
                        <a:t>ea</a:t>
                      </a:r>
                      <a:r>
                        <a:rPr lang="en-US" sz="2000" dirty="0">
                          <a:effectLst/>
                          <a:latin typeface="+mn-lt"/>
                          <a:ea typeface="Times New Roman"/>
                          <a:cs typeface="Times New Roman"/>
                        </a:rPr>
                        <a:t>d t</a:t>
                      </a:r>
                      <a:r>
                        <a:rPr lang="en-US" sz="2000" spc="-5" dirty="0">
                          <a:effectLst/>
                          <a:latin typeface="+mn-lt"/>
                          <a:ea typeface="Times New Roman"/>
                          <a:cs typeface="Times New Roman"/>
                        </a:rPr>
                        <a:t>ac</a:t>
                      </a:r>
                      <a:r>
                        <a:rPr lang="en-US" sz="2000" dirty="0">
                          <a:effectLst/>
                          <a:latin typeface="+mn-lt"/>
                          <a:ea typeface="Times New Roman"/>
                          <a:cs typeface="Times New Roman"/>
                        </a:rPr>
                        <a:t>kle</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Reduce loon mortality and increase loon populations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650"/>
                        </a:lnSpc>
                        <a:spcBef>
                          <a:spcPts val="50"/>
                        </a:spcBef>
                        <a:spcAft>
                          <a:spcPts val="0"/>
                        </a:spcAft>
                      </a:pPr>
                      <a:r>
                        <a:rPr lang="en-US" sz="2000" dirty="0">
                          <a:effectLst/>
                          <a:latin typeface="+mn-lt"/>
                          <a:ea typeface="Calibri"/>
                          <a:cs typeface="Times New Roman"/>
                        </a:rPr>
                        <a:t>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813263">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0" dirty="0">
                          <a:effectLst/>
                          <a:latin typeface="+mn-lt"/>
                          <a:ea typeface="Times New Roman"/>
                          <a:cs typeface="Times New Roman"/>
                        </a:rPr>
                        <a:t>B</a:t>
                      </a:r>
                      <a:r>
                        <a:rPr lang="en-US" sz="2000" spc="-5" dirty="0">
                          <a:effectLst/>
                          <a:latin typeface="+mn-lt"/>
                          <a:ea typeface="Times New Roman"/>
                          <a:cs typeface="Times New Roman"/>
                        </a:rPr>
                        <a:t>a</a:t>
                      </a:r>
                      <a:r>
                        <a:rPr lang="en-US" sz="2000" dirty="0">
                          <a:effectLst/>
                          <a:latin typeface="+mn-lt"/>
                          <a:ea typeface="Times New Roman"/>
                          <a:cs typeface="Times New Roman"/>
                        </a:rPr>
                        <a:t>ll</a:t>
                      </a:r>
                      <a:r>
                        <a:rPr lang="en-US" sz="2000" spc="-5" dirty="0">
                          <a:effectLst/>
                          <a:latin typeface="+mn-lt"/>
                          <a:ea typeface="Times New Roman"/>
                          <a:cs typeface="Times New Roman"/>
                        </a:rPr>
                        <a:t>a</a:t>
                      </a:r>
                      <a:r>
                        <a:rPr lang="en-US" sz="2000" dirty="0">
                          <a:effectLst/>
                          <a:latin typeface="+mn-lt"/>
                          <a:ea typeface="Times New Roman"/>
                          <a:cs typeface="Times New Roman"/>
                        </a:rPr>
                        <a:t>st w</a:t>
                      </a:r>
                      <a:r>
                        <a:rPr lang="en-US" sz="2000" spc="-5" dirty="0">
                          <a:effectLst/>
                          <a:latin typeface="+mn-lt"/>
                          <a:ea typeface="Times New Roman"/>
                          <a:cs typeface="Times New Roman"/>
                        </a:rPr>
                        <a:t>a</a:t>
                      </a:r>
                      <a:r>
                        <a:rPr lang="en-US" sz="2000" spc="15" dirty="0">
                          <a:effectLst/>
                          <a:latin typeface="+mn-lt"/>
                          <a:ea typeface="Times New Roman"/>
                          <a:cs typeface="Times New Roman"/>
                        </a:rPr>
                        <a:t>t</a:t>
                      </a:r>
                      <a:r>
                        <a:rPr lang="en-US" sz="2000" spc="-5" dirty="0">
                          <a:effectLst/>
                          <a:latin typeface="+mn-lt"/>
                          <a:ea typeface="Times New Roman"/>
                          <a:cs typeface="Times New Roman"/>
                        </a:rPr>
                        <a:t>e</a:t>
                      </a:r>
                      <a:r>
                        <a:rPr lang="en-US" sz="2000" dirty="0">
                          <a:effectLst/>
                          <a:latin typeface="+mn-lt"/>
                          <a:ea typeface="Times New Roman"/>
                          <a:cs typeface="Times New Roman"/>
                        </a:rPr>
                        <a:t>r</a:t>
                      </a:r>
                      <a:r>
                        <a:rPr lang="en-US" sz="2000" spc="-5" dirty="0">
                          <a:effectLst/>
                          <a:latin typeface="+mn-lt"/>
                          <a:ea typeface="Times New Roman"/>
                          <a:cs typeface="Times New Roman"/>
                        </a:rPr>
                        <a:t> </a:t>
                      </a:r>
                      <a:r>
                        <a:rPr lang="en-US" sz="2000" dirty="0">
                          <a:effectLst/>
                          <a:latin typeface="+mn-lt"/>
                          <a:ea typeface="Times New Roman"/>
                          <a:cs typeface="Times New Roman"/>
                        </a:rPr>
                        <a:t>b</a:t>
                      </a:r>
                      <a:r>
                        <a:rPr lang="en-US" sz="2000" spc="-5" dirty="0">
                          <a:effectLst/>
                          <a:latin typeface="+mn-lt"/>
                          <a:ea typeface="Times New Roman"/>
                          <a:cs typeface="Times New Roman"/>
                        </a:rPr>
                        <a:t>r</a:t>
                      </a:r>
                      <a:r>
                        <a:rPr lang="en-US" sz="2000" dirty="0">
                          <a:effectLst/>
                          <a:latin typeface="+mn-lt"/>
                          <a:ea typeface="Times New Roman"/>
                          <a:cs typeface="Times New Roman"/>
                        </a:rPr>
                        <a:t>i</a:t>
                      </a:r>
                      <a:r>
                        <a:rPr lang="en-US" sz="2000" spc="10" dirty="0">
                          <a:effectLst/>
                          <a:latin typeface="+mn-lt"/>
                          <a:ea typeface="Times New Roman"/>
                          <a:cs typeface="Times New Roman"/>
                        </a:rPr>
                        <a:t>n</a:t>
                      </a:r>
                      <a:r>
                        <a:rPr lang="en-US" sz="2000" spc="-10" dirty="0">
                          <a:effectLst/>
                          <a:latin typeface="+mn-lt"/>
                          <a:ea typeface="Times New Roman"/>
                          <a:cs typeface="Times New Roman"/>
                        </a:rPr>
                        <a:t>g</a:t>
                      </a:r>
                      <a:r>
                        <a:rPr lang="en-US" sz="2000" dirty="0">
                          <a:effectLst/>
                          <a:latin typeface="+mn-lt"/>
                          <a:ea typeface="Times New Roman"/>
                          <a:cs typeface="Times New Roman"/>
                        </a:rPr>
                        <a:t>s inv</a:t>
                      </a:r>
                      <a:r>
                        <a:rPr lang="en-US" sz="2000" spc="5" dirty="0">
                          <a:effectLst/>
                          <a:latin typeface="+mn-lt"/>
                          <a:ea typeface="Times New Roman"/>
                          <a:cs typeface="Times New Roman"/>
                        </a:rPr>
                        <a:t>a</a:t>
                      </a:r>
                      <a:r>
                        <a:rPr lang="en-US" sz="2000" dirty="0">
                          <a:effectLst/>
                          <a:latin typeface="+mn-lt"/>
                          <a:ea typeface="Times New Roman"/>
                          <a:cs typeface="Times New Roman"/>
                        </a:rPr>
                        <a:t>sive</a:t>
                      </a:r>
                      <a:r>
                        <a:rPr lang="en-US" sz="2000" spc="-5" dirty="0">
                          <a:effectLst/>
                          <a:latin typeface="+mn-lt"/>
                          <a:ea typeface="Times New Roman"/>
                          <a:cs typeface="Times New Roman"/>
                        </a:rPr>
                        <a:t> </a:t>
                      </a:r>
                      <a:r>
                        <a:rPr lang="en-US" sz="2000" dirty="0">
                          <a:effectLst/>
                          <a:latin typeface="+mn-lt"/>
                          <a:ea typeface="Times New Roman"/>
                          <a:cs typeface="Times New Roman"/>
                        </a:rPr>
                        <a:t>sp</a:t>
                      </a:r>
                      <a:r>
                        <a:rPr lang="en-US" sz="2000" spc="-5" dirty="0">
                          <a:effectLst/>
                          <a:latin typeface="+mn-lt"/>
                          <a:ea typeface="Times New Roman"/>
                          <a:cs typeface="Times New Roman"/>
                        </a:rPr>
                        <a:t>ec</a:t>
                      </a:r>
                      <a:r>
                        <a:rPr lang="en-US" sz="2000" dirty="0">
                          <a:effectLst/>
                          <a:latin typeface="+mn-lt"/>
                          <a:ea typeface="Times New Roman"/>
                          <a:cs typeface="Times New Roman"/>
                        </a:rPr>
                        <a:t>i</a:t>
                      </a:r>
                      <a:r>
                        <a:rPr lang="en-US" sz="2000" spc="-5" dirty="0">
                          <a:effectLst/>
                          <a:latin typeface="+mn-lt"/>
                          <a:ea typeface="Times New Roman"/>
                          <a:cs typeface="Times New Roman"/>
                        </a:rPr>
                        <a:t>es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0" dirty="0">
                          <a:effectLst/>
                          <a:latin typeface="+mn-lt"/>
                          <a:ea typeface="Times New Roman"/>
                          <a:cs typeface="Times New Roman"/>
                        </a:rPr>
                        <a:t>Avoid release of invasive species and protect native species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441325">
                        <a:lnSpc>
                          <a:spcPct val="115000"/>
                        </a:lnSpc>
                        <a:spcBef>
                          <a:spcPts val="15"/>
                        </a:spcBef>
                        <a:spcAft>
                          <a:spcPts val="0"/>
                        </a:spcAft>
                      </a:pP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712825">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5" dirty="0">
                          <a:effectLst/>
                          <a:latin typeface="+mn-lt"/>
                          <a:ea typeface="Times New Roman"/>
                          <a:cs typeface="Times New Roman"/>
                        </a:rPr>
                        <a:t>C</a:t>
                      </a:r>
                      <a:r>
                        <a:rPr lang="en-US" sz="2000" spc="-5" dirty="0">
                          <a:effectLst/>
                          <a:latin typeface="+mn-lt"/>
                          <a:ea typeface="Times New Roman"/>
                          <a:cs typeface="Times New Roman"/>
                        </a:rPr>
                        <a:t>er</a:t>
                      </a:r>
                      <a:r>
                        <a:rPr lang="en-US" sz="2000" dirty="0">
                          <a:effectLst/>
                          <a:latin typeface="+mn-lt"/>
                          <a:ea typeface="Times New Roman"/>
                          <a:cs typeface="Times New Roman"/>
                        </a:rPr>
                        <a:t>t</a:t>
                      </a:r>
                      <a:r>
                        <a:rPr lang="en-US" sz="2000" spc="-5" dirty="0">
                          <a:effectLst/>
                          <a:latin typeface="+mn-lt"/>
                          <a:ea typeface="Times New Roman"/>
                          <a:cs typeface="Times New Roman"/>
                        </a:rPr>
                        <a:t>a</a:t>
                      </a:r>
                      <a:r>
                        <a:rPr lang="en-US" sz="2000" dirty="0">
                          <a:effectLst/>
                          <a:latin typeface="+mn-lt"/>
                          <a:ea typeface="Times New Roman"/>
                          <a:cs typeface="Times New Roman"/>
                        </a:rPr>
                        <a:t>in interest groups</a:t>
                      </a:r>
                      <a:r>
                        <a:rPr lang="en-US" sz="2000" spc="15" dirty="0">
                          <a:effectLst/>
                          <a:latin typeface="+mn-lt"/>
                          <a:ea typeface="Times New Roman"/>
                          <a:cs typeface="Times New Roman"/>
                        </a:rPr>
                        <a:t> </a:t>
                      </a:r>
                      <a:r>
                        <a:rPr lang="en-US" sz="2000" spc="-5" dirty="0">
                          <a:effectLst/>
                          <a:latin typeface="+mn-lt"/>
                          <a:ea typeface="Times New Roman"/>
                          <a:cs typeface="Times New Roman"/>
                        </a:rPr>
                        <a:t>fee</a:t>
                      </a:r>
                      <a:r>
                        <a:rPr lang="en-US" sz="2000" dirty="0">
                          <a:effectLst/>
                          <a:latin typeface="+mn-lt"/>
                          <a:ea typeface="Times New Roman"/>
                          <a:cs typeface="Times New Roman"/>
                        </a:rPr>
                        <a:t>l</a:t>
                      </a:r>
                      <a:r>
                        <a:rPr lang="en-US" sz="2000" spc="15" dirty="0">
                          <a:effectLst/>
                          <a:latin typeface="+mn-lt"/>
                          <a:ea typeface="Times New Roman"/>
                          <a:cs typeface="Times New Roman"/>
                        </a:rPr>
                        <a:t> </a:t>
                      </a:r>
                      <a:r>
                        <a:rPr lang="en-US" sz="2000" spc="-5" dirty="0">
                          <a:effectLst/>
                          <a:latin typeface="+mn-lt"/>
                          <a:ea typeface="Times New Roman"/>
                          <a:cs typeface="Times New Roman"/>
                        </a:rPr>
                        <a:t>e</a:t>
                      </a:r>
                      <a:r>
                        <a:rPr lang="en-US" sz="2000" spc="10" dirty="0">
                          <a:effectLst/>
                          <a:latin typeface="+mn-lt"/>
                          <a:ea typeface="Times New Roman"/>
                          <a:cs typeface="Times New Roman"/>
                        </a:rPr>
                        <a:t>x</a:t>
                      </a:r>
                      <a:r>
                        <a:rPr lang="en-US" sz="2000" spc="-5" dirty="0">
                          <a:effectLst/>
                          <a:latin typeface="+mn-lt"/>
                          <a:ea typeface="Times New Roman"/>
                          <a:cs typeface="Times New Roman"/>
                        </a:rPr>
                        <a:t>c</a:t>
                      </a:r>
                      <a:r>
                        <a:rPr lang="en-US" sz="2000" dirty="0">
                          <a:effectLst/>
                          <a:latin typeface="+mn-lt"/>
                          <a:ea typeface="Times New Roman"/>
                          <a:cs typeface="Times New Roman"/>
                        </a:rPr>
                        <a:t>lud</a:t>
                      </a:r>
                      <a:r>
                        <a:rPr lang="en-US" sz="2000" spc="-5" dirty="0">
                          <a:effectLst/>
                          <a:latin typeface="+mn-lt"/>
                          <a:ea typeface="Times New Roman"/>
                          <a:cs typeface="Times New Roman"/>
                        </a:rPr>
                        <a:t>ed</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endParaRPr lang="en-US" sz="2000">
                        <a:effectLst/>
                        <a:latin typeface="+mn-lt"/>
                        <a:ea typeface="Calibri"/>
                        <a:cs typeface="Times New Roman"/>
                      </a:endParaRPr>
                    </a:p>
                    <a:p>
                      <a:pPr marL="64770" marR="0">
                        <a:lnSpc>
                          <a:spcPct val="115000"/>
                        </a:lnSpc>
                        <a:spcBef>
                          <a:spcPts val="0"/>
                        </a:spcBef>
                        <a:spcAft>
                          <a:spcPts val="0"/>
                        </a:spcAft>
                      </a:pPr>
                      <a:r>
                        <a:rPr lang="en-US" sz="2000" spc="5" dirty="0">
                          <a:effectLst/>
                          <a:latin typeface="+mn-lt"/>
                          <a:ea typeface="Times New Roman"/>
                          <a:cs typeface="Times New Roman"/>
                        </a:rPr>
                        <a:t>Organize an inclusive decision process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55880">
                        <a:lnSpc>
                          <a:spcPct val="115000"/>
                        </a:lnSpc>
                        <a:spcBef>
                          <a:spcPts val="15"/>
                        </a:spcBef>
                        <a:spcAft>
                          <a:spcPts val="0"/>
                        </a:spcAft>
                      </a:pP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581824">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I</a:t>
                      </a:r>
                      <a:r>
                        <a:rPr lang="en-US" sz="2000" spc="-5" dirty="0">
                          <a:effectLst/>
                          <a:latin typeface="+mn-lt"/>
                          <a:ea typeface="Times New Roman"/>
                          <a:cs typeface="Times New Roman"/>
                        </a:rPr>
                        <a:t> </a:t>
                      </a:r>
                      <a:r>
                        <a:rPr lang="en-US" sz="2000" dirty="0">
                          <a:effectLst/>
                          <a:latin typeface="+mn-lt"/>
                          <a:ea typeface="Times New Roman"/>
                          <a:cs typeface="Times New Roman"/>
                        </a:rPr>
                        <a:t>won</a:t>
                      </a:r>
                      <a:r>
                        <a:rPr lang="en-US" sz="2000" spc="-5" dirty="0">
                          <a:effectLst/>
                          <a:latin typeface="+mn-lt"/>
                          <a:ea typeface="Times New Roman"/>
                          <a:cs typeface="Times New Roman"/>
                        </a:rPr>
                        <a:t>’</a:t>
                      </a:r>
                      <a:r>
                        <a:rPr lang="en-US" sz="2000" dirty="0">
                          <a:effectLst/>
                          <a:latin typeface="+mn-lt"/>
                          <a:ea typeface="Times New Roman"/>
                          <a:cs typeface="Times New Roman"/>
                        </a:rPr>
                        <a:t>t h</a:t>
                      </a:r>
                      <a:r>
                        <a:rPr lang="en-US" sz="2000" spc="-5" dirty="0">
                          <a:effectLst/>
                          <a:latin typeface="+mn-lt"/>
                          <a:ea typeface="Times New Roman"/>
                          <a:cs typeface="Times New Roman"/>
                        </a:rPr>
                        <a:t>a</a:t>
                      </a:r>
                      <a:r>
                        <a:rPr lang="en-US" sz="2000" dirty="0">
                          <a:effectLst/>
                          <a:latin typeface="+mn-lt"/>
                          <a:ea typeface="Times New Roman"/>
                          <a:cs typeface="Times New Roman"/>
                        </a:rPr>
                        <a:t>ve</a:t>
                      </a:r>
                      <a:r>
                        <a:rPr lang="en-US" sz="2000" spc="5" dirty="0">
                          <a:effectLst/>
                          <a:latin typeface="+mn-lt"/>
                          <a:ea typeface="Times New Roman"/>
                          <a:cs typeface="Times New Roman"/>
                        </a:rPr>
                        <a:t> </a:t>
                      </a:r>
                      <a:r>
                        <a:rPr lang="en-US" sz="2000" spc="-5" dirty="0">
                          <a:effectLst/>
                          <a:latin typeface="+mn-lt"/>
                          <a:ea typeface="Times New Roman"/>
                          <a:cs typeface="Times New Roman"/>
                        </a:rPr>
                        <a:t>e</a:t>
                      </a:r>
                      <a:r>
                        <a:rPr lang="en-US" sz="2000" dirty="0">
                          <a:effectLst/>
                          <a:latin typeface="+mn-lt"/>
                          <a:ea typeface="Times New Roman"/>
                          <a:cs typeface="Times New Roman"/>
                        </a:rPr>
                        <a:t>no</a:t>
                      </a:r>
                      <a:r>
                        <a:rPr lang="en-US" sz="2000" spc="10" dirty="0">
                          <a:effectLst/>
                          <a:latin typeface="+mn-lt"/>
                          <a:ea typeface="Times New Roman"/>
                          <a:cs typeface="Times New Roman"/>
                        </a:rPr>
                        <a:t>u</a:t>
                      </a:r>
                      <a:r>
                        <a:rPr lang="en-US" sz="2000" spc="-10" dirty="0">
                          <a:effectLst/>
                          <a:latin typeface="+mn-lt"/>
                          <a:ea typeface="Times New Roman"/>
                          <a:cs typeface="Times New Roman"/>
                        </a:rPr>
                        <a:t>g</a:t>
                      </a:r>
                      <a:r>
                        <a:rPr lang="en-US" sz="2000" dirty="0">
                          <a:effectLst/>
                          <a:latin typeface="+mn-lt"/>
                          <a:ea typeface="Times New Roman"/>
                          <a:cs typeface="Times New Roman"/>
                        </a:rPr>
                        <a:t>h m</a:t>
                      </a:r>
                      <a:r>
                        <a:rPr lang="en-US" sz="2000" spc="10" dirty="0">
                          <a:effectLst/>
                          <a:latin typeface="+mn-lt"/>
                          <a:ea typeface="Times New Roman"/>
                          <a:cs typeface="Times New Roman"/>
                        </a:rPr>
                        <a:t>o</a:t>
                      </a:r>
                      <a:r>
                        <a:rPr lang="en-US" sz="2000" dirty="0">
                          <a:effectLst/>
                          <a:latin typeface="+mn-lt"/>
                          <a:ea typeface="Times New Roman"/>
                          <a:cs typeface="Times New Roman"/>
                        </a:rPr>
                        <a:t>n</a:t>
                      </a:r>
                      <a:r>
                        <a:rPr lang="en-US" sz="2000" spc="5" dirty="0">
                          <a:effectLst/>
                          <a:latin typeface="+mn-lt"/>
                          <a:ea typeface="Times New Roman"/>
                          <a:cs typeface="Times New Roman"/>
                        </a:rPr>
                        <a:t>e</a:t>
                      </a:r>
                      <a:r>
                        <a:rPr lang="en-US" sz="2000" dirty="0">
                          <a:effectLst/>
                          <a:latin typeface="+mn-lt"/>
                          <a:ea typeface="Times New Roman"/>
                          <a:cs typeface="Times New Roman"/>
                        </a:rPr>
                        <a:t>y</a:t>
                      </a:r>
                      <a:r>
                        <a:rPr lang="en-US" sz="2000" spc="-10" dirty="0">
                          <a:effectLst/>
                          <a:latin typeface="+mn-lt"/>
                          <a:ea typeface="Times New Roman"/>
                          <a:cs typeface="Times New Roman"/>
                        </a:rPr>
                        <a:t> </a:t>
                      </a:r>
                      <a:r>
                        <a:rPr lang="en-US" sz="2000" spc="-5" dirty="0">
                          <a:effectLst/>
                          <a:latin typeface="+mn-lt"/>
                          <a:ea typeface="Times New Roman"/>
                          <a:cs typeface="Times New Roman"/>
                        </a:rPr>
                        <a:t>f</a:t>
                      </a:r>
                      <a:r>
                        <a:rPr lang="en-US" sz="2000" dirty="0">
                          <a:effectLst/>
                          <a:latin typeface="+mn-lt"/>
                          <a:ea typeface="Times New Roman"/>
                          <a:cs typeface="Times New Roman"/>
                        </a:rPr>
                        <a:t>or</a:t>
                      </a:r>
                      <a:r>
                        <a:rPr lang="en-US" sz="2000" spc="-5" dirty="0">
                          <a:effectLst/>
                          <a:latin typeface="+mn-lt"/>
                          <a:ea typeface="Times New Roman"/>
                          <a:cs typeface="Times New Roman"/>
                        </a:rPr>
                        <a:t> </a:t>
                      </a:r>
                      <a:r>
                        <a:rPr lang="en-US" sz="2000" dirty="0">
                          <a:effectLst/>
                          <a:latin typeface="+mn-lt"/>
                          <a:ea typeface="Times New Roman"/>
                          <a:cs typeface="Times New Roman"/>
                        </a:rPr>
                        <a:t>this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Reduce cost and manage within budget</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extBox 1">
            <a:extLst>
              <a:ext uri="{FF2B5EF4-FFF2-40B4-BE49-F238E27FC236}">
                <a16:creationId xmlns:a16="http://schemas.microsoft.com/office/drawing/2014/main" id="{8E54C724-AB5D-E3F6-DD16-51F2C51B6A54}"/>
              </a:ext>
            </a:extLst>
          </p:cNvPr>
          <p:cNvSpPr txBox="1"/>
          <p:nvPr/>
        </p:nvSpPr>
        <p:spPr>
          <a:xfrm>
            <a:off x="762992" y="1301945"/>
            <a:ext cx="8869680" cy="461665"/>
          </a:xfrm>
          <a:prstGeom prst="rect">
            <a:avLst/>
          </a:prstGeom>
          <a:noFill/>
        </p:spPr>
        <p:txBody>
          <a:bodyPr wrap="square" rtlCol="0">
            <a:spAutoFit/>
          </a:bodyPr>
          <a:lstStyle/>
          <a:p>
            <a:r>
              <a:rPr lang="en-US" sz="2400" dirty="0">
                <a:solidFill>
                  <a:schemeClr val="accent1"/>
                </a:solidFill>
              </a:rPr>
              <a:t>Convert concerns to objectives: </a:t>
            </a:r>
          </a:p>
        </p:txBody>
      </p:sp>
      <p:sp>
        <p:nvSpPr>
          <p:cNvPr id="4" name="TextBox 3">
            <a:extLst>
              <a:ext uri="{FF2B5EF4-FFF2-40B4-BE49-F238E27FC236}">
                <a16:creationId xmlns:a16="http://schemas.microsoft.com/office/drawing/2014/main" id="{29D28D42-46F3-4DA3-CE6F-B331829C0707}"/>
              </a:ext>
            </a:extLst>
          </p:cNvPr>
          <p:cNvSpPr txBox="1"/>
          <p:nvPr/>
        </p:nvSpPr>
        <p:spPr>
          <a:xfrm>
            <a:off x="5910943" y="1330757"/>
            <a:ext cx="6046361" cy="369332"/>
          </a:xfrm>
          <a:prstGeom prst="rect">
            <a:avLst/>
          </a:prstGeom>
          <a:solidFill>
            <a:schemeClr val="accent4">
              <a:lumMod val="20000"/>
              <a:lumOff val="80000"/>
            </a:schemeClr>
          </a:solidFill>
        </p:spPr>
        <p:txBody>
          <a:bodyPr wrap="square" rtlCol="0">
            <a:spAutoFit/>
          </a:bodyPr>
          <a:lstStyle/>
          <a:p>
            <a:r>
              <a:rPr lang="en-US" dirty="0"/>
              <a:t>Hint: direction + what is desired (don’t worry about units yet!)</a:t>
            </a:r>
          </a:p>
        </p:txBody>
      </p:sp>
      <p:sp>
        <p:nvSpPr>
          <p:cNvPr id="3" name="TextBox 2">
            <a:extLst>
              <a:ext uri="{FF2B5EF4-FFF2-40B4-BE49-F238E27FC236}">
                <a16:creationId xmlns:a16="http://schemas.microsoft.com/office/drawing/2014/main" id="{976E658C-46D7-96D9-18A7-ECB8EB5D6AC9}"/>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9" name="Title 1">
            <a:extLst>
              <a:ext uri="{FF2B5EF4-FFF2-40B4-BE49-F238E27FC236}">
                <a16:creationId xmlns:a16="http://schemas.microsoft.com/office/drawing/2014/main" id="{90980E55-8ED0-B0DF-B01E-07511DF952BC}"/>
              </a:ext>
            </a:extLst>
          </p:cNvPr>
          <p:cNvSpPr txBox="1">
            <a:spLocks/>
          </p:cNvSpPr>
          <p:nvPr/>
        </p:nvSpPr>
        <p:spPr>
          <a:xfrm>
            <a:off x="0" y="386671"/>
            <a:ext cx="12192000" cy="734352"/>
          </a:xfrm>
          <a:prstGeom prst="rect">
            <a:avLst/>
          </a:prstGeom>
          <a:solidFill>
            <a:schemeClr val="accent6">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Activity 1 – convert goals to objectives</a:t>
            </a:r>
          </a:p>
        </p:txBody>
      </p:sp>
    </p:spTree>
    <p:extLst>
      <p:ext uri="{BB962C8B-B14F-4D97-AF65-F5344CB8AC3E}">
        <p14:creationId xmlns:p14="http://schemas.microsoft.com/office/powerpoint/2010/main" val="3435253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9B8DA-ACE6-C94D-1C7C-5D9BBC4BE590}"/>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8A2ACCEA-85B1-C435-EE0F-824A3E418EB5}"/>
              </a:ext>
            </a:extLst>
          </p:cNvPr>
          <p:cNvGraphicFramePr>
            <a:graphicFrameLocks noGrp="1"/>
          </p:cNvGraphicFramePr>
          <p:nvPr/>
        </p:nvGraphicFramePr>
        <p:xfrm>
          <a:off x="838200" y="1751486"/>
          <a:ext cx="11119104" cy="4352667"/>
        </p:xfrm>
        <a:graphic>
          <a:graphicData uri="http://schemas.openxmlformats.org/drawingml/2006/table">
            <a:tbl>
              <a:tblPr firstRow="1" firstCol="1" lastRow="1" lastCol="1" bandRow="1" bandCol="1"/>
              <a:tblGrid>
                <a:gridCol w="3776422">
                  <a:extLst>
                    <a:ext uri="{9D8B030D-6E8A-4147-A177-3AD203B41FA5}">
                      <a16:colId xmlns:a16="http://schemas.microsoft.com/office/drawing/2014/main" val="20000"/>
                    </a:ext>
                  </a:extLst>
                </a:gridCol>
                <a:gridCol w="3295313">
                  <a:extLst>
                    <a:ext uri="{9D8B030D-6E8A-4147-A177-3AD203B41FA5}">
                      <a16:colId xmlns:a16="http://schemas.microsoft.com/office/drawing/2014/main" val="20001"/>
                    </a:ext>
                  </a:extLst>
                </a:gridCol>
                <a:gridCol w="4047369">
                  <a:extLst>
                    <a:ext uri="{9D8B030D-6E8A-4147-A177-3AD203B41FA5}">
                      <a16:colId xmlns:a16="http://schemas.microsoft.com/office/drawing/2014/main" val="20002"/>
                    </a:ext>
                  </a:extLst>
                </a:gridCol>
              </a:tblGrid>
              <a:tr h="317098">
                <a:tc>
                  <a:txBody>
                    <a:bodyPr/>
                    <a:lstStyle/>
                    <a:p>
                      <a:pPr marL="64770" marR="0">
                        <a:lnSpc>
                          <a:spcPct val="115000"/>
                        </a:lnSpc>
                        <a:spcBef>
                          <a:spcPts val="270"/>
                        </a:spcBef>
                        <a:spcAft>
                          <a:spcPts val="0"/>
                        </a:spcAft>
                      </a:pPr>
                      <a:r>
                        <a:rPr lang="en-US" sz="2000" b="1" i="1" spc="-5" dirty="0">
                          <a:effectLst/>
                          <a:latin typeface="+mn-lt"/>
                          <a:ea typeface="Times New Roman"/>
                          <a:cs typeface="Times New Roman"/>
                        </a:rPr>
                        <a:t>G</a:t>
                      </a:r>
                      <a:r>
                        <a:rPr lang="en-US" sz="2000" b="1" i="1" spc="5" dirty="0">
                          <a:effectLst/>
                          <a:latin typeface="+mn-lt"/>
                          <a:ea typeface="Times New Roman"/>
                          <a:cs typeface="Times New Roman"/>
                        </a:rPr>
                        <a:t>o</a:t>
                      </a:r>
                      <a:r>
                        <a:rPr lang="en-US" sz="2000" b="1" i="1" spc="-5" dirty="0">
                          <a:effectLst/>
                          <a:latin typeface="+mn-lt"/>
                          <a:ea typeface="Times New Roman"/>
                          <a:cs typeface="Times New Roman"/>
                        </a:rPr>
                        <a:t>a</a:t>
                      </a:r>
                      <a:r>
                        <a:rPr lang="en-US" sz="2000" b="1" i="1" dirty="0">
                          <a:effectLst/>
                          <a:latin typeface="+mn-lt"/>
                          <a:ea typeface="Times New Roman"/>
                          <a:cs typeface="Times New Roman"/>
                        </a:rPr>
                        <a:t>l</a:t>
                      </a:r>
                      <a:r>
                        <a:rPr lang="en-US" sz="2000" b="1" i="1" spc="5" dirty="0">
                          <a:effectLst/>
                          <a:latin typeface="+mn-lt"/>
                          <a:ea typeface="Times New Roman"/>
                          <a:cs typeface="Times New Roman"/>
                        </a:rPr>
                        <a:t> </a:t>
                      </a:r>
                      <a:r>
                        <a:rPr lang="en-US" sz="2000" b="1" i="1" spc="-5" dirty="0">
                          <a:effectLst/>
                          <a:latin typeface="+mn-lt"/>
                          <a:ea typeface="Times New Roman"/>
                          <a:cs typeface="Times New Roman"/>
                        </a:rPr>
                        <a:t>o</a:t>
                      </a:r>
                      <a:r>
                        <a:rPr lang="en-US" sz="2000" b="1" i="1" dirty="0">
                          <a:effectLst/>
                          <a:latin typeface="+mn-lt"/>
                          <a:ea typeface="Times New Roman"/>
                          <a:cs typeface="Times New Roman"/>
                        </a:rPr>
                        <a:t>r</a:t>
                      </a:r>
                      <a:r>
                        <a:rPr lang="en-US" sz="2000" b="1" i="1" spc="5" dirty="0">
                          <a:effectLst/>
                          <a:latin typeface="+mn-lt"/>
                          <a:ea typeface="Times New Roman"/>
                          <a:cs typeface="Times New Roman"/>
                        </a:rPr>
                        <a:t> </a:t>
                      </a:r>
                      <a:r>
                        <a:rPr lang="en-US" sz="2000" b="1" i="1" dirty="0">
                          <a:effectLst/>
                          <a:latin typeface="+mn-lt"/>
                          <a:ea typeface="Times New Roman"/>
                          <a:cs typeface="Times New Roman"/>
                        </a:rPr>
                        <a:t>C</a:t>
                      </a:r>
                      <a:r>
                        <a:rPr lang="en-US" sz="2000" b="1" i="1" spc="-5" dirty="0">
                          <a:effectLst/>
                          <a:latin typeface="+mn-lt"/>
                          <a:ea typeface="Times New Roman"/>
                          <a:cs typeface="Times New Roman"/>
                        </a:rPr>
                        <a:t>o</a:t>
                      </a:r>
                      <a:r>
                        <a:rPr lang="en-US" sz="2000" b="1" i="1" dirty="0">
                          <a:effectLst/>
                          <a:latin typeface="+mn-lt"/>
                          <a:ea typeface="Times New Roman"/>
                          <a:cs typeface="Times New Roman"/>
                        </a:rPr>
                        <a:t>nc</a:t>
                      </a:r>
                      <a:r>
                        <a:rPr lang="en-US" sz="2000" b="1" i="1" spc="-10" dirty="0">
                          <a:effectLst/>
                          <a:latin typeface="+mn-lt"/>
                          <a:ea typeface="Times New Roman"/>
                          <a:cs typeface="Times New Roman"/>
                        </a:rPr>
                        <a:t>e</a:t>
                      </a:r>
                      <a:r>
                        <a:rPr lang="en-US" sz="2000" b="1" i="1" spc="5" dirty="0">
                          <a:effectLst/>
                          <a:latin typeface="+mn-lt"/>
                          <a:ea typeface="Times New Roman"/>
                          <a:cs typeface="Times New Roman"/>
                        </a:rPr>
                        <a:t>r</a:t>
                      </a:r>
                      <a:r>
                        <a:rPr lang="en-US" sz="2000" b="1" i="1" dirty="0">
                          <a:effectLst/>
                          <a:latin typeface="+mn-lt"/>
                          <a:ea typeface="Times New Roman"/>
                          <a:cs typeface="Times New Roman"/>
                        </a:rPr>
                        <a:t>n</a:t>
                      </a:r>
                      <a:endParaRPr lang="en-US" sz="2000" dirty="0">
                        <a:effectLst/>
                        <a:latin typeface="+mn-lt"/>
                        <a:ea typeface="Calibri"/>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0">
                        <a:lnSpc>
                          <a:spcPct val="115000"/>
                        </a:lnSpc>
                        <a:spcBef>
                          <a:spcPts val="270"/>
                        </a:spcBef>
                        <a:spcAft>
                          <a:spcPts val="0"/>
                        </a:spcAft>
                      </a:pPr>
                      <a:r>
                        <a:rPr lang="en-US" sz="2000" b="1" i="1" spc="-5" dirty="0">
                          <a:effectLst/>
                          <a:latin typeface="+mn-lt"/>
                          <a:ea typeface="Times New Roman"/>
                          <a:cs typeface="Times New Roman"/>
                        </a:rPr>
                        <a:t>Hope to Achieve</a:t>
                      </a:r>
                      <a:endParaRPr lang="en-US" sz="2000" dirty="0">
                        <a:effectLst/>
                        <a:latin typeface="+mn-lt"/>
                        <a:ea typeface="Calibri"/>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0">
                        <a:lnSpc>
                          <a:spcPct val="115000"/>
                        </a:lnSpc>
                        <a:spcBef>
                          <a:spcPts val="270"/>
                        </a:spcBef>
                        <a:spcAft>
                          <a:spcPts val="0"/>
                        </a:spcAft>
                      </a:pPr>
                      <a:r>
                        <a:rPr lang="en-US" sz="2000" b="1" i="1" spc="-5" dirty="0">
                          <a:effectLst/>
                          <a:latin typeface="+mn-lt"/>
                          <a:ea typeface="Times New Roman"/>
                          <a:cs typeface="Times New Roman"/>
                        </a:rPr>
                        <a:t>P</a:t>
                      </a:r>
                      <a:r>
                        <a:rPr lang="en-US" sz="2000" b="1" i="1" spc="5" dirty="0">
                          <a:effectLst/>
                          <a:latin typeface="+mn-lt"/>
                          <a:ea typeface="Times New Roman"/>
                          <a:cs typeface="Times New Roman"/>
                        </a:rPr>
                        <a:t>ot</a:t>
                      </a:r>
                      <a:r>
                        <a:rPr lang="en-US" sz="2000" b="1" i="1" dirty="0">
                          <a:effectLst/>
                          <a:latin typeface="+mn-lt"/>
                          <a:ea typeface="Times New Roman"/>
                          <a:cs typeface="Times New Roman"/>
                        </a:rPr>
                        <a:t>e</a:t>
                      </a:r>
                      <a:r>
                        <a:rPr lang="en-US" sz="2000" b="1" i="1" spc="-15" dirty="0">
                          <a:effectLst/>
                          <a:latin typeface="+mn-lt"/>
                          <a:ea typeface="Times New Roman"/>
                          <a:cs typeface="Times New Roman"/>
                        </a:rPr>
                        <a:t>n</a:t>
                      </a:r>
                      <a:r>
                        <a:rPr lang="en-US" sz="2000" b="1" i="1" spc="5" dirty="0">
                          <a:effectLst/>
                          <a:latin typeface="+mn-lt"/>
                          <a:ea typeface="Times New Roman"/>
                          <a:cs typeface="Times New Roman"/>
                        </a:rPr>
                        <a:t>t</a:t>
                      </a:r>
                      <a:r>
                        <a:rPr lang="en-US" sz="2000" b="1" i="1" spc="-5" dirty="0">
                          <a:effectLst/>
                          <a:latin typeface="+mn-lt"/>
                          <a:ea typeface="Times New Roman"/>
                          <a:cs typeface="Times New Roman"/>
                        </a:rPr>
                        <a:t>ia</a:t>
                      </a:r>
                      <a:r>
                        <a:rPr lang="en-US" sz="2000" b="1" i="1" dirty="0">
                          <a:effectLst/>
                          <a:latin typeface="+mn-lt"/>
                          <a:ea typeface="Times New Roman"/>
                          <a:cs typeface="Times New Roman"/>
                        </a:rPr>
                        <a:t>l</a:t>
                      </a:r>
                      <a:r>
                        <a:rPr lang="en-US" sz="2000" b="1" i="1" spc="5" dirty="0">
                          <a:effectLst/>
                          <a:latin typeface="+mn-lt"/>
                          <a:ea typeface="Times New Roman"/>
                          <a:cs typeface="Times New Roman"/>
                        </a:rPr>
                        <a:t> </a:t>
                      </a:r>
                      <a:r>
                        <a:rPr lang="en-US" sz="2000" b="1" i="1" spc="-5" dirty="0">
                          <a:effectLst/>
                          <a:latin typeface="+mn-lt"/>
                          <a:ea typeface="Times New Roman"/>
                          <a:cs typeface="Times New Roman"/>
                        </a:rPr>
                        <a:t>Ob</a:t>
                      </a:r>
                      <a:r>
                        <a:rPr lang="en-US" sz="2000" b="1" i="1" spc="5" dirty="0">
                          <a:effectLst/>
                          <a:latin typeface="+mn-lt"/>
                          <a:ea typeface="Times New Roman"/>
                          <a:cs typeface="Times New Roman"/>
                        </a:rPr>
                        <a:t>j</a:t>
                      </a:r>
                      <a:r>
                        <a:rPr lang="en-US" sz="2000" b="1" i="1" dirty="0">
                          <a:effectLst/>
                          <a:latin typeface="+mn-lt"/>
                          <a:ea typeface="Times New Roman"/>
                          <a:cs typeface="Times New Roman"/>
                        </a:rPr>
                        <a:t>e</a:t>
                      </a:r>
                      <a:r>
                        <a:rPr lang="en-US" sz="2000" b="1" i="1" spc="-10" dirty="0">
                          <a:effectLst/>
                          <a:latin typeface="+mn-lt"/>
                          <a:ea typeface="Times New Roman"/>
                          <a:cs typeface="Times New Roman"/>
                        </a:rPr>
                        <a:t>c</a:t>
                      </a:r>
                      <a:r>
                        <a:rPr lang="en-US" sz="2000" b="1" i="1" spc="5" dirty="0">
                          <a:effectLst/>
                          <a:latin typeface="+mn-lt"/>
                          <a:ea typeface="Times New Roman"/>
                          <a:cs typeface="Times New Roman"/>
                        </a:rPr>
                        <a:t>ti</a:t>
                      </a:r>
                      <a:r>
                        <a:rPr lang="en-US" sz="2000" b="1" i="1" spc="-10" dirty="0">
                          <a:effectLst/>
                          <a:latin typeface="+mn-lt"/>
                          <a:ea typeface="Times New Roman"/>
                          <a:cs typeface="Times New Roman"/>
                        </a:rPr>
                        <a:t>v</a:t>
                      </a:r>
                      <a:r>
                        <a:rPr lang="en-US" sz="2000" b="1" i="1" dirty="0">
                          <a:effectLst/>
                          <a:latin typeface="+mn-lt"/>
                          <a:ea typeface="Times New Roman"/>
                          <a:cs typeface="Times New Roman"/>
                        </a:rPr>
                        <a:t>e</a:t>
                      </a:r>
                      <a:endParaRPr lang="en-US" sz="2000" dirty="0">
                        <a:effectLst/>
                        <a:latin typeface="+mn-lt"/>
                        <a:ea typeface="Calibri"/>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594737">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5" dirty="0">
                          <a:effectLst/>
                          <a:latin typeface="+mn-lt"/>
                          <a:ea typeface="Times New Roman"/>
                          <a:cs typeface="Times New Roman"/>
                        </a:rPr>
                        <a:t>I</a:t>
                      </a:r>
                      <a:r>
                        <a:rPr lang="en-US" sz="2000" dirty="0">
                          <a:effectLst/>
                          <a:latin typeface="+mn-lt"/>
                          <a:ea typeface="Times New Roman"/>
                          <a:cs typeface="Times New Roman"/>
                        </a:rPr>
                        <a:t>t</a:t>
                      </a:r>
                      <a:r>
                        <a:rPr lang="en-US" sz="2000" spc="-5" dirty="0">
                          <a:effectLst/>
                          <a:latin typeface="+mn-lt"/>
                          <a:ea typeface="Times New Roman"/>
                          <a:cs typeface="Times New Roman"/>
                        </a:rPr>
                        <a:t>’</a:t>
                      </a:r>
                      <a:r>
                        <a:rPr lang="en-US" sz="2000" dirty="0">
                          <a:effectLst/>
                          <a:latin typeface="+mn-lt"/>
                          <a:ea typeface="Times New Roman"/>
                          <a:cs typeface="Times New Roman"/>
                        </a:rPr>
                        <a:t>s </a:t>
                      </a:r>
                      <a:r>
                        <a:rPr lang="en-US" sz="2000" spc="10" dirty="0">
                          <a:effectLst/>
                          <a:latin typeface="+mn-lt"/>
                          <a:ea typeface="Times New Roman"/>
                          <a:cs typeface="Times New Roman"/>
                        </a:rPr>
                        <a:t>h</a:t>
                      </a:r>
                      <a:r>
                        <a:rPr lang="en-US" sz="2000" spc="-5" dirty="0">
                          <a:effectLst/>
                          <a:latin typeface="+mn-lt"/>
                          <a:ea typeface="Times New Roman"/>
                          <a:cs typeface="Times New Roman"/>
                        </a:rPr>
                        <a:t>ar</a:t>
                      </a:r>
                      <a:r>
                        <a:rPr lang="en-US" sz="2000" dirty="0">
                          <a:effectLst/>
                          <a:latin typeface="+mn-lt"/>
                          <a:ea typeface="Times New Roman"/>
                          <a:cs typeface="Times New Roman"/>
                        </a:rPr>
                        <a:t>d to </a:t>
                      </a:r>
                      <a:r>
                        <a:rPr lang="en-US" sz="2000" spc="5" dirty="0">
                          <a:effectLst/>
                          <a:latin typeface="+mn-lt"/>
                          <a:ea typeface="Times New Roman"/>
                          <a:cs typeface="Times New Roman"/>
                        </a:rPr>
                        <a:t>c</a:t>
                      </a:r>
                      <a:r>
                        <a:rPr lang="en-US" sz="2000" spc="-5" dirty="0">
                          <a:effectLst/>
                          <a:latin typeface="+mn-lt"/>
                          <a:ea typeface="Times New Roman"/>
                          <a:cs typeface="Times New Roman"/>
                        </a:rPr>
                        <a:t>a</a:t>
                      </a:r>
                      <a:r>
                        <a:rPr lang="en-US" sz="2000" dirty="0">
                          <a:effectLst/>
                          <a:latin typeface="+mn-lt"/>
                          <a:ea typeface="Times New Roman"/>
                          <a:cs typeface="Times New Roman"/>
                        </a:rPr>
                        <a:t>t</a:t>
                      </a:r>
                      <a:r>
                        <a:rPr lang="en-US" sz="2000" spc="-5" dirty="0">
                          <a:effectLst/>
                          <a:latin typeface="+mn-lt"/>
                          <a:ea typeface="Times New Roman"/>
                          <a:cs typeface="Times New Roman"/>
                        </a:rPr>
                        <a:t>c</a:t>
                      </a:r>
                      <a:r>
                        <a:rPr lang="en-US" sz="2000" dirty="0">
                          <a:effectLst/>
                          <a:latin typeface="+mn-lt"/>
                          <a:ea typeface="Times New Roman"/>
                          <a:cs typeface="Times New Roman"/>
                        </a:rPr>
                        <a:t>h blu</a:t>
                      </a:r>
                      <a:r>
                        <a:rPr lang="en-US" sz="2000" spc="5" dirty="0">
                          <a:effectLst/>
                          <a:latin typeface="+mn-lt"/>
                          <a:ea typeface="Times New Roman"/>
                          <a:cs typeface="Times New Roman"/>
                        </a:rPr>
                        <a:t>e</a:t>
                      </a:r>
                      <a:r>
                        <a:rPr lang="en-US" sz="2000" spc="-10" dirty="0">
                          <a:effectLst/>
                          <a:latin typeface="+mn-lt"/>
                          <a:ea typeface="Times New Roman"/>
                          <a:cs typeface="Times New Roman"/>
                        </a:rPr>
                        <a:t>g</a:t>
                      </a:r>
                      <a:r>
                        <a:rPr lang="en-US" sz="2000" dirty="0">
                          <a:effectLst/>
                          <a:latin typeface="+mn-lt"/>
                          <a:ea typeface="Times New Roman"/>
                          <a:cs typeface="Times New Roman"/>
                        </a:rPr>
                        <a:t>ills </a:t>
                      </a:r>
                      <a:r>
                        <a:rPr lang="en-US" sz="2000" spc="-5" dirty="0">
                          <a:effectLst/>
                          <a:latin typeface="+mn-lt"/>
                          <a:ea typeface="Times New Roman"/>
                          <a:cs typeface="Times New Roman"/>
                        </a:rPr>
                        <a:t>a</a:t>
                      </a:r>
                      <a:r>
                        <a:rPr lang="en-US" sz="2000" spc="10" dirty="0">
                          <a:effectLst/>
                          <a:latin typeface="+mn-lt"/>
                          <a:ea typeface="Times New Roman"/>
                          <a:cs typeface="Times New Roman"/>
                        </a:rPr>
                        <a:t>n</a:t>
                      </a:r>
                      <a:r>
                        <a:rPr lang="en-US" sz="2000" dirty="0">
                          <a:effectLst/>
                          <a:latin typeface="+mn-lt"/>
                          <a:ea typeface="Times New Roman"/>
                          <a:cs typeface="Times New Roman"/>
                        </a:rPr>
                        <a:t>y</a:t>
                      </a:r>
                      <a:r>
                        <a:rPr lang="en-US" sz="2000" spc="-25" dirty="0">
                          <a:effectLst/>
                          <a:latin typeface="+mn-lt"/>
                          <a:ea typeface="Times New Roman"/>
                          <a:cs typeface="Times New Roman"/>
                        </a:rPr>
                        <a:t> </a:t>
                      </a:r>
                      <a:r>
                        <a:rPr lang="en-US" sz="2000" dirty="0">
                          <a:effectLst/>
                          <a:latin typeface="+mn-lt"/>
                          <a:ea typeface="Times New Roman"/>
                          <a:cs typeface="Times New Roman"/>
                        </a:rPr>
                        <a:t>mo</a:t>
                      </a:r>
                      <a:r>
                        <a:rPr lang="en-US" sz="2000" spc="10" dirty="0">
                          <a:effectLst/>
                          <a:latin typeface="+mn-lt"/>
                          <a:ea typeface="Times New Roman"/>
                          <a:cs typeface="Times New Roman"/>
                        </a:rPr>
                        <a:t>r</a:t>
                      </a:r>
                      <a:r>
                        <a:rPr lang="en-US" sz="2000" dirty="0">
                          <a:effectLst/>
                          <a:latin typeface="+mn-lt"/>
                          <a:ea typeface="Times New Roman"/>
                          <a:cs typeface="Times New Roman"/>
                        </a:rPr>
                        <a:t>e</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5" dirty="0">
                          <a:effectLst/>
                          <a:latin typeface="+mn-lt"/>
                          <a:ea typeface="Times New Roman"/>
                          <a:cs typeface="Times New Roman"/>
                        </a:rPr>
                        <a:t>Improve fishing</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75655">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M</a:t>
                      </a:r>
                      <a:r>
                        <a:rPr lang="en-US" sz="2000" spc="-5" dirty="0">
                          <a:effectLst/>
                          <a:latin typeface="+mn-lt"/>
                          <a:ea typeface="Times New Roman"/>
                          <a:cs typeface="Times New Roman"/>
                        </a:rPr>
                        <a:t>a</a:t>
                      </a:r>
                      <a:r>
                        <a:rPr lang="en-US" sz="2000" spc="10" dirty="0">
                          <a:effectLst/>
                          <a:latin typeface="+mn-lt"/>
                          <a:ea typeface="Times New Roman"/>
                          <a:cs typeface="Times New Roman"/>
                        </a:rPr>
                        <a:t>n</a:t>
                      </a:r>
                      <a:r>
                        <a:rPr lang="en-US" sz="2000" dirty="0">
                          <a:effectLst/>
                          <a:latin typeface="+mn-lt"/>
                          <a:ea typeface="Times New Roman"/>
                          <a:cs typeface="Times New Roman"/>
                        </a:rPr>
                        <a:t>y</a:t>
                      </a:r>
                      <a:r>
                        <a:rPr lang="en-US" sz="2000" spc="-25" dirty="0">
                          <a:effectLst/>
                          <a:latin typeface="+mn-lt"/>
                          <a:ea typeface="Times New Roman"/>
                          <a:cs typeface="Times New Roman"/>
                        </a:rPr>
                        <a:t> </a:t>
                      </a:r>
                      <a:r>
                        <a:rPr lang="en-US" sz="2000" dirty="0">
                          <a:effectLst/>
                          <a:latin typeface="+mn-lt"/>
                          <a:ea typeface="Times New Roman"/>
                          <a:cs typeface="Times New Roman"/>
                        </a:rPr>
                        <a:t>loons die</a:t>
                      </a:r>
                      <a:r>
                        <a:rPr lang="en-US" sz="2000" spc="-5" dirty="0">
                          <a:effectLst/>
                          <a:latin typeface="+mn-lt"/>
                          <a:ea typeface="Times New Roman"/>
                          <a:cs typeface="Times New Roman"/>
                        </a:rPr>
                        <a:t> </a:t>
                      </a:r>
                      <a:r>
                        <a:rPr lang="en-US" sz="2000" dirty="0">
                          <a:effectLst/>
                          <a:latin typeface="+mn-lt"/>
                          <a:ea typeface="Times New Roman"/>
                          <a:cs typeface="Times New Roman"/>
                        </a:rPr>
                        <a:t>i</a:t>
                      </a:r>
                      <a:r>
                        <a:rPr lang="en-US" sz="2000" spc="10" dirty="0">
                          <a:effectLst/>
                          <a:latin typeface="+mn-lt"/>
                          <a:ea typeface="Times New Roman"/>
                          <a:cs typeface="Times New Roman"/>
                        </a:rPr>
                        <a:t>n</a:t>
                      </a:r>
                      <a:r>
                        <a:rPr lang="en-US" sz="2000" spc="-10" dirty="0">
                          <a:effectLst/>
                          <a:latin typeface="+mn-lt"/>
                          <a:ea typeface="Times New Roman"/>
                          <a:cs typeface="Times New Roman"/>
                        </a:rPr>
                        <a:t>g</a:t>
                      </a:r>
                      <a:r>
                        <a:rPr lang="en-US" sz="2000" spc="-5" dirty="0">
                          <a:effectLst/>
                          <a:latin typeface="+mn-lt"/>
                          <a:ea typeface="Times New Roman"/>
                          <a:cs typeface="Times New Roman"/>
                        </a:rPr>
                        <a:t>e</a:t>
                      </a:r>
                      <a:r>
                        <a:rPr lang="en-US" sz="2000" dirty="0">
                          <a:effectLst/>
                          <a:latin typeface="+mn-lt"/>
                          <a:ea typeface="Times New Roman"/>
                          <a:cs typeface="Times New Roman"/>
                        </a:rPr>
                        <a:t>sti</a:t>
                      </a:r>
                      <a:r>
                        <a:rPr lang="en-US" sz="2000" spc="10" dirty="0">
                          <a:effectLst/>
                          <a:latin typeface="+mn-lt"/>
                          <a:ea typeface="Times New Roman"/>
                          <a:cs typeface="Times New Roman"/>
                        </a:rPr>
                        <a:t>n</a:t>
                      </a:r>
                      <a:r>
                        <a:rPr lang="en-US" sz="2000" dirty="0">
                          <a:effectLst/>
                          <a:latin typeface="+mn-lt"/>
                          <a:ea typeface="Times New Roman"/>
                          <a:cs typeface="Times New Roman"/>
                        </a:rPr>
                        <a:t>g l</a:t>
                      </a:r>
                      <a:r>
                        <a:rPr lang="en-US" sz="2000" spc="-5" dirty="0">
                          <a:effectLst/>
                          <a:latin typeface="+mn-lt"/>
                          <a:ea typeface="Times New Roman"/>
                          <a:cs typeface="Times New Roman"/>
                        </a:rPr>
                        <a:t>ea</a:t>
                      </a:r>
                      <a:r>
                        <a:rPr lang="en-US" sz="2000" dirty="0">
                          <a:effectLst/>
                          <a:latin typeface="+mn-lt"/>
                          <a:ea typeface="Times New Roman"/>
                          <a:cs typeface="Times New Roman"/>
                        </a:rPr>
                        <a:t>d t</a:t>
                      </a:r>
                      <a:r>
                        <a:rPr lang="en-US" sz="2000" spc="-5" dirty="0">
                          <a:effectLst/>
                          <a:latin typeface="+mn-lt"/>
                          <a:ea typeface="Times New Roman"/>
                          <a:cs typeface="Times New Roman"/>
                        </a:rPr>
                        <a:t>ac</a:t>
                      </a:r>
                      <a:r>
                        <a:rPr lang="en-US" sz="2000" dirty="0">
                          <a:effectLst/>
                          <a:latin typeface="+mn-lt"/>
                          <a:ea typeface="Times New Roman"/>
                          <a:cs typeface="Times New Roman"/>
                        </a:rPr>
                        <a:t>kle</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Reduce loon mortality and increase loon populations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650"/>
                        </a:lnSpc>
                        <a:spcBef>
                          <a:spcPts val="50"/>
                        </a:spcBef>
                        <a:spcAft>
                          <a:spcPts val="0"/>
                        </a:spcAft>
                      </a:pPr>
                      <a:r>
                        <a:rPr lang="en-US" sz="2000" dirty="0">
                          <a:effectLst/>
                          <a:latin typeface="+mn-lt"/>
                          <a:ea typeface="Calibri"/>
                          <a:cs typeface="Times New Roman"/>
                        </a:rPr>
                        <a:t>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813263">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0" dirty="0">
                          <a:effectLst/>
                          <a:latin typeface="+mn-lt"/>
                          <a:ea typeface="Times New Roman"/>
                          <a:cs typeface="Times New Roman"/>
                        </a:rPr>
                        <a:t>B</a:t>
                      </a:r>
                      <a:r>
                        <a:rPr lang="en-US" sz="2000" spc="-5" dirty="0">
                          <a:effectLst/>
                          <a:latin typeface="+mn-lt"/>
                          <a:ea typeface="Times New Roman"/>
                          <a:cs typeface="Times New Roman"/>
                        </a:rPr>
                        <a:t>a</a:t>
                      </a:r>
                      <a:r>
                        <a:rPr lang="en-US" sz="2000" dirty="0">
                          <a:effectLst/>
                          <a:latin typeface="+mn-lt"/>
                          <a:ea typeface="Times New Roman"/>
                          <a:cs typeface="Times New Roman"/>
                        </a:rPr>
                        <a:t>ll</a:t>
                      </a:r>
                      <a:r>
                        <a:rPr lang="en-US" sz="2000" spc="-5" dirty="0">
                          <a:effectLst/>
                          <a:latin typeface="+mn-lt"/>
                          <a:ea typeface="Times New Roman"/>
                          <a:cs typeface="Times New Roman"/>
                        </a:rPr>
                        <a:t>a</a:t>
                      </a:r>
                      <a:r>
                        <a:rPr lang="en-US" sz="2000" dirty="0">
                          <a:effectLst/>
                          <a:latin typeface="+mn-lt"/>
                          <a:ea typeface="Times New Roman"/>
                          <a:cs typeface="Times New Roman"/>
                        </a:rPr>
                        <a:t>st w</a:t>
                      </a:r>
                      <a:r>
                        <a:rPr lang="en-US" sz="2000" spc="-5" dirty="0">
                          <a:effectLst/>
                          <a:latin typeface="+mn-lt"/>
                          <a:ea typeface="Times New Roman"/>
                          <a:cs typeface="Times New Roman"/>
                        </a:rPr>
                        <a:t>a</a:t>
                      </a:r>
                      <a:r>
                        <a:rPr lang="en-US" sz="2000" spc="15" dirty="0">
                          <a:effectLst/>
                          <a:latin typeface="+mn-lt"/>
                          <a:ea typeface="Times New Roman"/>
                          <a:cs typeface="Times New Roman"/>
                        </a:rPr>
                        <a:t>t</a:t>
                      </a:r>
                      <a:r>
                        <a:rPr lang="en-US" sz="2000" spc="-5" dirty="0">
                          <a:effectLst/>
                          <a:latin typeface="+mn-lt"/>
                          <a:ea typeface="Times New Roman"/>
                          <a:cs typeface="Times New Roman"/>
                        </a:rPr>
                        <a:t>e</a:t>
                      </a:r>
                      <a:r>
                        <a:rPr lang="en-US" sz="2000" dirty="0">
                          <a:effectLst/>
                          <a:latin typeface="+mn-lt"/>
                          <a:ea typeface="Times New Roman"/>
                          <a:cs typeface="Times New Roman"/>
                        </a:rPr>
                        <a:t>r</a:t>
                      </a:r>
                      <a:r>
                        <a:rPr lang="en-US" sz="2000" spc="-5" dirty="0">
                          <a:effectLst/>
                          <a:latin typeface="+mn-lt"/>
                          <a:ea typeface="Times New Roman"/>
                          <a:cs typeface="Times New Roman"/>
                        </a:rPr>
                        <a:t> </a:t>
                      </a:r>
                      <a:r>
                        <a:rPr lang="en-US" sz="2000" dirty="0">
                          <a:effectLst/>
                          <a:latin typeface="+mn-lt"/>
                          <a:ea typeface="Times New Roman"/>
                          <a:cs typeface="Times New Roman"/>
                        </a:rPr>
                        <a:t>b</a:t>
                      </a:r>
                      <a:r>
                        <a:rPr lang="en-US" sz="2000" spc="-5" dirty="0">
                          <a:effectLst/>
                          <a:latin typeface="+mn-lt"/>
                          <a:ea typeface="Times New Roman"/>
                          <a:cs typeface="Times New Roman"/>
                        </a:rPr>
                        <a:t>r</a:t>
                      </a:r>
                      <a:r>
                        <a:rPr lang="en-US" sz="2000" dirty="0">
                          <a:effectLst/>
                          <a:latin typeface="+mn-lt"/>
                          <a:ea typeface="Times New Roman"/>
                          <a:cs typeface="Times New Roman"/>
                        </a:rPr>
                        <a:t>i</a:t>
                      </a:r>
                      <a:r>
                        <a:rPr lang="en-US" sz="2000" spc="10" dirty="0">
                          <a:effectLst/>
                          <a:latin typeface="+mn-lt"/>
                          <a:ea typeface="Times New Roman"/>
                          <a:cs typeface="Times New Roman"/>
                        </a:rPr>
                        <a:t>n</a:t>
                      </a:r>
                      <a:r>
                        <a:rPr lang="en-US" sz="2000" spc="-10" dirty="0">
                          <a:effectLst/>
                          <a:latin typeface="+mn-lt"/>
                          <a:ea typeface="Times New Roman"/>
                          <a:cs typeface="Times New Roman"/>
                        </a:rPr>
                        <a:t>g</a:t>
                      </a:r>
                      <a:r>
                        <a:rPr lang="en-US" sz="2000" dirty="0">
                          <a:effectLst/>
                          <a:latin typeface="+mn-lt"/>
                          <a:ea typeface="Times New Roman"/>
                          <a:cs typeface="Times New Roman"/>
                        </a:rPr>
                        <a:t>s inv</a:t>
                      </a:r>
                      <a:r>
                        <a:rPr lang="en-US" sz="2000" spc="5" dirty="0">
                          <a:effectLst/>
                          <a:latin typeface="+mn-lt"/>
                          <a:ea typeface="Times New Roman"/>
                          <a:cs typeface="Times New Roman"/>
                        </a:rPr>
                        <a:t>a</a:t>
                      </a:r>
                      <a:r>
                        <a:rPr lang="en-US" sz="2000" dirty="0">
                          <a:effectLst/>
                          <a:latin typeface="+mn-lt"/>
                          <a:ea typeface="Times New Roman"/>
                          <a:cs typeface="Times New Roman"/>
                        </a:rPr>
                        <a:t>sive</a:t>
                      </a:r>
                      <a:r>
                        <a:rPr lang="en-US" sz="2000" spc="-5" dirty="0">
                          <a:effectLst/>
                          <a:latin typeface="+mn-lt"/>
                          <a:ea typeface="Times New Roman"/>
                          <a:cs typeface="Times New Roman"/>
                        </a:rPr>
                        <a:t> </a:t>
                      </a:r>
                      <a:r>
                        <a:rPr lang="en-US" sz="2000" dirty="0">
                          <a:effectLst/>
                          <a:latin typeface="+mn-lt"/>
                          <a:ea typeface="Times New Roman"/>
                          <a:cs typeface="Times New Roman"/>
                        </a:rPr>
                        <a:t>sp</a:t>
                      </a:r>
                      <a:r>
                        <a:rPr lang="en-US" sz="2000" spc="-5" dirty="0">
                          <a:effectLst/>
                          <a:latin typeface="+mn-lt"/>
                          <a:ea typeface="Times New Roman"/>
                          <a:cs typeface="Times New Roman"/>
                        </a:rPr>
                        <a:t>ec</a:t>
                      </a:r>
                      <a:r>
                        <a:rPr lang="en-US" sz="2000" dirty="0">
                          <a:effectLst/>
                          <a:latin typeface="+mn-lt"/>
                          <a:ea typeface="Times New Roman"/>
                          <a:cs typeface="Times New Roman"/>
                        </a:rPr>
                        <a:t>i</a:t>
                      </a:r>
                      <a:r>
                        <a:rPr lang="en-US" sz="2000" spc="-5" dirty="0">
                          <a:effectLst/>
                          <a:latin typeface="+mn-lt"/>
                          <a:ea typeface="Times New Roman"/>
                          <a:cs typeface="Times New Roman"/>
                        </a:rPr>
                        <a:t>es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650"/>
                        </a:lnSpc>
                        <a:spcBef>
                          <a:spcPts val="5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10" dirty="0">
                          <a:effectLst/>
                          <a:latin typeface="+mn-lt"/>
                          <a:ea typeface="Times New Roman"/>
                          <a:cs typeface="Times New Roman"/>
                        </a:rPr>
                        <a:t>Avoid release of invasive species and protect native species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441325">
                        <a:lnSpc>
                          <a:spcPct val="115000"/>
                        </a:lnSpc>
                        <a:spcBef>
                          <a:spcPts val="15"/>
                        </a:spcBef>
                        <a:spcAft>
                          <a:spcPts val="0"/>
                        </a:spcAft>
                      </a:pP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712825">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spc="5" dirty="0">
                          <a:effectLst/>
                          <a:latin typeface="+mn-lt"/>
                          <a:ea typeface="Times New Roman"/>
                          <a:cs typeface="Times New Roman"/>
                        </a:rPr>
                        <a:t>C</a:t>
                      </a:r>
                      <a:r>
                        <a:rPr lang="en-US" sz="2000" spc="-5" dirty="0">
                          <a:effectLst/>
                          <a:latin typeface="+mn-lt"/>
                          <a:ea typeface="Times New Roman"/>
                          <a:cs typeface="Times New Roman"/>
                        </a:rPr>
                        <a:t>er</a:t>
                      </a:r>
                      <a:r>
                        <a:rPr lang="en-US" sz="2000" dirty="0">
                          <a:effectLst/>
                          <a:latin typeface="+mn-lt"/>
                          <a:ea typeface="Times New Roman"/>
                          <a:cs typeface="Times New Roman"/>
                        </a:rPr>
                        <a:t>t</a:t>
                      </a:r>
                      <a:r>
                        <a:rPr lang="en-US" sz="2000" spc="-5" dirty="0">
                          <a:effectLst/>
                          <a:latin typeface="+mn-lt"/>
                          <a:ea typeface="Times New Roman"/>
                          <a:cs typeface="Times New Roman"/>
                        </a:rPr>
                        <a:t>a</a:t>
                      </a:r>
                      <a:r>
                        <a:rPr lang="en-US" sz="2000" dirty="0">
                          <a:effectLst/>
                          <a:latin typeface="+mn-lt"/>
                          <a:ea typeface="Times New Roman"/>
                          <a:cs typeface="Times New Roman"/>
                        </a:rPr>
                        <a:t>in interest groups</a:t>
                      </a:r>
                      <a:r>
                        <a:rPr lang="en-US" sz="2000" spc="15" dirty="0">
                          <a:effectLst/>
                          <a:latin typeface="+mn-lt"/>
                          <a:ea typeface="Times New Roman"/>
                          <a:cs typeface="Times New Roman"/>
                        </a:rPr>
                        <a:t> </a:t>
                      </a:r>
                      <a:r>
                        <a:rPr lang="en-US" sz="2000" spc="-5" dirty="0">
                          <a:effectLst/>
                          <a:latin typeface="+mn-lt"/>
                          <a:ea typeface="Times New Roman"/>
                          <a:cs typeface="Times New Roman"/>
                        </a:rPr>
                        <a:t>fee</a:t>
                      </a:r>
                      <a:r>
                        <a:rPr lang="en-US" sz="2000" dirty="0">
                          <a:effectLst/>
                          <a:latin typeface="+mn-lt"/>
                          <a:ea typeface="Times New Roman"/>
                          <a:cs typeface="Times New Roman"/>
                        </a:rPr>
                        <a:t>l</a:t>
                      </a:r>
                      <a:r>
                        <a:rPr lang="en-US" sz="2000" spc="15" dirty="0">
                          <a:effectLst/>
                          <a:latin typeface="+mn-lt"/>
                          <a:ea typeface="Times New Roman"/>
                          <a:cs typeface="Times New Roman"/>
                        </a:rPr>
                        <a:t> </a:t>
                      </a:r>
                      <a:r>
                        <a:rPr lang="en-US" sz="2000" spc="-5" dirty="0">
                          <a:effectLst/>
                          <a:latin typeface="+mn-lt"/>
                          <a:ea typeface="Times New Roman"/>
                          <a:cs typeface="Times New Roman"/>
                        </a:rPr>
                        <a:t>e</a:t>
                      </a:r>
                      <a:r>
                        <a:rPr lang="en-US" sz="2000" spc="10" dirty="0">
                          <a:effectLst/>
                          <a:latin typeface="+mn-lt"/>
                          <a:ea typeface="Times New Roman"/>
                          <a:cs typeface="Times New Roman"/>
                        </a:rPr>
                        <a:t>x</a:t>
                      </a:r>
                      <a:r>
                        <a:rPr lang="en-US" sz="2000" spc="-5" dirty="0">
                          <a:effectLst/>
                          <a:latin typeface="+mn-lt"/>
                          <a:ea typeface="Times New Roman"/>
                          <a:cs typeface="Times New Roman"/>
                        </a:rPr>
                        <a:t>c</a:t>
                      </a:r>
                      <a:r>
                        <a:rPr lang="en-US" sz="2000" dirty="0">
                          <a:effectLst/>
                          <a:latin typeface="+mn-lt"/>
                          <a:ea typeface="Times New Roman"/>
                          <a:cs typeface="Times New Roman"/>
                        </a:rPr>
                        <a:t>lud</a:t>
                      </a:r>
                      <a:r>
                        <a:rPr lang="en-US" sz="2000" spc="-5" dirty="0">
                          <a:effectLst/>
                          <a:latin typeface="+mn-lt"/>
                          <a:ea typeface="Times New Roman"/>
                          <a:cs typeface="Times New Roman"/>
                        </a:rPr>
                        <a:t>ed</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a:effectLst/>
                          <a:latin typeface="+mn-lt"/>
                          <a:ea typeface="Calibri"/>
                          <a:cs typeface="Times New Roman"/>
                        </a:rPr>
                        <a:t> </a:t>
                      </a:r>
                    </a:p>
                    <a:p>
                      <a:pPr marL="64770" marR="0">
                        <a:lnSpc>
                          <a:spcPct val="115000"/>
                        </a:lnSpc>
                        <a:spcBef>
                          <a:spcPts val="0"/>
                        </a:spcBef>
                        <a:spcAft>
                          <a:spcPts val="0"/>
                        </a:spcAft>
                      </a:pPr>
                      <a:r>
                        <a:rPr lang="en-US" sz="2000" spc="5">
                          <a:effectLst/>
                          <a:latin typeface="+mn-lt"/>
                          <a:ea typeface="Times New Roman"/>
                          <a:cs typeface="Times New Roman"/>
                        </a:rPr>
                        <a:t>Organize an inclusive decision process</a:t>
                      </a:r>
                      <a:endParaRPr lang="en-US" sz="200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64770" marR="55880">
                        <a:lnSpc>
                          <a:spcPct val="115000"/>
                        </a:lnSpc>
                        <a:spcBef>
                          <a:spcPts val="15"/>
                        </a:spcBef>
                        <a:spcAft>
                          <a:spcPts val="0"/>
                        </a:spcAft>
                      </a:pP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581824">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I</a:t>
                      </a:r>
                      <a:r>
                        <a:rPr lang="en-US" sz="2000" spc="-5" dirty="0">
                          <a:effectLst/>
                          <a:latin typeface="+mn-lt"/>
                          <a:ea typeface="Times New Roman"/>
                          <a:cs typeface="Times New Roman"/>
                        </a:rPr>
                        <a:t> </a:t>
                      </a:r>
                      <a:r>
                        <a:rPr lang="en-US" sz="2000" dirty="0">
                          <a:effectLst/>
                          <a:latin typeface="+mn-lt"/>
                          <a:ea typeface="Times New Roman"/>
                          <a:cs typeface="Times New Roman"/>
                        </a:rPr>
                        <a:t>won</a:t>
                      </a:r>
                      <a:r>
                        <a:rPr lang="en-US" sz="2000" spc="-5" dirty="0">
                          <a:effectLst/>
                          <a:latin typeface="+mn-lt"/>
                          <a:ea typeface="Times New Roman"/>
                          <a:cs typeface="Times New Roman"/>
                        </a:rPr>
                        <a:t>’</a:t>
                      </a:r>
                      <a:r>
                        <a:rPr lang="en-US" sz="2000" dirty="0">
                          <a:effectLst/>
                          <a:latin typeface="+mn-lt"/>
                          <a:ea typeface="Times New Roman"/>
                          <a:cs typeface="Times New Roman"/>
                        </a:rPr>
                        <a:t>t h</a:t>
                      </a:r>
                      <a:r>
                        <a:rPr lang="en-US" sz="2000" spc="-5" dirty="0">
                          <a:effectLst/>
                          <a:latin typeface="+mn-lt"/>
                          <a:ea typeface="Times New Roman"/>
                          <a:cs typeface="Times New Roman"/>
                        </a:rPr>
                        <a:t>a</a:t>
                      </a:r>
                      <a:r>
                        <a:rPr lang="en-US" sz="2000" dirty="0">
                          <a:effectLst/>
                          <a:latin typeface="+mn-lt"/>
                          <a:ea typeface="Times New Roman"/>
                          <a:cs typeface="Times New Roman"/>
                        </a:rPr>
                        <a:t>ve</a:t>
                      </a:r>
                      <a:r>
                        <a:rPr lang="en-US" sz="2000" spc="5" dirty="0">
                          <a:effectLst/>
                          <a:latin typeface="+mn-lt"/>
                          <a:ea typeface="Times New Roman"/>
                          <a:cs typeface="Times New Roman"/>
                        </a:rPr>
                        <a:t> </a:t>
                      </a:r>
                      <a:r>
                        <a:rPr lang="en-US" sz="2000" spc="-5" dirty="0">
                          <a:effectLst/>
                          <a:latin typeface="+mn-lt"/>
                          <a:ea typeface="Times New Roman"/>
                          <a:cs typeface="Times New Roman"/>
                        </a:rPr>
                        <a:t>e</a:t>
                      </a:r>
                      <a:r>
                        <a:rPr lang="en-US" sz="2000" dirty="0">
                          <a:effectLst/>
                          <a:latin typeface="+mn-lt"/>
                          <a:ea typeface="Times New Roman"/>
                          <a:cs typeface="Times New Roman"/>
                        </a:rPr>
                        <a:t>no</a:t>
                      </a:r>
                      <a:r>
                        <a:rPr lang="en-US" sz="2000" spc="10" dirty="0">
                          <a:effectLst/>
                          <a:latin typeface="+mn-lt"/>
                          <a:ea typeface="Times New Roman"/>
                          <a:cs typeface="Times New Roman"/>
                        </a:rPr>
                        <a:t>u</a:t>
                      </a:r>
                      <a:r>
                        <a:rPr lang="en-US" sz="2000" spc="-10" dirty="0">
                          <a:effectLst/>
                          <a:latin typeface="+mn-lt"/>
                          <a:ea typeface="Times New Roman"/>
                          <a:cs typeface="Times New Roman"/>
                        </a:rPr>
                        <a:t>g</a:t>
                      </a:r>
                      <a:r>
                        <a:rPr lang="en-US" sz="2000" dirty="0">
                          <a:effectLst/>
                          <a:latin typeface="+mn-lt"/>
                          <a:ea typeface="Times New Roman"/>
                          <a:cs typeface="Times New Roman"/>
                        </a:rPr>
                        <a:t>h m</a:t>
                      </a:r>
                      <a:r>
                        <a:rPr lang="en-US" sz="2000" spc="10" dirty="0">
                          <a:effectLst/>
                          <a:latin typeface="+mn-lt"/>
                          <a:ea typeface="Times New Roman"/>
                          <a:cs typeface="Times New Roman"/>
                        </a:rPr>
                        <a:t>o</a:t>
                      </a:r>
                      <a:r>
                        <a:rPr lang="en-US" sz="2000" dirty="0">
                          <a:effectLst/>
                          <a:latin typeface="+mn-lt"/>
                          <a:ea typeface="Times New Roman"/>
                          <a:cs typeface="Times New Roman"/>
                        </a:rPr>
                        <a:t>n</a:t>
                      </a:r>
                      <a:r>
                        <a:rPr lang="en-US" sz="2000" spc="5" dirty="0">
                          <a:effectLst/>
                          <a:latin typeface="+mn-lt"/>
                          <a:ea typeface="Times New Roman"/>
                          <a:cs typeface="Times New Roman"/>
                        </a:rPr>
                        <a:t>e</a:t>
                      </a:r>
                      <a:r>
                        <a:rPr lang="en-US" sz="2000" dirty="0">
                          <a:effectLst/>
                          <a:latin typeface="+mn-lt"/>
                          <a:ea typeface="Times New Roman"/>
                          <a:cs typeface="Times New Roman"/>
                        </a:rPr>
                        <a:t>y</a:t>
                      </a:r>
                      <a:r>
                        <a:rPr lang="en-US" sz="2000" spc="-10" dirty="0">
                          <a:effectLst/>
                          <a:latin typeface="+mn-lt"/>
                          <a:ea typeface="Times New Roman"/>
                          <a:cs typeface="Times New Roman"/>
                        </a:rPr>
                        <a:t> </a:t>
                      </a:r>
                      <a:r>
                        <a:rPr lang="en-US" sz="2000" spc="-5" dirty="0">
                          <a:effectLst/>
                          <a:latin typeface="+mn-lt"/>
                          <a:ea typeface="Times New Roman"/>
                          <a:cs typeface="Times New Roman"/>
                        </a:rPr>
                        <a:t>f</a:t>
                      </a:r>
                      <a:r>
                        <a:rPr lang="en-US" sz="2000" dirty="0">
                          <a:effectLst/>
                          <a:latin typeface="+mn-lt"/>
                          <a:ea typeface="Times New Roman"/>
                          <a:cs typeface="Times New Roman"/>
                        </a:rPr>
                        <a:t>or</a:t>
                      </a:r>
                      <a:r>
                        <a:rPr lang="en-US" sz="2000" spc="-5" dirty="0">
                          <a:effectLst/>
                          <a:latin typeface="+mn-lt"/>
                          <a:ea typeface="Times New Roman"/>
                          <a:cs typeface="Times New Roman"/>
                        </a:rPr>
                        <a:t> </a:t>
                      </a:r>
                      <a:r>
                        <a:rPr lang="en-US" sz="2000" dirty="0">
                          <a:effectLst/>
                          <a:latin typeface="+mn-lt"/>
                          <a:ea typeface="Times New Roman"/>
                          <a:cs typeface="Times New Roman"/>
                        </a:rPr>
                        <a:t>this</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p>
                      <a:pPr marL="64770" marR="0">
                        <a:lnSpc>
                          <a:spcPct val="115000"/>
                        </a:lnSpc>
                        <a:spcBef>
                          <a:spcPts val="0"/>
                        </a:spcBef>
                        <a:spcAft>
                          <a:spcPts val="0"/>
                        </a:spcAft>
                      </a:pPr>
                      <a:r>
                        <a:rPr lang="en-US" sz="2000" dirty="0">
                          <a:effectLst/>
                          <a:latin typeface="+mn-lt"/>
                          <a:ea typeface="Times New Roman"/>
                          <a:cs typeface="Times New Roman"/>
                        </a:rPr>
                        <a:t>Reduce cost and manage within budget</a:t>
                      </a:r>
                      <a:endParaRPr lang="en-US" sz="2000" dirty="0">
                        <a:effectLst/>
                        <a:latin typeface="+mn-lt"/>
                        <a:ea typeface="Calibri"/>
                        <a:cs typeface="Times New Roman"/>
                      </a:endParaRP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nSpc>
                          <a:spcPts val="700"/>
                        </a:lnSpc>
                        <a:spcBef>
                          <a:spcPts val="10"/>
                        </a:spcBef>
                        <a:spcAft>
                          <a:spcPts val="0"/>
                        </a:spcAft>
                      </a:pPr>
                      <a:r>
                        <a:rPr lang="en-US" sz="2000" dirty="0">
                          <a:effectLst/>
                          <a:latin typeface="+mn-lt"/>
                          <a:ea typeface="Calibri"/>
                          <a:cs typeface="Times New Roman"/>
                        </a:rPr>
                        <a:t>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TextBox 8">
            <a:extLst>
              <a:ext uri="{FF2B5EF4-FFF2-40B4-BE49-F238E27FC236}">
                <a16:creationId xmlns:a16="http://schemas.microsoft.com/office/drawing/2014/main" id="{153FBABB-CAA4-4F89-7051-4FED65265D9C}"/>
              </a:ext>
            </a:extLst>
          </p:cNvPr>
          <p:cNvSpPr txBox="1"/>
          <p:nvPr/>
        </p:nvSpPr>
        <p:spPr>
          <a:xfrm>
            <a:off x="7829930" y="2187357"/>
            <a:ext cx="4288918" cy="425501"/>
          </a:xfrm>
          <a:prstGeom prst="rect">
            <a:avLst/>
          </a:prstGeom>
          <a:noFill/>
        </p:spPr>
        <p:txBody>
          <a:bodyPr wrap="square">
            <a:spAutoFit/>
          </a:bodyPr>
          <a:lstStyle/>
          <a:p>
            <a:pPr marL="64770" marR="0">
              <a:lnSpc>
                <a:spcPct val="115000"/>
              </a:lnSpc>
              <a:spcBef>
                <a:spcPts val="0"/>
              </a:spcBef>
              <a:spcAft>
                <a:spcPts val="0"/>
              </a:spcAft>
            </a:pPr>
            <a:r>
              <a:rPr lang="en-US" sz="2000" dirty="0">
                <a:effectLst/>
                <a:latin typeface="+mn-lt"/>
                <a:ea typeface="Times New Roman"/>
                <a:cs typeface="Times New Roman"/>
              </a:rPr>
              <a:t>M</a:t>
            </a:r>
            <a:r>
              <a:rPr lang="en-US" sz="2000" spc="-5" dirty="0">
                <a:effectLst/>
                <a:latin typeface="+mn-lt"/>
                <a:ea typeface="Times New Roman"/>
                <a:cs typeface="Times New Roman"/>
              </a:rPr>
              <a:t>a</a:t>
            </a:r>
            <a:r>
              <a:rPr lang="en-US" sz="2000" spc="10" dirty="0">
                <a:effectLst/>
                <a:latin typeface="+mn-lt"/>
                <a:ea typeface="Times New Roman"/>
                <a:cs typeface="Times New Roman"/>
              </a:rPr>
              <a:t>x</a:t>
            </a:r>
            <a:r>
              <a:rPr lang="en-US" sz="2000" dirty="0">
                <a:effectLst/>
                <a:latin typeface="+mn-lt"/>
                <a:ea typeface="Times New Roman"/>
                <a:cs typeface="Times New Roman"/>
              </a:rPr>
              <a:t>im</a:t>
            </a:r>
            <a:r>
              <a:rPr lang="en-US" sz="2000" spc="-10" dirty="0">
                <a:effectLst/>
                <a:latin typeface="+mn-lt"/>
                <a:ea typeface="Times New Roman"/>
                <a:cs typeface="Times New Roman"/>
              </a:rPr>
              <a:t>i</a:t>
            </a:r>
            <a:r>
              <a:rPr lang="en-US" sz="2000" spc="5" dirty="0">
                <a:effectLst/>
                <a:latin typeface="+mn-lt"/>
                <a:ea typeface="Times New Roman"/>
                <a:cs typeface="Times New Roman"/>
              </a:rPr>
              <a:t>z</a:t>
            </a:r>
            <a:r>
              <a:rPr lang="en-US" sz="2000" dirty="0">
                <a:effectLst/>
                <a:latin typeface="+mn-lt"/>
                <a:ea typeface="Times New Roman"/>
                <a:cs typeface="Times New Roman"/>
              </a:rPr>
              <a:t>e</a:t>
            </a:r>
            <a:r>
              <a:rPr lang="en-US" sz="2000" spc="-5" dirty="0">
                <a:effectLst/>
                <a:latin typeface="+mn-lt"/>
                <a:ea typeface="Times New Roman"/>
                <a:cs typeface="Times New Roman"/>
              </a:rPr>
              <a:t> recr</a:t>
            </a:r>
            <a:r>
              <a:rPr lang="en-US" sz="2000" spc="5" dirty="0">
                <a:effectLst/>
                <a:latin typeface="+mn-lt"/>
                <a:ea typeface="Times New Roman"/>
                <a:cs typeface="Times New Roman"/>
              </a:rPr>
              <a:t>e</a:t>
            </a:r>
            <a:r>
              <a:rPr lang="en-US" sz="2000" spc="-5" dirty="0">
                <a:effectLst/>
                <a:latin typeface="+mn-lt"/>
                <a:ea typeface="Times New Roman"/>
                <a:cs typeface="Times New Roman"/>
              </a:rPr>
              <a:t>a</a:t>
            </a:r>
            <a:r>
              <a:rPr lang="en-US" sz="2000" dirty="0">
                <a:effectLst/>
                <a:latin typeface="+mn-lt"/>
                <a:ea typeface="Times New Roman"/>
                <a:cs typeface="Times New Roman"/>
              </a:rPr>
              <a:t>tion</a:t>
            </a:r>
            <a:r>
              <a:rPr lang="en-US" sz="2000" spc="-5" dirty="0">
                <a:effectLst/>
                <a:latin typeface="+mn-lt"/>
                <a:ea typeface="Times New Roman"/>
                <a:cs typeface="Times New Roman"/>
              </a:rPr>
              <a:t>a</a:t>
            </a:r>
            <a:r>
              <a:rPr lang="en-US" sz="2000" dirty="0">
                <a:effectLst/>
                <a:latin typeface="+mn-lt"/>
                <a:ea typeface="Times New Roman"/>
                <a:cs typeface="Times New Roman"/>
              </a:rPr>
              <a:t>l </a:t>
            </a:r>
            <a:r>
              <a:rPr lang="en-US" sz="2000" spc="-5" dirty="0">
                <a:effectLst/>
                <a:latin typeface="+mn-lt"/>
                <a:ea typeface="Times New Roman"/>
                <a:cs typeface="Times New Roman"/>
              </a:rPr>
              <a:t>f</a:t>
            </a:r>
            <a:r>
              <a:rPr lang="en-US" sz="2000" dirty="0">
                <a:effectLst/>
                <a:latin typeface="+mn-lt"/>
                <a:ea typeface="Times New Roman"/>
                <a:cs typeface="Times New Roman"/>
              </a:rPr>
              <a:t>ishing</a:t>
            </a:r>
            <a:r>
              <a:rPr lang="en-US" sz="2000" spc="-10" dirty="0">
                <a:effectLst/>
                <a:latin typeface="+mn-lt"/>
                <a:ea typeface="Times New Roman"/>
                <a:cs typeface="Times New Roman"/>
              </a:rPr>
              <a:t> </a:t>
            </a:r>
            <a:r>
              <a:rPr lang="en-US" sz="2000" dirty="0">
                <a:effectLst/>
                <a:latin typeface="+mn-lt"/>
                <a:ea typeface="Times New Roman"/>
                <a:cs typeface="Times New Roman"/>
              </a:rPr>
              <a:t>su</a:t>
            </a:r>
            <a:r>
              <a:rPr lang="en-US" sz="2000" spc="-5" dirty="0">
                <a:effectLst/>
                <a:latin typeface="+mn-lt"/>
                <a:ea typeface="Times New Roman"/>
                <a:cs typeface="Times New Roman"/>
              </a:rPr>
              <a:t>c</a:t>
            </a:r>
            <a:r>
              <a:rPr lang="en-US" sz="2000" spc="5" dirty="0">
                <a:effectLst/>
                <a:latin typeface="+mn-lt"/>
                <a:ea typeface="Times New Roman"/>
                <a:cs typeface="Times New Roman"/>
              </a:rPr>
              <a:t>c</a:t>
            </a:r>
            <a:r>
              <a:rPr lang="en-US" sz="2000" spc="-5" dirty="0">
                <a:effectLst/>
                <a:latin typeface="+mn-lt"/>
                <a:ea typeface="Times New Roman"/>
                <a:cs typeface="Times New Roman"/>
              </a:rPr>
              <a:t>e</a:t>
            </a:r>
            <a:r>
              <a:rPr lang="en-US" sz="2000" dirty="0">
                <a:effectLst/>
                <a:latin typeface="+mn-lt"/>
                <a:ea typeface="Times New Roman"/>
                <a:cs typeface="Times New Roman"/>
              </a:rPr>
              <a:t>ss</a:t>
            </a:r>
            <a:endParaRPr lang="en-US" sz="2000" dirty="0">
              <a:effectLst/>
              <a:latin typeface="+mn-lt"/>
              <a:ea typeface="Calibri"/>
              <a:cs typeface="Times New Roman"/>
            </a:endParaRPr>
          </a:p>
        </p:txBody>
      </p:sp>
      <p:sp>
        <p:nvSpPr>
          <p:cNvPr id="11" name="TextBox 10">
            <a:extLst>
              <a:ext uri="{FF2B5EF4-FFF2-40B4-BE49-F238E27FC236}">
                <a16:creationId xmlns:a16="http://schemas.microsoft.com/office/drawing/2014/main" id="{FB00B5B4-6C83-DF9F-F816-81C05E648077}"/>
              </a:ext>
            </a:extLst>
          </p:cNvPr>
          <p:cNvSpPr txBox="1"/>
          <p:nvPr/>
        </p:nvSpPr>
        <p:spPr>
          <a:xfrm>
            <a:off x="7829930" y="2662600"/>
            <a:ext cx="3829050" cy="779444"/>
          </a:xfrm>
          <a:prstGeom prst="rect">
            <a:avLst/>
          </a:prstGeom>
          <a:noFill/>
        </p:spPr>
        <p:txBody>
          <a:bodyPr wrap="square">
            <a:spAutoFit/>
          </a:bodyPr>
          <a:lstStyle/>
          <a:p>
            <a:pPr marL="64770" marR="0">
              <a:lnSpc>
                <a:spcPct val="115000"/>
              </a:lnSpc>
              <a:spcBef>
                <a:spcPts val="0"/>
              </a:spcBef>
              <a:spcAft>
                <a:spcPts val="0"/>
              </a:spcAft>
            </a:pPr>
            <a:r>
              <a:rPr lang="en-US" sz="2000" dirty="0">
                <a:effectLst/>
                <a:latin typeface="+mn-lt"/>
                <a:ea typeface="Times New Roman"/>
                <a:cs typeface="Times New Roman"/>
              </a:rPr>
              <a:t>M</a:t>
            </a:r>
            <a:r>
              <a:rPr lang="en-US" sz="2000" spc="-5" dirty="0">
                <a:effectLst/>
                <a:latin typeface="+mn-lt"/>
                <a:ea typeface="Times New Roman"/>
                <a:cs typeface="Times New Roman"/>
              </a:rPr>
              <a:t>a</a:t>
            </a:r>
            <a:r>
              <a:rPr lang="en-US" sz="2000" spc="10" dirty="0">
                <a:effectLst/>
                <a:latin typeface="+mn-lt"/>
                <a:ea typeface="Times New Roman"/>
                <a:cs typeface="Times New Roman"/>
              </a:rPr>
              <a:t>x</a:t>
            </a:r>
            <a:r>
              <a:rPr lang="en-US" sz="2000" dirty="0">
                <a:effectLst/>
                <a:latin typeface="+mn-lt"/>
                <a:ea typeface="Times New Roman"/>
                <a:cs typeface="Times New Roman"/>
              </a:rPr>
              <a:t>im</a:t>
            </a:r>
            <a:r>
              <a:rPr lang="en-US" sz="2000" spc="-10" dirty="0">
                <a:effectLst/>
                <a:latin typeface="+mn-lt"/>
                <a:ea typeface="Times New Roman"/>
                <a:cs typeface="Times New Roman"/>
              </a:rPr>
              <a:t>i</a:t>
            </a:r>
            <a:r>
              <a:rPr lang="en-US" sz="2000" spc="5" dirty="0">
                <a:effectLst/>
                <a:latin typeface="+mn-lt"/>
                <a:ea typeface="Times New Roman"/>
                <a:cs typeface="Times New Roman"/>
              </a:rPr>
              <a:t>z</a:t>
            </a:r>
            <a:r>
              <a:rPr lang="en-US" sz="2000" dirty="0">
                <a:effectLst/>
                <a:latin typeface="+mn-lt"/>
                <a:ea typeface="Times New Roman"/>
                <a:cs typeface="Times New Roman"/>
              </a:rPr>
              <a:t>e</a:t>
            </a:r>
            <a:r>
              <a:rPr lang="en-US" sz="2000" spc="-5" dirty="0">
                <a:effectLst/>
                <a:latin typeface="+mn-lt"/>
                <a:ea typeface="Times New Roman"/>
                <a:cs typeface="Times New Roman"/>
              </a:rPr>
              <a:t> </a:t>
            </a:r>
            <a:r>
              <a:rPr lang="en-US" sz="2000" dirty="0">
                <a:effectLst/>
                <a:latin typeface="+mn-lt"/>
                <a:ea typeface="Times New Roman"/>
                <a:cs typeface="Times New Roman"/>
              </a:rPr>
              <a:t>p</a:t>
            </a:r>
            <a:r>
              <a:rPr lang="en-US" sz="2000" spc="-5" dirty="0">
                <a:effectLst/>
                <a:latin typeface="+mn-lt"/>
                <a:ea typeface="Times New Roman"/>
                <a:cs typeface="Times New Roman"/>
              </a:rPr>
              <a:t>er</a:t>
            </a:r>
            <a:r>
              <a:rPr lang="en-US" sz="2000" dirty="0">
                <a:effectLst/>
                <a:latin typeface="+mn-lt"/>
                <a:ea typeface="Times New Roman"/>
                <a:cs typeface="Times New Roman"/>
              </a:rPr>
              <a:t>sist</a:t>
            </a:r>
            <a:r>
              <a:rPr lang="en-US" sz="2000" spc="-5" dirty="0">
                <a:effectLst/>
                <a:latin typeface="+mn-lt"/>
                <a:ea typeface="Times New Roman"/>
                <a:cs typeface="Times New Roman"/>
              </a:rPr>
              <a:t>e</a:t>
            </a:r>
            <a:r>
              <a:rPr lang="en-US" sz="2000" dirty="0">
                <a:effectLst/>
                <a:latin typeface="+mn-lt"/>
                <a:ea typeface="Times New Roman"/>
                <a:cs typeface="Times New Roman"/>
              </a:rPr>
              <a:t>n</a:t>
            </a:r>
            <a:r>
              <a:rPr lang="en-US" sz="2000" spc="-5" dirty="0">
                <a:effectLst/>
                <a:latin typeface="+mn-lt"/>
                <a:ea typeface="Times New Roman"/>
                <a:cs typeface="Times New Roman"/>
              </a:rPr>
              <a:t>c</a:t>
            </a:r>
            <a:r>
              <a:rPr lang="en-US" sz="2000" dirty="0">
                <a:effectLst/>
                <a:latin typeface="+mn-lt"/>
                <a:ea typeface="Times New Roman"/>
                <a:cs typeface="Times New Roman"/>
              </a:rPr>
              <a:t>e</a:t>
            </a:r>
            <a:r>
              <a:rPr lang="en-US" sz="2000" spc="-5" dirty="0">
                <a:effectLst/>
                <a:latin typeface="+mn-lt"/>
                <a:ea typeface="Times New Roman"/>
                <a:cs typeface="Times New Roman"/>
              </a:rPr>
              <a:t> </a:t>
            </a:r>
            <a:r>
              <a:rPr lang="en-US" sz="2000" dirty="0">
                <a:effectLst/>
                <a:latin typeface="+mn-lt"/>
                <a:ea typeface="Times New Roman"/>
                <a:cs typeface="Times New Roman"/>
              </a:rPr>
              <a:t>of</a:t>
            </a:r>
            <a:r>
              <a:rPr lang="en-US" sz="2000" spc="10" dirty="0">
                <a:effectLst/>
                <a:latin typeface="+mn-lt"/>
                <a:ea typeface="Times New Roman"/>
                <a:cs typeface="Times New Roman"/>
              </a:rPr>
              <a:t> </a:t>
            </a:r>
            <a:r>
              <a:rPr lang="en-US" sz="2000" dirty="0">
                <a:effectLst/>
                <a:latin typeface="+mn-lt"/>
                <a:ea typeface="Times New Roman"/>
                <a:cs typeface="Times New Roman"/>
              </a:rPr>
              <a:t>loon popul</a:t>
            </a:r>
            <a:r>
              <a:rPr lang="en-US" sz="2000" spc="-5" dirty="0">
                <a:effectLst/>
                <a:latin typeface="+mn-lt"/>
                <a:ea typeface="Times New Roman"/>
                <a:cs typeface="Times New Roman"/>
              </a:rPr>
              <a:t>a</a:t>
            </a:r>
            <a:r>
              <a:rPr lang="en-US" sz="2000" dirty="0">
                <a:effectLst/>
                <a:latin typeface="+mn-lt"/>
                <a:ea typeface="Times New Roman"/>
                <a:cs typeface="Times New Roman"/>
              </a:rPr>
              <a:t>tions</a:t>
            </a:r>
            <a:endParaRPr lang="en-US" sz="2000" dirty="0">
              <a:effectLst/>
              <a:latin typeface="+mn-lt"/>
              <a:ea typeface="Calibri"/>
              <a:cs typeface="Times New Roman"/>
            </a:endParaRPr>
          </a:p>
        </p:txBody>
      </p:sp>
      <p:sp>
        <p:nvSpPr>
          <p:cNvPr id="13" name="TextBox 12">
            <a:extLst>
              <a:ext uri="{FF2B5EF4-FFF2-40B4-BE49-F238E27FC236}">
                <a16:creationId xmlns:a16="http://schemas.microsoft.com/office/drawing/2014/main" id="{09F2BFBA-3499-925A-87D0-D0B7A0E45F10}"/>
              </a:ext>
            </a:extLst>
          </p:cNvPr>
          <p:cNvSpPr txBox="1"/>
          <p:nvPr/>
        </p:nvSpPr>
        <p:spPr>
          <a:xfrm>
            <a:off x="7829930" y="3579061"/>
            <a:ext cx="3829050" cy="779444"/>
          </a:xfrm>
          <a:prstGeom prst="rect">
            <a:avLst/>
          </a:prstGeom>
          <a:noFill/>
        </p:spPr>
        <p:txBody>
          <a:bodyPr wrap="square">
            <a:spAutoFit/>
          </a:bodyPr>
          <a:lstStyle/>
          <a:p>
            <a:pPr marL="64770" marR="441325">
              <a:lnSpc>
                <a:spcPct val="115000"/>
              </a:lnSpc>
              <a:spcBef>
                <a:spcPts val="15"/>
              </a:spcBef>
              <a:spcAft>
                <a:spcPts val="0"/>
              </a:spcAft>
            </a:pPr>
            <a:r>
              <a:rPr lang="en-US" sz="2000" dirty="0">
                <a:effectLst/>
                <a:latin typeface="+mn-lt"/>
                <a:ea typeface="Times New Roman"/>
                <a:cs typeface="Times New Roman"/>
              </a:rPr>
              <a:t>Maximize n</a:t>
            </a:r>
            <a:r>
              <a:rPr lang="en-US" sz="2000" spc="-5" dirty="0">
                <a:effectLst/>
                <a:latin typeface="+mn-lt"/>
                <a:ea typeface="Times New Roman"/>
                <a:cs typeface="Times New Roman"/>
              </a:rPr>
              <a:t>a</a:t>
            </a:r>
            <a:r>
              <a:rPr lang="en-US" sz="2000" dirty="0">
                <a:effectLst/>
                <a:latin typeface="+mn-lt"/>
                <a:ea typeface="Times New Roman"/>
                <a:cs typeface="Times New Roman"/>
              </a:rPr>
              <a:t>tive</a:t>
            </a:r>
            <a:r>
              <a:rPr lang="en-US" sz="2000" spc="-5" dirty="0">
                <a:effectLst/>
                <a:latin typeface="+mn-lt"/>
                <a:ea typeface="Times New Roman"/>
                <a:cs typeface="Times New Roman"/>
              </a:rPr>
              <a:t> </a:t>
            </a:r>
            <a:r>
              <a:rPr lang="en-US" sz="2000" dirty="0">
                <a:effectLst/>
                <a:latin typeface="+mn-lt"/>
                <a:ea typeface="Times New Roman"/>
                <a:cs typeface="Times New Roman"/>
              </a:rPr>
              <a:t>inv</a:t>
            </a:r>
            <a:r>
              <a:rPr lang="en-US" sz="2000" spc="-5" dirty="0">
                <a:effectLst/>
                <a:latin typeface="+mn-lt"/>
                <a:ea typeface="Times New Roman"/>
                <a:cs typeface="Times New Roman"/>
              </a:rPr>
              <a:t>er</a:t>
            </a:r>
            <a:r>
              <a:rPr lang="en-US" sz="2000" dirty="0">
                <a:effectLst/>
                <a:latin typeface="+mn-lt"/>
                <a:ea typeface="Times New Roman"/>
                <a:cs typeface="Times New Roman"/>
              </a:rPr>
              <a:t>t</a:t>
            </a:r>
            <a:r>
              <a:rPr lang="en-US" sz="2000" spc="-5" dirty="0">
                <a:effectLst/>
                <a:latin typeface="+mn-lt"/>
                <a:ea typeface="Times New Roman"/>
                <a:cs typeface="Times New Roman"/>
              </a:rPr>
              <a:t>e</a:t>
            </a:r>
            <a:r>
              <a:rPr lang="en-US" sz="2000" dirty="0">
                <a:effectLst/>
                <a:latin typeface="+mn-lt"/>
                <a:ea typeface="Times New Roman"/>
                <a:cs typeface="Times New Roman"/>
              </a:rPr>
              <a:t>b</a:t>
            </a:r>
            <a:r>
              <a:rPr lang="en-US" sz="2000" spc="10" dirty="0">
                <a:effectLst/>
                <a:latin typeface="+mn-lt"/>
                <a:ea typeface="Times New Roman"/>
                <a:cs typeface="Times New Roman"/>
              </a:rPr>
              <a:t>r</a:t>
            </a:r>
            <a:r>
              <a:rPr lang="en-US" sz="2000" spc="-5" dirty="0">
                <a:effectLst/>
                <a:latin typeface="+mn-lt"/>
                <a:ea typeface="Times New Roman"/>
                <a:cs typeface="Times New Roman"/>
              </a:rPr>
              <a:t>a</a:t>
            </a:r>
            <a:r>
              <a:rPr lang="en-US" sz="2000" dirty="0">
                <a:effectLst/>
                <a:latin typeface="+mn-lt"/>
                <a:ea typeface="Times New Roman"/>
                <a:cs typeface="Times New Roman"/>
              </a:rPr>
              <a:t>te</a:t>
            </a:r>
            <a:r>
              <a:rPr lang="en-US" sz="2000" spc="-5" dirty="0">
                <a:effectLst/>
                <a:latin typeface="+mn-lt"/>
                <a:ea typeface="Times New Roman"/>
                <a:cs typeface="Times New Roman"/>
              </a:rPr>
              <a:t> a</a:t>
            </a:r>
            <a:r>
              <a:rPr lang="en-US" sz="2000" dirty="0">
                <a:effectLst/>
                <a:latin typeface="+mn-lt"/>
                <a:ea typeface="Times New Roman"/>
                <a:cs typeface="Times New Roman"/>
              </a:rPr>
              <a:t>nd </a:t>
            </a:r>
            <a:r>
              <a:rPr lang="en-US" sz="2000" spc="-5" dirty="0">
                <a:effectLst/>
                <a:latin typeface="+mn-lt"/>
                <a:ea typeface="Times New Roman"/>
                <a:cs typeface="Times New Roman"/>
              </a:rPr>
              <a:t>f</a:t>
            </a:r>
            <a:r>
              <a:rPr lang="en-US" sz="2000" dirty="0">
                <a:effectLst/>
                <a:latin typeface="+mn-lt"/>
                <a:ea typeface="Times New Roman"/>
                <a:cs typeface="Times New Roman"/>
              </a:rPr>
              <a:t>ish </a:t>
            </a:r>
            <a:r>
              <a:rPr lang="en-US" sz="2000" spc="-5" dirty="0">
                <a:effectLst/>
                <a:latin typeface="+mn-lt"/>
                <a:ea typeface="Times New Roman"/>
                <a:cs typeface="Times New Roman"/>
              </a:rPr>
              <a:t>c</a:t>
            </a:r>
            <a:r>
              <a:rPr lang="en-US" sz="2000" dirty="0">
                <a:effectLst/>
                <a:latin typeface="+mn-lt"/>
                <a:ea typeface="Times New Roman"/>
                <a:cs typeface="Times New Roman"/>
              </a:rPr>
              <a:t>ommuniti</a:t>
            </a:r>
            <a:r>
              <a:rPr lang="en-US" sz="2000" spc="-5" dirty="0">
                <a:effectLst/>
                <a:latin typeface="+mn-lt"/>
                <a:ea typeface="Times New Roman"/>
                <a:cs typeface="Times New Roman"/>
              </a:rPr>
              <a:t>e</a:t>
            </a:r>
            <a:r>
              <a:rPr lang="en-US" sz="2000" dirty="0">
                <a:effectLst/>
                <a:latin typeface="+mn-lt"/>
                <a:ea typeface="Times New Roman"/>
                <a:cs typeface="Times New Roman"/>
              </a:rPr>
              <a:t>s in l</a:t>
            </a:r>
            <a:r>
              <a:rPr lang="en-US" sz="2000" spc="-5" dirty="0">
                <a:effectLst/>
                <a:latin typeface="+mn-lt"/>
                <a:ea typeface="Times New Roman"/>
                <a:cs typeface="Times New Roman"/>
              </a:rPr>
              <a:t>a</a:t>
            </a:r>
            <a:r>
              <a:rPr lang="en-US" sz="2000" dirty="0">
                <a:effectLst/>
                <a:latin typeface="+mn-lt"/>
                <a:ea typeface="Times New Roman"/>
                <a:cs typeface="Times New Roman"/>
              </a:rPr>
              <a:t>k</a:t>
            </a:r>
            <a:r>
              <a:rPr lang="en-US" sz="2000" spc="-5" dirty="0">
                <a:effectLst/>
                <a:latin typeface="+mn-lt"/>
                <a:ea typeface="Times New Roman"/>
                <a:cs typeface="Times New Roman"/>
              </a:rPr>
              <a:t>e</a:t>
            </a:r>
            <a:r>
              <a:rPr lang="en-US" sz="2000" dirty="0">
                <a:effectLst/>
                <a:latin typeface="+mn-lt"/>
                <a:ea typeface="Times New Roman"/>
                <a:cs typeface="Times New Roman"/>
              </a:rPr>
              <a:t>s</a:t>
            </a:r>
            <a:endParaRPr lang="en-US" sz="2000" dirty="0">
              <a:effectLst/>
              <a:latin typeface="+mn-lt"/>
              <a:ea typeface="Calibri"/>
              <a:cs typeface="Times New Roman"/>
            </a:endParaRPr>
          </a:p>
        </p:txBody>
      </p:sp>
      <p:sp>
        <p:nvSpPr>
          <p:cNvPr id="15" name="TextBox 14">
            <a:extLst>
              <a:ext uri="{FF2B5EF4-FFF2-40B4-BE49-F238E27FC236}">
                <a16:creationId xmlns:a16="http://schemas.microsoft.com/office/drawing/2014/main" id="{AC311778-306C-3011-7DBC-2131B9739D5D}"/>
              </a:ext>
            </a:extLst>
          </p:cNvPr>
          <p:cNvSpPr txBox="1"/>
          <p:nvPr/>
        </p:nvSpPr>
        <p:spPr>
          <a:xfrm>
            <a:off x="7837170" y="4570538"/>
            <a:ext cx="3829050" cy="779444"/>
          </a:xfrm>
          <a:prstGeom prst="rect">
            <a:avLst/>
          </a:prstGeom>
          <a:noFill/>
        </p:spPr>
        <p:txBody>
          <a:bodyPr wrap="square">
            <a:spAutoFit/>
          </a:bodyPr>
          <a:lstStyle/>
          <a:p>
            <a:pPr marL="64770" marR="55880">
              <a:lnSpc>
                <a:spcPct val="115000"/>
              </a:lnSpc>
              <a:spcBef>
                <a:spcPts val="15"/>
              </a:spcBef>
              <a:spcAft>
                <a:spcPts val="0"/>
              </a:spcAft>
            </a:pPr>
            <a:r>
              <a:rPr lang="en-US" sz="2000" spc="5" dirty="0">
                <a:effectLst/>
                <a:latin typeface="+mn-lt"/>
                <a:ea typeface="Times New Roman"/>
                <a:cs typeface="Times New Roman"/>
              </a:rPr>
              <a:t>Maximize interest group engagement</a:t>
            </a:r>
            <a:endParaRPr lang="en-US" sz="2000" dirty="0">
              <a:effectLst/>
              <a:latin typeface="+mn-lt"/>
              <a:ea typeface="Calibri"/>
              <a:cs typeface="Times New Roman"/>
            </a:endParaRPr>
          </a:p>
        </p:txBody>
      </p:sp>
      <p:sp>
        <p:nvSpPr>
          <p:cNvPr id="17" name="TextBox 16">
            <a:extLst>
              <a:ext uri="{FF2B5EF4-FFF2-40B4-BE49-F238E27FC236}">
                <a16:creationId xmlns:a16="http://schemas.microsoft.com/office/drawing/2014/main" id="{551C6581-8F8F-34D1-31F6-7A2E0D13F21D}"/>
              </a:ext>
            </a:extLst>
          </p:cNvPr>
          <p:cNvSpPr txBox="1"/>
          <p:nvPr/>
        </p:nvSpPr>
        <p:spPr>
          <a:xfrm>
            <a:off x="7837170" y="5514317"/>
            <a:ext cx="3829050" cy="425501"/>
          </a:xfrm>
          <a:prstGeom prst="rect">
            <a:avLst/>
          </a:prstGeom>
          <a:noFill/>
        </p:spPr>
        <p:txBody>
          <a:bodyPr wrap="square">
            <a:spAutoFit/>
          </a:bodyPr>
          <a:lstStyle/>
          <a:p>
            <a:pPr marL="64770" marR="0">
              <a:lnSpc>
                <a:spcPct val="115000"/>
              </a:lnSpc>
              <a:spcBef>
                <a:spcPts val="0"/>
              </a:spcBef>
              <a:spcAft>
                <a:spcPts val="0"/>
              </a:spcAft>
            </a:pPr>
            <a:r>
              <a:rPr lang="en-US" sz="2000" dirty="0">
                <a:effectLst/>
                <a:latin typeface="+mn-lt"/>
                <a:ea typeface="Times New Roman"/>
                <a:cs typeface="Times New Roman"/>
              </a:rPr>
              <a:t>Minim</a:t>
            </a:r>
            <a:r>
              <a:rPr lang="en-US" sz="2000" spc="-10" dirty="0">
                <a:effectLst/>
                <a:latin typeface="+mn-lt"/>
                <a:ea typeface="Times New Roman"/>
                <a:cs typeface="Times New Roman"/>
              </a:rPr>
              <a:t>i</a:t>
            </a:r>
            <a:r>
              <a:rPr lang="en-US" sz="2000" spc="5" dirty="0">
                <a:effectLst/>
                <a:latin typeface="+mn-lt"/>
                <a:ea typeface="Times New Roman"/>
                <a:cs typeface="Times New Roman"/>
              </a:rPr>
              <a:t>z</a:t>
            </a:r>
            <a:r>
              <a:rPr lang="en-US" sz="2000" dirty="0">
                <a:effectLst/>
                <a:latin typeface="+mn-lt"/>
                <a:ea typeface="Times New Roman"/>
                <a:cs typeface="Times New Roman"/>
              </a:rPr>
              <a:t>e</a:t>
            </a:r>
            <a:r>
              <a:rPr lang="en-US" sz="2000" spc="-5" dirty="0">
                <a:effectLst/>
                <a:latin typeface="+mn-lt"/>
                <a:ea typeface="Times New Roman"/>
                <a:cs typeface="Times New Roman"/>
              </a:rPr>
              <a:t> c</a:t>
            </a:r>
            <a:r>
              <a:rPr lang="en-US" sz="2000" dirty="0">
                <a:effectLst/>
                <a:latin typeface="+mn-lt"/>
                <a:ea typeface="Times New Roman"/>
                <a:cs typeface="Times New Roman"/>
              </a:rPr>
              <a:t>ost</a:t>
            </a:r>
            <a:endParaRPr lang="en-US" sz="2000" dirty="0">
              <a:effectLst/>
              <a:latin typeface="+mn-lt"/>
              <a:ea typeface="Calibri"/>
              <a:cs typeface="Times New Roman"/>
            </a:endParaRPr>
          </a:p>
        </p:txBody>
      </p:sp>
      <p:sp>
        <p:nvSpPr>
          <p:cNvPr id="18" name="TextBox 17">
            <a:extLst>
              <a:ext uri="{FF2B5EF4-FFF2-40B4-BE49-F238E27FC236}">
                <a16:creationId xmlns:a16="http://schemas.microsoft.com/office/drawing/2014/main" id="{40ACF22E-A30C-8776-04B7-AF7C3D13C826}"/>
              </a:ext>
            </a:extLst>
          </p:cNvPr>
          <p:cNvSpPr txBox="1"/>
          <p:nvPr/>
        </p:nvSpPr>
        <p:spPr>
          <a:xfrm>
            <a:off x="762992" y="1301945"/>
            <a:ext cx="8869680" cy="461665"/>
          </a:xfrm>
          <a:prstGeom prst="rect">
            <a:avLst/>
          </a:prstGeom>
          <a:noFill/>
        </p:spPr>
        <p:txBody>
          <a:bodyPr wrap="square" rtlCol="0">
            <a:spAutoFit/>
          </a:bodyPr>
          <a:lstStyle/>
          <a:p>
            <a:r>
              <a:rPr lang="en-US" sz="2400" dirty="0">
                <a:solidFill>
                  <a:schemeClr val="accent1"/>
                </a:solidFill>
              </a:rPr>
              <a:t>Convert concerns to objectives: </a:t>
            </a:r>
          </a:p>
        </p:txBody>
      </p:sp>
      <p:sp>
        <p:nvSpPr>
          <p:cNvPr id="2" name="TextBox 1">
            <a:extLst>
              <a:ext uri="{FF2B5EF4-FFF2-40B4-BE49-F238E27FC236}">
                <a16:creationId xmlns:a16="http://schemas.microsoft.com/office/drawing/2014/main" id="{0527D02F-7F07-F4C1-EA81-9ECD45ABC2B2}"/>
              </a:ext>
            </a:extLst>
          </p:cNvPr>
          <p:cNvSpPr txBox="1"/>
          <p:nvPr/>
        </p:nvSpPr>
        <p:spPr>
          <a:xfrm>
            <a:off x="5910943" y="1330757"/>
            <a:ext cx="6046361" cy="369332"/>
          </a:xfrm>
          <a:prstGeom prst="rect">
            <a:avLst/>
          </a:prstGeom>
          <a:solidFill>
            <a:schemeClr val="accent4">
              <a:lumMod val="20000"/>
              <a:lumOff val="80000"/>
            </a:schemeClr>
          </a:solidFill>
        </p:spPr>
        <p:txBody>
          <a:bodyPr wrap="square" rtlCol="0">
            <a:spAutoFit/>
          </a:bodyPr>
          <a:lstStyle/>
          <a:p>
            <a:r>
              <a:rPr lang="en-US" dirty="0"/>
              <a:t>Hint: direction + what is desired (don’t worry about units yet!)</a:t>
            </a:r>
          </a:p>
        </p:txBody>
      </p:sp>
      <p:sp>
        <p:nvSpPr>
          <p:cNvPr id="3" name="TextBox 2">
            <a:extLst>
              <a:ext uri="{FF2B5EF4-FFF2-40B4-BE49-F238E27FC236}">
                <a16:creationId xmlns:a16="http://schemas.microsoft.com/office/drawing/2014/main" id="{D90E4CCC-9DC2-2B37-84DC-CAE4C75F95F4}"/>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Title 1">
            <a:extLst>
              <a:ext uri="{FF2B5EF4-FFF2-40B4-BE49-F238E27FC236}">
                <a16:creationId xmlns:a16="http://schemas.microsoft.com/office/drawing/2014/main" id="{0BDA7182-07E4-8B7C-E809-9B8FE8267057}"/>
              </a:ext>
            </a:extLst>
          </p:cNvPr>
          <p:cNvSpPr txBox="1">
            <a:spLocks/>
          </p:cNvSpPr>
          <p:nvPr/>
        </p:nvSpPr>
        <p:spPr>
          <a:xfrm>
            <a:off x="0" y="386671"/>
            <a:ext cx="12192000" cy="734352"/>
          </a:xfrm>
          <a:prstGeom prst="rect">
            <a:avLst/>
          </a:prstGeom>
          <a:solidFill>
            <a:schemeClr val="accent6">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Activity 1 – convert goals to objectives</a:t>
            </a:r>
          </a:p>
        </p:txBody>
      </p:sp>
    </p:spTree>
    <p:extLst>
      <p:ext uri="{BB962C8B-B14F-4D97-AF65-F5344CB8AC3E}">
        <p14:creationId xmlns:p14="http://schemas.microsoft.com/office/powerpoint/2010/main" val="210092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3" grpId="0"/>
      <p:bldP spid="15" grpId="0"/>
      <p:bldP spid="1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64EBC-C881-88AE-C5C3-614E324A139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EE801D-A2E3-589B-E697-F644B0157D28}"/>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Title 1">
            <a:extLst>
              <a:ext uri="{FF2B5EF4-FFF2-40B4-BE49-F238E27FC236}">
                <a16:creationId xmlns:a16="http://schemas.microsoft.com/office/drawing/2014/main" id="{46E688AA-1B5B-5A39-84E2-108F36A3B348}"/>
              </a:ext>
            </a:extLst>
          </p:cNvPr>
          <p:cNvSpPr txBox="1">
            <a:spLocks/>
          </p:cNvSpPr>
          <p:nvPr/>
        </p:nvSpPr>
        <p:spPr>
          <a:xfrm>
            <a:off x="0" y="386671"/>
            <a:ext cx="12192000" cy="734352"/>
          </a:xfrm>
          <a:prstGeom prst="rect">
            <a:avLst/>
          </a:prstGeom>
          <a:solidFill>
            <a:schemeClr val="accent5">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Skills Check Task 1</a:t>
            </a:r>
          </a:p>
        </p:txBody>
      </p:sp>
      <p:sp>
        <p:nvSpPr>
          <p:cNvPr id="4" name="Google Shape;225;p18">
            <a:extLst>
              <a:ext uri="{FF2B5EF4-FFF2-40B4-BE49-F238E27FC236}">
                <a16:creationId xmlns:a16="http://schemas.microsoft.com/office/drawing/2014/main" id="{6FC569A6-D8F6-C961-CC35-D5D53612E0E5}"/>
              </a:ext>
            </a:extLst>
          </p:cNvPr>
          <p:cNvSpPr txBox="1">
            <a:spLocks/>
          </p:cNvSpPr>
          <p:nvPr/>
        </p:nvSpPr>
        <p:spPr>
          <a:xfrm>
            <a:off x="687666" y="1737789"/>
            <a:ext cx="11292214" cy="3198652"/>
          </a:xfrm>
          <a:prstGeom prst="rect">
            <a:avLst/>
          </a:prstGeom>
          <a:noFill/>
          <a:ln>
            <a:noFill/>
          </a:ln>
        </p:spPr>
        <p:txBody>
          <a:bodyPr spcFirstLastPara="1" vert="horz" wrap="square" lIns="91425" tIns="45700" rIns="91425" bIns="45700" rtlCol="0" anchor="t" anchorCtr="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640"/>
              </a:spcBef>
              <a:buSzPts val="3200"/>
              <a:buFont typeface="Arial"/>
              <a:buNone/>
            </a:pPr>
            <a:r>
              <a:rPr lang="en-US" dirty="0">
                <a:solidFill>
                  <a:schemeClr val="dk1"/>
                </a:solidFill>
                <a:ea typeface="Century Gothic"/>
                <a:cs typeface="Century Gothic"/>
                <a:sym typeface="Century Gothic"/>
              </a:rPr>
              <a:t>Consider this decision… (5 min)</a:t>
            </a:r>
            <a:endParaRPr lang="en-US" sz="1100" dirty="0">
              <a:solidFill>
                <a:schemeClr val="dk1"/>
              </a:solidFill>
              <a:ea typeface="Century Gothic"/>
              <a:cs typeface="Century Gothic"/>
              <a:sym typeface="Century Gothic"/>
            </a:endParaRPr>
          </a:p>
          <a:p>
            <a:pPr marL="457200" indent="-457200">
              <a:lnSpc>
                <a:spcPct val="100000"/>
              </a:lnSpc>
              <a:spcBef>
                <a:spcPts val="600"/>
              </a:spcBef>
              <a:buSzPts val="3200"/>
            </a:pPr>
            <a:r>
              <a:rPr lang="en-US" sz="2000" dirty="0">
                <a:solidFill>
                  <a:schemeClr val="dk1"/>
                </a:solidFill>
                <a:ea typeface="Century Gothic"/>
                <a:cs typeface="Century Gothic"/>
                <a:sym typeface="Century Gothic"/>
              </a:rPr>
              <a:t>You are the manager of a wildlife refuge</a:t>
            </a:r>
            <a:endParaRPr lang="en-US" dirty="0"/>
          </a:p>
          <a:p>
            <a:pPr marL="457200" indent="-457200">
              <a:lnSpc>
                <a:spcPct val="100000"/>
              </a:lnSpc>
              <a:spcBef>
                <a:spcPts val="600"/>
              </a:spcBef>
              <a:buSzPts val="3200"/>
            </a:pPr>
            <a:r>
              <a:rPr lang="en-US" sz="2000" dirty="0">
                <a:solidFill>
                  <a:schemeClr val="dk1"/>
                </a:solidFill>
                <a:ea typeface="Century Gothic"/>
                <a:cs typeface="Century Gothic"/>
                <a:sym typeface="Century Gothic"/>
              </a:rPr>
              <a:t>Developing a management plan for an endangered lizard. </a:t>
            </a:r>
            <a:endParaRPr lang="en-US" dirty="0"/>
          </a:p>
          <a:p>
            <a:pPr marL="457200" indent="-457200">
              <a:lnSpc>
                <a:spcPct val="100000"/>
              </a:lnSpc>
              <a:spcBef>
                <a:spcPts val="600"/>
              </a:spcBef>
              <a:buSzPts val="3200"/>
            </a:pPr>
            <a:r>
              <a:rPr lang="en-US" sz="2000" dirty="0">
                <a:solidFill>
                  <a:schemeClr val="dk1"/>
                </a:solidFill>
                <a:ea typeface="Century Gothic"/>
                <a:cs typeface="Century Gothic"/>
                <a:sym typeface="Century Gothic"/>
              </a:rPr>
              <a:t>The species benefits from prescribed fire (though your budget for such activities is limited)</a:t>
            </a:r>
            <a:endParaRPr lang="en-US" dirty="0"/>
          </a:p>
          <a:p>
            <a:pPr marL="457200" indent="-457200">
              <a:lnSpc>
                <a:spcPct val="100000"/>
              </a:lnSpc>
              <a:spcBef>
                <a:spcPts val="600"/>
              </a:spcBef>
              <a:buSzPts val="3200"/>
            </a:pPr>
            <a:r>
              <a:rPr lang="en-US" sz="2000" dirty="0">
                <a:solidFill>
                  <a:schemeClr val="dk1"/>
                </a:solidFill>
                <a:ea typeface="Century Gothic"/>
                <a:cs typeface="Century Gothic"/>
                <a:sym typeface="Century Gothic"/>
              </a:rPr>
              <a:t>The species is susceptible to road mortality</a:t>
            </a:r>
            <a:endParaRPr lang="en-US" dirty="0"/>
          </a:p>
          <a:p>
            <a:pPr marL="457200" indent="-457200">
              <a:lnSpc>
                <a:spcPct val="100000"/>
              </a:lnSpc>
              <a:spcBef>
                <a:spcPts val="600"/>
              </a:spcBef>
              <a:buSzPts val="3200"/>
            </a:pPr>
            <a:r>
              <a:rPr lang="en-US" sz="2000" dirty="0">
                <a:solidFill>
                  <a:schemeClr val="dk1"/>
                </a:solidFill>
                <a:ea typeface="Century Gothic"/>
                <a:cs typeface="Century Gothic"/>
                <a:sym typeface="Century Gothic"/>
              </a:rPr>
              <a:t>The Refuge receives substantial visitation by bird watchers, some of whom like to travel by car.</a:t>
            </a:r>
            <a:endParaRPr lang="en-US" sz="2000" b="1" dirty="0">
              <a:solidFill>
                <a:schemeClr val="dk1"/>
              </a:solidFill>
              <a:sym typeface="Century Gothic"/>
            </a:endParaRPr>
          </a:p>
          <a:p>
            <a:pPr marL="0" indent="0" algn="ctr">
              <a:lnSpc>
                <a:spcPct val="100000"/>
              </a:lnSpc>
              <a:spcBef>
                <a:spcPts val="600"/>
              </a:spcBef>
              <a:buSzPts val="3200"/>
              <a:buNone/>
            </a:pPr>
            <a:r>
              <a:rPr lang="en-US" sz="3600" b="1" dirty="0">
                <a:solidFill>
                  <a:schemeClr val="dk1"/>
                </a:solidFill>
                <a:sym typeface="Century Gothic"/>
              </a:rPr>
              <a:t>TASK 1: Write a list of objectives </a:t>
            </a:r>
            <a:endParaRPr lang="en-US" sz="4400" b="1" dirty="0"/>
          </a:p>
        </p:txBody>
      </p:sp>
      <p:sp>
        <p:nvSpPr>
          <p:cNvPr id="5" name="Google Shape;228;p18">
            <a:extLst>
              <a:ext uri="{FF2B5EF4-FFF2-40B4-BE49-F238E27FC236}">
                <a16:creationId xmlns:a16="http://schemas.microsoft.com/office/drawing/2014/main" id="{2E475C11-33F2-6A00-74A3-F5AB8F597221}"/>
              </a:ext>
            </a:extLst>
          </p:cNvPr>
          <p:cNvSpPr txBox="1"/>
          <p:nvPr/>
        </p:nvSpPr>
        <p:spPr>
          <a:xfrm>
            <a:off x="687666" y="4936441"/>
            <a:ext cx="7542756" cy="1394134"/>
          </a:xfrm>
          <a:prstGeom prst="rect">
            <a:avLst/>
          </a:prstGeom>
          <a:solidFill>
            <a:schemeClr val="accent3">
              <a:lumMod val="20000"/>
              <a:lumOff val="80000"/>
            </a:schemeClr>
          </a:solidFill>
          <a:ln>
            <a:noFill/>
          </a:ln>
        </p:spPr>
        <p:txBody>
          <a:bodyPr spcFirstLastPara="1" wrap="square" lIns="91425" tIns="45700" rIns="91425" bIns="45700" anchor="t" anchorCtr="0">
            <a:normAutofit lnSpcReduction="10000"/>
          </a:bodyPr>
          <a:lstStyle/>
          <a:p>
            <a:pPr marL="228600" indent="-228600">
              <a:buClr>
                <a:srgbClr val="000000"/>
              </a:buClr>
              <a:buSzPct val="100000"/>
            </a:pPr>
            <a:r>
              <a:rPr lang="en-US" sz="2000" b="0" i="0" u="none" strike="noStrike" cap="none" dirty="0">
                <a:latin typeface="Arial Black"/>
                <a:ea typeface="Arial Black"/>
                <a:cs typeface="Arial Black"/>
                <a:sym typeface="Arial Black"/>
              </a:rPr>
              <a:t>Identify your concerns and translate into objectives:</a:t>
            </a:r>
            <a:endParaRPr dirty="0"/>
          </a:p>
          <a:p>
            <a:pPr lvl="1">
              <a:spcBef>
                <a:spcPts val="370"/>
              </a:spcBef>
              <a:buClr>
                <a:srgbClr val="000000"/>
              </a:buClr>
              <a:buSzPct val="100000"/>
            </a:pPr>
            <a:r>
              <a:rPr lang="en-US" sz="2000" b="0" i="0" u="none" strike="noStrike" cap="none" dirty="0">
                <a:latin typeface="Arial Black"/>
                <a:ea typeface="Arial Black"/>
                <a:cs typeface="Arial Black"/>
                <a:sym typeface="Arial Black"/>
              </a:rPr>
              <a:t>What are you hoping to accomplish?</a:t>
            </a:r>
            <a:endParaRPr lang="en-US" dirty="0"/>
          </a:p>
          <a:p>
            <a:pPr lvl="1">
              <a:spcBef>
                <a:spcPts val="370"/>
              </a:spcBef>
              <a:buClr>
                <a:srgbClr val="000000"/>
              </a:buClr>
              <a:buSzPct val="100000"/>
            </a:pPr>
            <a:r>
              <a:rPr lang="en-US" sz="2000" b="0" i="0" u="none" strike="noStrike" cap="none" dirty="0">
                <a:latin typeface="Arial Black"/>
                <a:ea typeface="Arial Black"/>
                <a:cs typeface="Arial Black"/>
                <a:sym typeface="Arial Black"/>
              </a:rPr>
              <a:t>What do stakeholders want?</a:t>
            </a:r>
            <a:endParaRPr lang="en-US" dirty="0">
              <a:sym typeface="Arial Black"/>
            </a:endParaRPr>
          </a:p>
          <a:p>
            <a:pPr lvl="1">
              <a:spcBef>
                <a:spcPts val="370"/>
              </a:spcBef>
              <a:buClr>
                <a:srgbClr val="000000"/>
              </a:buClr>
              <a:buSzPct val="100000"/>
            </a:pPr>
            <a:r>
              <a:rPr lang="en-US" sz="2000" b="0" i="0" u="none" strike="noStrike" cap="none" dirty="0">
                <a:latin typeface="Arial Black"/>
                <a:ea typeface="Arial Black"/>
                <a:cs typeface="Arial Black"/>
                <a:sym typeface="Arial Black"/>
              </a:rPr>
              <a:t>What do you or they want to avoid?</a:t>
            </a:r>
            <a:endParaRPr sz="2700" b="0" i="0" u="none" strike="noStrike" cap="none" dirty="0">
              <a:latin typeface="Arial Black"/>
              <a:ea typeface="Arial Black"/>
              <a:cs typeface="Arial Black"/>
              <a:sym typeface="Arial Black"/>
            </a:endParaRPr>
          </a:p>
          <a:p>
            <a:pPr marL="1143000" marR="0" lvl="2" indent="-228600" algn="l" rtl="0">
              <a:lnSpc>
                <a:spcPct val="100000"/>
              </a:lnSpc>
              <a:spcBef>
                <a:spcPts val="370"/>
              </a:spcBef>
              <a:spcAft>
                <a:spcPts val="0"/>
              </a:spcAft>
              <a:buClr>
                <a:srgbClr val="000000"/>
              </a:buClr>
              <a:buSzPct val="100000"/>
              <a:buFont typeface="Noto Sans Symbols"/>
              <a:buNone/>
            </a:pPr>
            <a:endParaRPr sz="2000" b="0" i="0" u="none" strike="noStrike" cap="none" dirty="0">
              <a:latin typeface="Arial Black"/>
              <a:ea typeface="Arial Black"/>
              <a:cs typeface="Arial Black"/>
              <a:sym typeface="Arial Black"/>
            </a:endParaRPr>
          </a:p>
          <a:p>
            <a:pPr marL="342900" marR="0" lvl="0" indent="-342900" algn="l" rtl="0">
              <a:lnSpc>
                <a:spcPct val="100000"/>
              </a:lnSpc>
              <a:spcBef>
                <a:spcPts val="444"/>
              </a:spcBef>
              <a:spcAft>
                <a:spcPts val="0"/>
              </a:spcAft>
              <a:buClr>
                <a:srgbClr val="000000"/>
              </a:buClr>
              <a:buSzPct val="100000"/>
              <a:buFont typeface="Noto Sans Symbols"/>
              <a:buNone/>
            </a:pPr>
            <a:endParaRPr sz="2400" b="0" i="0" u="none" strike="noStrike" cap="none" dirty="0">
              <a:latin typeface="Arial Black"/>
              <a:ea typeface="Arial Black"/>
              <a:cs typeface="Arial Black"/>
              <a:sym typeface="Arial Black"/>
            </a:endParaRPr>
          </a:p>
        </p:txBody>
      </p:sp>
      <p:sp>
        <p:nvSpPr>
          <p:cNvPr id="10" name="TextBox 9">
            <a:extLst>
              <a:ext uri="{FF2B5EF4-FFF2-40B4-BE49-F238E27FC236}">
                <a16:creationId xmlns:a16="http://schemas.microsoft.com/office/drawing/2014/main" id="{A2E3C402-6F2F-B783-8226-C298230D54BF}"/>
              </a:ext>
            </a:extLst>
          </p:cNvPr>
          <p:cNvSpPr txBox="1"/>
          <p:nvPr/>
        </p:nvSpPr>
        <p:spPr>
          <a:xfrm>
            <a:off x="63169" y="1213673"/>
            <a:ext cx="12192000" cy="734352"/>
          </a:xfrm>
          <a:prstGeom prst="rect">
            <a:avLst/>
          </a:prstGeom>
          <a:noFill/>
        </p:spPr>
        <p:txBody>
          <a:bodyPr wrap="square">
            <a:spAutoFit/>
          </a:bodyPr>
          <a:lstStyle/>
          <a:p>
            <a:pPr marL="0" indent="0" algn="ctr">
              <a:lnSpc>
                <a:spcPct val="100000"/>
              </a:lnSpc>
              <a:spcBef>
                <a:spcPts val="600"/>
              </a:spcBef>
              <a:buSzPts val="3200"/>
              <a:buNone/>
            </a:pPr>
            <a:r>
              <a:rPr lang="en-US" sz="4000" b="1" dirty="0">
                <a:solidFill>
                  <a:schemeClr val="dk1"/>
                </a:solidFill>
                <a:sym typeface="Century Gothic"/>
              </a:rPr>
              <a:t>Lizard example</a:t>
            </a:r>
            <a:endParaRPr lang="en-US" sz="4800" b="1" dirty="0"/>
          </a:p>
        </p:txBody>
      </p:sp>
      <p:pic>
        <p:nvPicPr>
          <p:cNvPr id="14" name="Graphic 13" descr="Gecko with solid fill">
            <a:extLst>
              <a:ext uri="{FF2B5EF4-FFF2-40B4-BE49-F238E27FC236}">
                <a16:creationId xmlns:a16="http://schemas.microsoft.com/office/drawing/2014/main" id="{9B2FED5D-01AE-B20D-15D8-272A12DDA67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20153" y="1121023"/>
            <a:ext cx="1931581" cy="1931581"/>
          </a:xfrm>
          <a:prstGeom prst="rect">
            <a:avLst/>
          </a:prstGeom>
        </p:spPr>
      </p:pic>
    </p:spTree>
    <p:extLst>
      <p:ext uri="{BB962C8B-B14F-4D97-AF65-F5344CB8AC3E}">
        <p14:creationId xmlns:p14="http://schemas.microsoft.com/office/powerpoint/2010/main" val="2339751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C773E-AA56-792B-218F-EB231C7CBE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08512F-E758-9AEB-6152-E995DA059343}"/>
              </a:ext>
            </a:extLst>
          </p:cNvPr>
          <p:cNvSpPr>
            <a:spLocks noGrp="1"/>
          </p:cNvSpPr>
          <p:nvPr>
            <p:ph type="title"/>
          </p:nvPr>
        </p:nvSpPr>
        <p:spPr>
          <a:xfrm>
            <a:off x="1642431" y="1603332"/>
            <a:ext cx="9616547" cy="613776"/>
          </a:xfrm>
        </p:spPr>
        <p:txBody>
          <a:bodyPr>
            <a:normAutofit fontScale="90000"/>
          </a:bodyPr>
          <a:lstStyle/>
          <a:p>
            <a:pPr lvl="0">
              <a:lnSpc>
                <a:spcPct val="100000"/>
              </a:lnSpc>
              <a:spcBef>
                <a:spcPts val="640"/>
              </a:spcBef>
              <a:buSzPts val="3200"/>
            </a:pPr>
            <a:r>
              <a:rPr lang="en-US" sz="4000" dirty="0"/>
              <a:t>1. Articulate goals &amp; concerns</a:t>
            </a:r>
          </a:p>
        </p:txBody>
      </p:sp>
      <p:sp>
        <p:nvSpPr>
          <p:cNvPr id="4" name="Title 1">
            <a:extLst>
              <a:ext uri="{FF2B5EF4-FFF2-40B4-BE49-F238E27FC236}">
                <a16:creationId xmlns:a16="http://schemas.microsoft.com/office/drawing/2014/main" id="{18DECEEF-6813-0A56-147E-CD766EC44964}"/>
              </a:ext>
            </a:extLst>
          </p:cNvPr>
          <p:cNvSpPr txBox="1">
            <a:spLocks/>
          </p:cNvSpPr>
          <p:nvPr/>
        </p:nvSpPr>
        <p:spPr>
          <a:xfrm>
            <a:off x="933022" y="5936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5" name="TextBox 4">
            <a:extLst>
              <a:ext uri="{FF2B5EF4-FFF2-40B4-BE49-F238E27FC236}">
                <a16:creationId xmlns:a16="http://schemas.microsoft.com/office/drawing/2014/main" id="{D20E7282-4A9F-0A66-2621-C8143A3B5047}"/>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6" name="TextBox 5">
            <a:extLst>
              <a:ext uri="{FF2B5EF4-FFF2-40B4-BE49-F238E27FC236}">
                <a16:creationId xmlns:a16="http://schemas.microsoft.com/office/drawing/2014/main" id="{43F878BD-3479-5495-1C69-1B46E82BDFF5}"/>
              </a:ext>
            </a:extLst>
          </p:cNvPr>
          <p:cNvSpPr txBox="1"/>
          <p:nvPr/>
        </p:nvSpPr>
        <p:spPr>
          <a:xfrm>
            <a:off x="1656000" y="2190293"/>
            <a:ext cx="8655484" cy="646331"/>
          </a:xfrm>
          <a:prstGeom prst="rect">
            <a:avLst/>
          </a:prstGeom>
          <a:noFill/>
        </p:spPr>
        <p:txBody>
          <a:bodyPr wrap="square">
            <a:spAutoFit/>
          </a:bodyPr>
          <a:lstStyle/>
          <a:p>
            <a:r>
              <a:rPr lang="en-US" sz="3600" dirty="0">
                <a:solidFill>
                  <a:schemeClr val="dk1"/>
                </a:solidFill>
                <a:latin typeface="+mj-lt"/>
              </a:rPr>
              <a:t>2. Convert goals &amp; concerns to objectives</a:t>
            </a:r>
            <a:endParaRPr lang="en-US" sz="3600" dirty="0">
              <a:latin typeface="+mj-lt"/>
            </a:endParaRPr>
          </a:p>
        </p:txBody>
      </p:sp>
      <p:sp>
        <p:nvSpPr>
          <p:cNvPr id="3" name="TextBox 2">
            <a:extLst>
              <a:ext uri="{FF2B5EF4-FFF2-40B4-BE49-F238E27FC236}">
                <a16:creationId xmlns:a16="http://schemas.microsoft.com/office/drawing/2014/main" id="{818293EC-055D-BFF1-6181-3F5F1EBABBAF}"/>
              </a:ext>
            </a:extLst>
          </p:cNvPr>
          <p:cNvSpPr txBox="1"/>
          <p:nvPr/>
        </p:nvSpPr>
        <p:spPr>
          <a:xfrm>
            <a:off x="1694722" y="2836624"/>
            <a:ext cx="9189173" cy="2062103"/>
          </a:xfrm>
          <a:prstGeom prst="rect">
            <a:avLst/>
          </a:prstGeom>
          <a:noFill/>
        </p:spPr>
        <p:txBody>
          <a:bodyPr wrap="square">
            <a:spAutoFit/>
          </a:bodyPr>
          <a:lstStyle/>
          <a:p>
            <a:r>
              <a:rPr lang="en-US" sz="3600" b="1" u="sng" dirty="0">
                <a:solidFill>
                  <a:schemeClr val="dk1"/>
                </a:solidFill>
                <a:latin typeface="+mj-lt"/>
              </a:rPr>
              <a:t>3. Structure objectives:</a:t>
            </a:r>
          </a:p>
          <a:p>
            <a:pPr lvl="0">
              <a:spcBef>
                <a:spcPts val="1200"/>
              </a:spcBef>
              <a:buSzPts val="3200"/>
            </a:pPr>
            <a:r>
              <a:rPr lang="en-US" sz="3600" dirty="0">
                <a:solidFill>
                  <a:schemeClr val="dk1"/>
                </a:solidFill>
                <a:ea typeface="Arial"/>
                <a:cs typeface="Arial"/>
                <a:sym typeface="Arial"/>
              </a:rPr>
              <a:t>	</a:t>
            </a:r>
            <a:r>
              <a:rPr lang="en-US" sz="3600" u="sng" dirty="0">
                <a:solidFill>
                  <a:schemeClr val="dk1"/>
                </a:solidFill>
                <a:ea typeface="Arial"/>
                <a:cs typeface="Arial"/>
                <a:sym typeface="Arial"/>
              </a:rPr>
              <a:t>3a. Classify and distinguish types of objectives</a:t>
            </a:r>
            <a:endParaRPr lang="en-US" sz="3600" u="sng" dirty="0">
              <a:sym typeface="Arial"/>
            </a:endParaRPr>
          </a:p>
          <a:p>
            <a:pPr lvl="0">
              <a:spcBef>
                <a:spcPts val="1200"/>
              </a:spcBef>
              <a:buSzPts val="3200"/>
            </a:pPr>
            <a:r>
              <a:rPr lang="en-US" sz="3600" dirty="0">
                <a:solidFill>
                  <a:schemeClr val="dk1"/>
                </a:solidFill>
                <a:ea typeface="Arial"/>
                <a:cs typeface="Arial"/>
                <a:sym typeface="Arial"/>
              </a:rPr>
              <a:t>	</a:t>
            </a:r>
            <a:r>
              <a:rPr lang="en-US" sz="3600" u="sng" dirty="0">
                <a:solidFill>
                  <a:schemeClr val="dk1"/>
                </a:solidFill>
                <a:ea typeface="Arial"/>
                <a:cs typeface="Arial"/>
                <a:sym typeface="Arial"/>
              </a:rPr>
              <a:t>3b. Create an objectives hierarchy</a:t>
            </a:r>
            <a:endParaRPr lang="en-US" sz="3600" u="sng" dirty="0"/>
          </a:p>
        </p:txBody>
      </p:sp>
      <p:sp>
        <p:nvSpPr>
          <p:cNvPr id="11" name="Left Brace 10">
            <a:extLst>
              <a:ext uri="{FF2B5EF4-FFF2-40B4-BE49-F238E27FC236}">
                <a16:creationId xmlns:a16="http://schemas.microsoft.com/office/drawing/2014/main" id="{A816A236-CA83-5F13-090D-53D506E33714}"/>
              </a:ext>
            </a:extLst>
          </p:cNvPr>
          <p:cNvSpPr/>
          <p:nvPr/>
        </p:nvSpPr>
        <p:spPr>
          <a:xfrm>
            <a:off x="1093273" y="1766569"/>
            <a:ext cx="601449" cy="867077"/>
          </a:xfrm>
          <a:prstGeom prst="leftBrace">
            <a:avLst/>
          </a:prstGeom>
          <a:ln w="381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0F8BBA50-9EC1-81A4-4164-0BF31EF81F57}"/>
              </a:ext>
            </a:extLst>
          </p:cNvPr>
          <p:cNvSpPr txBox="1"/>
          <p:nvPr/>
        </p:nvSpPr>
        <p:spPr>
          <a:xfrm>
            <a:off x="76352" y="1735853"/>
            <a:ext cx="936795" cy="707886"/>
          </a:xfrm>
          <a:prstGeom prst="rect">
            <a:avLst/>
          </a:prstGeom>
          <a:noFill/>
        </p:spPr>
        <p:txBody>
          <a:bodyPr wrap="none" rtlCol="0">
            <a:spAutoFit/>
          </a:bodyPr>
          <a:lstStyle/>
          <a:p>
            <a:pPr algn="ctr"/>
            <a:r>
              <a:rPr lang="en-US" sz="2000" b="1" dirty="0">
                <a:solidFill>
                  <a:schemeClr val="accent1"/>
                </a:solidFill>
              </a:rPr>
              <a:t>Big</a:t>
            </a:r>
          </a:p>
          <a:p>
            <a:pPr algn="ctr"/>
            <a:r>
              <a:rPr lang="en-US" sz="2000" b="1" dirty="0">
                <a:solidFill>
                  <a:schemeClr val="accent1"/>
                </a:solidFill>
              </a:rPr>
              <a:t>picture</a:t>
            </a:r>
          </a:p>
        </p:txBody>
      </p:sp>
      <p:sp>
        <p:nvSpPr>
          <p:cNvPr id="13" name="Left Brace 12">
            <a:extLst>
              <a:ext uri="{FF2B5EF4-FFF2-40B4-BE49-F238E27FC236}">
                <a16:creationId xmlns:a16="http://schemas.microsoft.com/office/drawing/2014/main" id="{DBA5F525-8859-A8F0-AA0D-24DD55B49C24}"/>
              </a:ext>
            </a:extLst>
          </p:cNvPr>
          <p:cNvSpPr/>
          <p:nvPr/>
        </p:nvSpPr>
        <p:spPr>
          <a:xfrm>
            <a:off x="1093273" y="3032305"/>
            <a:ext cx="601449" cy="1647144"/>
          </a:xfrm>
          <a:prstGeom prst="leftBrace">
            <a:avLst/>
          </a:prstGeom>
          <a:ln w="3810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9D317673-EC26-5D5D-2D9E-98BD62C79F80}"/>
              </a:ext>
            </a:extLst>
          </p:cNvPr>
          <p:cNvSpPr txBox="1"/>
          <p:nvPr/>
        </p:nvSpPr>
        <p:spPr>
          <a:xfrm>
            <a:off x="97488" y="3501934"/>
            <a:ext cx="995785" cy="707886"/>
          </a:xfrm>
          <a:prstGeom prst="rect">
            <a:avLst/>
          </a:prstGeom>
          <a:noFill/>
        </p:spPr>
        <p:txBody>
          <a:bodyPr wrap="none" rtlCol="0">
            <a:spAutoFit/>
          </a:bodyPr>
          <a:lstStyle/>
          <a:p>
            <a:pPr algn="ctr"/>
            <a:r>
              <a:rPr lang="en-US" sz="2000" b="1" dirty="0">
                <a:solidFill>
                  <a:schemeClr val="accent6"/>
                </a:solidFill>
              </a:rPr>
              <a:t>Specific</a:t>
            </a:r>
          </a:p>
          <a:p>
            <a:pPr algn="ctr"/>
            <a:r>
              <a:rPr lang="en-US" sz="2000" b="1" dirty="0">
                <a:solidFill>
                  <a:schemeClr val="accent6"/>
                </a:solidFill>
              </a:rPr>
              <a:t>Steps</a:t>
            </a:r>
          </a:p>
        </p:txBody>
      </p:sp>
    </p:spTree>
    <p:extLst>
      <p:ext uri="{BB962C8B-B14F-4D97-AF65-F5344CB8AC3E}">
        <p14:creationId xmlns:p14="http://schemas.microsoft.com/office/powerpoint/2010/main" val="183427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P spid="13" grpId="0" animBg="1"/>
      <p:bldP spid="1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F7711D-537C-9634-4887-F79EF0217D7F}"/>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3" name="Content Placeholder 2">
            <a:extLst>
              <a:ext uri="{FF2B5EF4-FFF2-40B4-BE49-F238E27FC236}">
                <a16:creationId xmlns:a16="http://schemas.microsoft.com/office/drawing/2014/main" id="{E9798294-643F-1C55-791D-75D450CB2E1A}"/>
              </a:ext>
            </a:extLst>
          </p:cNvPr>
          <p:cNvSpPr>
            <a:spLocks noGrp="1"/>
          </p:cNvSpPr>
          <p:nvPr>
            <p:ph idx="1"/>
          </p:nvPr>
        </p:nvSpPr>
        <p:spPr>
          <a:xfrm>
            <a:off x="838200" y="1569593"/>
            <a:ext cx="10717305" cy="4351338"/>
          </a:xfrm>
        </p:spPr>
        <p:txBody>
          <a:bodyPr>
            <a:normAutofit fontScale="92500" lnSpcReduction="10000"/>
          </a:bodyPr>
          <a:lstStyle/>
          <a:p>
            <a:pPr marL="457200" indent="-457200">
              <a:lnSpc>
                <a:spcPct val="90000"/>
              </a:lnSpc>
              <a:buFont typeface="Century Gothic" charset="0"/>
              <a:buAutoNum type="arabicPeriod"/>
            </a:pPr>
            <a:r>
              <a:rPr lang="en-US" b="1" dirty="0">
                <a:ea typeface="MS PGothic" charset="0"/>
              </a:rPr>
              <a:t>Fundamental </a:t>
            </a:r>
          </a:p>
          <a:p>
            <a:pPr lvl="1">
              <a:lnSpc>
                <a:spcPct val="90000"/>
              </a:lnSpc>
            </a:pPr>
            <a:r>
              <a:rPr lang="en-US" sz="2800" dirty="0">
                <a:ea typeface="MS PGothic" charset="0"/>
              </a:rPr>
              <a:t>The basic reason for caring about the decision (essential)</a:t>
            </a:r>
          </a:p>
          <a:p>
            <a:pPr marL="457200" indent="-457200">
              <a:lnSpc>
                <a:spcPct val="90000"/>
              </a:lnSpc>
              <a:buFont typeface="Century Gothic" charset="0"/>
              <a:buAutoNum type="arabicPeriod"/>
            </a:pPr>
            <a:r>
              <a:rPr lang="en-US" b="1" dirty="0">
                <a:ea typeface="MS PGothic" charset="0"/>
              </a:rPr>
              <a:t>Means </a:t>
            </a:r>
          </a:p>
          <a:p>
            <a:pPr lvl="1">
              <a:lnSpc>
                <a:spcPct val="90000"/>
              </a:lnSpc>
            </a:pPr>
            <a:r>
              <a:rPr lang="en-US" sz="2800" dirty="0">
                <a:ea typeface="MS PGothic" charset="0"/>
              </a:rPr>
              <a:t>Influence the achievement of fundamental objectives (not necessarily essential)</a:t>
            </a:r>
          </a:p>
          <a:p>
            <a:pPr marL="457200" indent="-457200">
              <a:lnSpc>
                <a:spcPct val="90000"/>
              </a:lnSpc>
              <a:buFont typeface="Century Gothic" charset="0"/>
              <a:buAutoNum type="arabicPeriod"/>
            </a:pPr>
            <a:r>
              <a:rPr lang="en-US" b="1" dirty="0">
                <a:ea typeface="MS PGothic" charset="0"/>
              </a:rPr>
              <a:t>Process </a:t>
            </a:r>
          </a:p>
          <a:p>
            <a:pPr lvl="1">
              <a:lnSpc>
                <a:spcPct val="90000"/>
              </a:lnSpc>
            </a:pPr>
            <a:r>
              <a:rPr lang="en-US" sz="2800" dirty="0">
                <a:ea typeface="MS PGothic" charset="0"/>
              </a:rPr>
              <a:t>Concern for </a:t>
            </a:r>
            <a:r>
              <a:rPr lang="en-US" sz="2800" u="sng" dirty="0">
                <a:ea typeface="MS PGothic" charset="0"/>
              </a:rPr>
              <a:t>how the decision is made</a:t>
            </a:r>
            <a:r>
              <a:rPr lang="en-US" sz="2800" dirty="0">
                <a:ea typeface="MS PGothic" charset="0"/>
              </a:rPr>
              <a:t> rather than what decision is made</a:t>
            </a:r>
          </a:p>
          <a:p>
            <a:pPr lvl="2"/>
            <a:r>
              <a:rPr lang="en-US" sz="2400" dirty="0">
                <a:ea typeface="MS PGothic" charset="0"/>
              </a:rPr>
              <a:t>Example- maximize public trust</a:t>
            </a:r>
          </a:p>
          <a:p>
            <a:pPr marL="457200" indent="-457200">
              <a:lnSpc>
                <a:spcPct val="90000"/>
              </a:lnSpc>
              <a:buFont typeface="Century Gothic" charset="0"/>
              <a:buAutoNum type="arabicPeriod"/>
            </a:pPr>
            <a:r>
              <a:rPr lang="en-US" b="1" dirty="0">
                <a:ea typeface="MS PGothic" charset="0"/>
              </a:rPr>
              <a:t>Strategic </a:t>
            </a:r>
          </a:p>
          <a:p>
            <a:pPr lvl="1">
              <a:lnSpc>
                <a:spcPct val="90000"/>
              </a:lnSpc>
            </a:pPr>
            <a:r>
              <a:rPr lang="en-US" sz="2800" u="sng" dirty="0">
                <a:ea typeface="MS PGothic" charset="0"/>
              </a:rPr>
              <a:t>Higher level </a:t>
            </a:r>
            <a:r>
              <a:rPr lang="en-US" sz="2800" dirty="0">
                <a:ea typeface="MS PGothic" charset="0"/>
              </a:rPr>
              <a:t>– objectives covering all decisions made by the organization or person or an agency mandate</a:t>
            </a:r>
          </a:p>
        </p:txBody>
      </p:sp>
      <p:sp>
        <p:nvSpPr>
          <p:cNvPr id="4" name="TextBox 3">
            <a:extLst>
              <a:ext uri="{FF2B5EF4-FFF2-40B4-BE49-F238E27FC236}">
                <a16:creationId xmlns:a16="http://schemas.microsoft.com/office/drawing/2014/main" id="{AFE2BD75-A4B9-51F9-78EC-72D178667064}"/>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7" name="Title 1">
            <a:extLst>
              <a:ext uri="{FF2B5EF4-FFF2-40B4-BE49-F238E27FC236}">
                <a16:creationId xmlns:a16="http://schemas.microsoft.com/office/drawing/2014/main" id="{D77F982F-75AC-FCB1-FAA7-E44FE4765BC8}"/>
              </a:ext>
            </a:extLst>
          </p:cNvPr>
          <p:cNvSpPr txBox="1">
            <a:spLocks/>
          </p:cNvSpPr>
          <p:nvPr/>
        </p:nvSpPr>
        <p:spPr>
          <a:xfrm>
            <a:off x="920496" y="-178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Tree>
    <p:extLst>
      <p:ext uri="{BB962C8B-B14F-4D97-AF65-F5344CB8AC3E}">
        <p14:creationId xmlns:p14="http://schemas.microsoft.com/office/powerpoint/2010/main" val="211886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96092-677C-FEBF-785F-88790BC43F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9F13C-4834-6D42-B464-1430ACFC43D1}"/>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4" name="TextBox 3">
            <a:extLst>
              <a:ext uri="{FF2B5EF4-FFF2-40B4-BE49-F238E27FC236}">
                <a16:creationId xmlns:a16="http://schemas.microsoft.com/office/drawing/2014/main" id="{8913BD93-856B-17FD-5337-3B202799136B}"/>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7" name="Title 1">
            <a:extLst>
              <a:ext uri="{FF2B5EF4-FFF2-40B4-BE49-F238E27FC236}">
                <a16:creationId xmlns:a16="http://schemas.microsoft.com/office/drawing/2014/main" id="{03B03E63-B226-2AAE-0301-1B31BE4049DC}"/>
              </a:ext>
            </a:extLst>
          </p:cNvPr>
          <p:cNvSpPr txBox="1">
            <a:spLocks/>
          </p:cNvSpPr>
          <p:nvPr/>
        </p:nvSpPr>
        <p:spPr>
          <a:xfrm>
            <a:off x="920496" y="-178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6" name="Content Placeholder 5">
            <a:extLst>
              <a:ext uri="{FF2B5EF4-FFF2-40B4-BE49-F238E27FC236}">
                <a16:creationId xmlns:a16="http://schemas.microsoft.com/office/drawing/2014/main" id="{7C5D92CC-4B97-CD4C-2C9E-B1D0288777B5}"/>
              </a:ext>
            </a:extLst>
          </p:cNvPr>
          <p:cNvSpPr>
            <a:spLocks noGrp="1"/>
          </p:cNvSpPr>
          <p:nvPr>
            <p:ph idx="1"/>
          </p:nvPr>
        </p:nvSpPr>
        <p:spPr/>
        <p:txBody>
          <a:bodyPr>
            <a:normAutofit lnSpcReduction="10000"/>
          </a:bodyPr>
          <a:lstStyle/>
          <a:p>
            <a:pPr marL="0" indent="0">
              <a:buNone/>
            </a:pPr>
            <a:r>
              <a:rPr lang="en-US" sz="3200" dirty="0">
                <a:highlight>
                  <a:srgbClr val="C0C0C0"/>
                </a:highlight>
                <a:ea typeface="Arial"/>
                <a:cs typeface="Arial"/>
                <a:sym typeface="Arial"/>
              </a:rPr>
              <a:t>Process Objectives</a:t>
            </a:r>
          </a:p>
          <a:p>
            <a:pPr lvl="1">
              <a:lnSpc>
                <a:spcPct val="120000"/>
              </a:lnSpc>
            </a:pPr>
            <a:r>
              <a:rPr lang="en-US" i="1" dirty="0">
                <a:solidFill>
                  <a:schemeClr val="dk1"/>
                </a:solidFill>
                <a:ea typeface="Arial"/>
                <a:cs typeface="Arial"/>
                <a:sym typeface="Arial"/>
              </a:rPr>
              <a:t>“…especially in public decisions made by government, both what is chosen and how the alternative is chosen are important.  In other words, the process of decision-making in these situations matters…” Keeney</a:t>
            </a:r>
            <a:endParaRPr lang="en-US" sz="2800" dirty="0"/>
          </a:p>
          <a:p>
            <a:pPr>
              <a:lnSpc>
                <a:spcPct val="120000"/>
              </a:lnSpc>
              <a:buNone/>
            </a:pPr>
            <a:endParaRPr lang="en-US" i="1" dirty="0">
              <a:solidFill>
                <a:schemeClr val="dk1"/>
              </a:solidFill>
              <a:ea typeface="Arial"/>
              <a:cs typeface="Arial"/>
              <a:sym typeface="Arial"/>
            </a:endParaRPr>
          </a:p>
          <a:p>
            <a:pPr lvl="1">
              <a:lnSpc>
                <a:spcPct val="120000"/>
              </a:lnSpc>
            </a:pPr>
            <a:r>
              <a:rPr lang="en-US" b="1" dirty="0">
                <a:solidFill>
                  <a:schemeClr val="dk1"/>
                </a:solidFill>
                <a:ea typeface="Arial"/>
                <a:cs typeface="Arial"/>
                <a:sym typeface="Arial"/>
              </a:rPr>
              <a:t>Process objectives </a:t>
            </a:r>
            <a:r>
              <a:rPr lang="en-US" dirty="0">
                <a:solidFill>
                  <a:schemeClr val="dk1"/>
                </a:solidFill>
                <a:ea typeface="Arial"/>
                <a:cs typeface="Arial"/>
                <a:sym typeface="Arial"/>
              </a:rPr>
              <a:t>relate to </a:t>
            </a:r>
            <a:r>
              <a:rPr lang="en-US" i="1" u="sng" dirty="0">
                <a:solidFill>
                  <a:schemeClr val="dk1"/>
                </a:solidFill>
                <a:ea typeface="Arial"/>
                <a:cs typeface="Arial"/>
                <a:sym typeface="Arial"/>
              </a:rPr>
              <a:t>how</a:t>
            </a:r>
            <a:r>
              <a:rPr lang="en-US" dirty="0">
                <a:solidFill>
                  <a:schemeClr val="dk1"/>
                </a:solidFill>
                <a:ea typeface="Arial"/>
                <a:cs typeface="Arial"/>
                <a:sym typeface="Arial"/>
              </a:rPr>
              <a:t> the decision is made</a:t>
            </a:r>
            <a:endParaRPr lang="en-US" sz="2800" dirty="0"/>
          </a:p>
          <a:p>
            <a:pPr>
              <a:lnSpc>
                <a:spcPct val="120000"/>
              </a:lnSpc>
              <a:buNone/>
            </a:pPr>
            <a:endParaRPr lang="en-US" dirty="0">
              <a:solidFill>
                <a:schemeClr val="dk1"/>
              </a:solidFill>
              <a:ea typeface="Arial"/>
              <a:cs typeface="Arial"/>
              <a:sym typeface="Arial"/>
            </a:endParaRPr>
          </a:p>
          <a:p>
            <a:pPr lvl="1">
              <a:lnSpc>
                <a:spcPct val="120000"/>
              </a:lnSpc>
            </a:pPr>
            <a:r>
              <a:rPr lang="en-US" u="sng" dirty="0">
                <a:solidFill>
                  <a:schemeClr val="dk1"/>
                </a:solidFill>
                <a:ea typeface="Arial"/>
                <a:cs typeface="Arial"/>
                <a:sym typeface="Arial"/>
              </a:rPr>
              <a:t>Example</a:t>
            </a:r>
            <a:r>
              <a:rPr lang="en-US" dirty="0">
                <a:solidFill>
                  <a:schemeClr val="dk1"/>
                </a:solidFill>
                <a:ea typeface="Arial"/>
                <a:cs typeface="Arial"/>
                <a:sym typeface="Arial"/>
              </a:rPr>
              <a:t>: A decision-making process that declares multi-agency collaboration as an objective. </a:t>
            </a:r>
            <a:endParaRPr lang="en-US" sz="2800" dirty="0"/>
          </a:p>
        </p:txBody>
      </p:sp>
    </p:spTree>
    <p:extLst>
      <p:ext uri="{BB962C8B-B14F-4D97-AF65-F5344CB8AC3E}">
        <p14:creationId xmlns:p14="http://schemas.microsoft.com/office/powerpoint/2010/main" val="2903616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9D72D-FEAD-6A1D-F52D-C1D2BD123C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8513B8-F6A1-D95F-E9AA-16A0E8471605}"/>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4" name="TextBox 3">
            <a:extLst>
              <a:ext uri="{FF2B5EF4-FFF2-40B4-BE49-F238E27FC236}">
                <a16:creationId xmlns:a16="http://schemas.microsoft.com/office/drawing/2014/main" id="{B69DBC90-8DDC-A316-6AE9-11CC05E34CAA}"/>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7" name="Title 1">
            <a:extLst>
              <a:ext uri="{FF2B5EF4-FFF2-40B4-BE49-F238E27FC236}">
                <a16:creationId xmlns:a16="http://schemas.microsoft.com/office/drawing/2014/main" id="{5F687CD6-C116-1180-84FC-13A3AA033875}"/>
              </a:ext>
            </a:extLst>
          </p:cNvPr>
          <p:cNvSpPr txBox="1">
            <a:spLocks/>
          </p:cNvSpPr>
          <p:nvPr/>
        </p:nvSpPr>
        <p:spPr>
          <a:xfrm>
            <a:off x="920496" y="-178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6" name="Content Placeholder 5">
            <a:extLst>
              <a:ext uri="{FF2B5EF4-FFF2-40B4-BE49-F238E27FC236}">
                <a16:creationId xmlns:a16="http://schemas.microsoft.com/office/drawing/2014/main" id="{58EA3128-528B-30CD-E4D2-4B7D6764B919}"/>
              </a:ext>
            </a:extLst>
          </p:cNvPr>
          <p:cNvSpPr>
            <a:spLocks noGrp="1"/>
          </p:cNvSpPr>
          <p:nvPr>
            <p:ph idx="1"/>
          </p:nvPr>
        </p:nvSpPr>
        <p:spPr/>
        <p:txBody>
          <a:bodyPr>
            <a:normAutofit fontScale="92500" lnSpcReduction="20000"/>
          </a:bodyPr>
          <a:lstStyle/>
          <a:p>
            <a:pPr marL="0" indent="0">
              <a:buNone/>
            </a:pPr>
            <a:r>
              <a:rPr lang="en-US" sz="3200" dirty="0">
                <a:highlight>
                  <a:srgbClr val="C0C0C0"/>
                </a:highlight>
                <a:ea typeface="Arial"/>
                <a:cs typeface="Arial"/>
                <a:sym typeface="Arial"/>
              </a:rPr>
              <a:t>Strategic Objectives</a:t>
            </a:r>
          </a:p>
          <a:p>
            <a:pPr lvl="1">
              <a:spcBef>
                <a:spcPts val="1200"/>
              </a:spcBef>
            </a:pPr>
            <a:r>
              <a:rPr lang="en-US" dirty="0">
                <a:solidFill>
                  <a:schemeClr val="dk1"/>
                </a:solidFill>
              </a:rPr>
              <a:t>Example: Agency Mission</a:t>
            </a:r>
            <a:r>
              <a:rPr lang="en-US" dirty="0"/>
              <a:t> is </a:t>
            </a:r>
            <a:r>
              <a:rPr lang="en-US" dirty="0">
                <a:solidFill>
                  <a:schemeClr val="dk1"/>
                </a:solidFill>
              </a:rPr>
              <a:t>concerned with the effects of this decision…</a:t>
            </a:r>
            <a:endParaRPr lang="en-US" dirty="0"/>
          </a:p>
          <a:p>
            <a:pPr lvl="2">
              <a:spcBef>
                <a:spcPts val="1200"/>
              </a:spcBef>
              <a:buFont typeface="Courier New"/>
              <a:buChar char="o"/>
            </a:pPr>
            <a:r>
              <a:rPr lang="en-US" dirty="0">
                <a:solidFill>
                  <a:srgbClr val="262626"/>
                </a:solidFill>
              </a:rPr>
              <a:t>On other, linked opportunities</a:t>
            </a:r>
            <a:endParaRPr lang="en-US" dirty="0"/>
          </a:p>
          <a:p>
            <a:pPr lvl="2">
              <a:spcBef>
                <a:spcPts val="1200"/>
              </a:spcBef>
              <a:buFont typeface="Courier New"/>
              <a:buChar char="o"/>
            </a:pPr>
            <a:r>
              <a:rPr lang="en-US" dirty="0">
                <a:solidFill>
                  <a:srgbClr val="262626"/>
                </a:solidFill>
              </a:rPr>
              <a:t>On setting precedents</a:t>
            </a:r>
            <a:endParaRPr lang="en-US" dirty="0"/>
          </a:p>
          <a:p>
            <a:pPr lvl="2">
              <a:spcBef>
                <a:spcPts val="1200"/>
              </a:spcBef>
              <a:buFont typeface="Courier New"/>
              <a:buChar char="o"/>
            </a:pPr>
            <a:r>
              <a:rPr lang="en-US" dirty="0">
                <a:solidFill>
                  <a:srgbClr val="262626"/>
                </a:solidFill>
              </a:rPr>
              <a:t>On larger mission, mandate or image</a:t>
            </a:r>
          </a:p>
          <a:p>
            <a:pPr>
              <a:spcBef>
                <a:spcPts val="1200"/>
              </a:spcBef>
            </a:pPr>
            <a:r>
              <a:rPr lang="en-US" dirty="0">
                <a:ea typeface="Calibri"/>
                <a:cs typeface="Calibri"/>
                <a:sym typeface="Calibri"/>
              </a:rPr>
              <a:t>Strategic objectives have some bearing on decisions, but are unlikely to be fully achieved by any one decision </a:t>
            </a:r>
          </a:p>
          <a:p>
            <a:pPr>
              <a:spcBef>
                <a:spcPts val="1200"/>
              </a:spcBef>
            </a:pPr>
            <a:endParaRPr lang="en-US" dirty="0">
              <a:ea typeface="Calibri"/>
              <a:cs typeface="Calibri"/>
              <a:sym typeface="Calibri"/>
            </a:endParaRPr>
          </a:p>
          <a:p>
            <a:pPr marL="457200" lvl="0">
              <a:lnSpc>
                <a:spcPct val="100000"/>
              </a:lnSpc>
              <a:spcBef>
                <a:spcPts val="0"/>
              </a:spcBef>
              <a:buSzPts val="1400"/>
              <a:buNone/>
            </a:pPr>
            <a:r>
              <a:rPr lang="en-US" dirty="0">
                <a:ea typeface="Calibri"/>
                <a:cs typeface="Calibri"/>
                <a:sym typeface="Calibri"/>
              </a:rPr>
              <a:t>For example (Gregory et al. 2012):  </a:t>
            </a:r>
            <a:endParaRPr lang="en-US" dirty="0"/>
          </a:p>
          <a:p>
            <a:pPr marL="628650" lvl="1" indent="-171450">
              <a:lnSpc>
                <a:spcPct val="100000"/>
              </a:lnSpc>
              <a:spcBef>
                <a:spcPts val="0"/>
              </a:spcBef>
              <a:buSzPts val="1400"/>
              <a:buFont typeface="Arial"/>
              <a:buChar char="•"/>
            </a:pPr>
            <a:r>
              <a:rPr lang="en-US" dirty="0">
                <a:ea typeface="Calibri"/>
                <a:cs typeface="Calibri"/>
                <a:sym typeface="Calibri"/>
              </a:rPr>
              <a:t>Maximize public trust and consent</a:t>
            </a:r>
            <a:endParaRPr lang="en-US" dirty="0"/>
          </a:p>
          <a:p>
            <a:pPr marL="628650" lvl="1" indent="-171450">
              <a:lnSpc>
                <a:spcPct val="100000"/>
              </a:lnSpc>
              <a:spcBef>
                <a:spcPts val="0"/>
              </a:spcBef>
              <a:buSzPts val="1400"/>
              <a:buFont typeface="Arial"/>
              <a:buChar char="•"/>
            </a:pPr>
            <a:r>
              <a:rPr lang="en-US" dirty="0">
                <a:ea typeface="Calibri"/>
                <a:cs typeface="Calibri"/>
                <a:sym typeface="Calibri"/>
              </a:rPr>
              <a:t>Execute organization’s mandate</a:t>
            </a:r>
            <a:endParaRPr lang="en-US" dirty="0"/>
          </a:p>
          <a:p>
            <a:pPr marL="628650" lvl="1" indent="-171450">
              <a:lnSpc>
                <a:spcPct val="100000"/>
              </a:lnSpc>
              <a:spcBef>
                <a:spcPts val="0"/>
              </a:spcBef>
              <a:buSzPts val="1400"/>
              <a:buFont typeface="Arial"/>
              <a:buChar char="•"/>
            </a:pPr>
            <a:r>
              <a:rPr lang="en-US" dirty="0">
                <a:ea typeface="Calibri"/>
                <a:cs typeface="Calibri"/>
                <a:sym typeface="Calibri"/>
              </a:rPr>
              <a:t>Comply with international trade rules</a:t>
            </a:r>
            <a:endParaRPr lang="en-US" dirty="0"/>
          </a:p>
          <a:p>
            <a:pPr lvl="1">
              <a:spcBef>
                <a:spcPts val="1200"/>
              </a:spcBef>
            </a:pPr>
            <a:endParaRPr lang="en-US" dirty="0">
              <a:solidFill>
                <a:srgbClr val="7F7F7F"/>
              </a:solidFill>
            </a:endParaRPr>
          </a:p>
        </p:txBody>
      </p:sp>
    </p:spTree>
    <p:extLst>
      <p:ext uri="{BB962C8B-B14F-4D97-AF65-F5344CB8AC3E}">
        <p14:creationId xmlns:p14="http://schemas.microsoft.com/office/powerpoint/2010/main" val="18057899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82A29-B2EB-0ED1-C7CC-4F634DE1E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685E9-F60B-13B2-89A7-B8B257100AA1}"/>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4" name="TextBox 3">
            <a:extLst>
              <a:ext uri="{FF2B5EF4-FFF2-40B4-BE49-F238E27FC236}">
                <a16:creationId xmlns:a16="http://schemas.microsoft.com/office/drawing/2014/main" id="{1115FD5C-BCD5-F8BC-2511-61FD1FA2B05F}"/>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7" name="Title 1">
            <a:extLst>
              <a:ext uri="{FF2B5EF4-FFF2-40B4-BE49-F238E27FC236}">
                <a16:creationId xmlns:a16="http://schemas.microsoft.com/office/drawing/2014/main" id="{53CC3E8F-92F5-4DA6-1D01-C5D14105C0F6}"/>
              </a:ext>
            </a:extLst>
          </p:cNvPr>
          <p:cNvSpPr txBox="1">
            <a:spLocks/>
          </p:cNvSpPr>
          <p:nvPr/>
        </p:nvSpPr>
        <p:spPr>
          <a:xfrm>
            <a:off x="920496" y="-178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6" name="Content Placeholder 5">
            <a:extLst>
              <a:ext uri="{FF2B5EF4-FFF2-40B4-BE49-F238E27FC236}">
                <a16:creationId xmlns:a16="http://schemas.microsoft.com/office/drawing/2014/main" id="{45002718-FBE9-9225-8334-3D50FBD215B8}"/>
              </a:ext>
            </a:extLst>
          </p:cNvPr>
          <p:cNvSpPr>
            <a:spLocks noGrp="1"/>
          </p:cNvSpPr>
          <p:nvPr>
            <p:ph idx="1"/>
          </p:nvPr>
        </p:nvSpPr>
        <p:spPr/>
        <p:txBody>
          <a:bodyPr>
            <a:normAutofit/>
          </a:bodyPr>
          <a:lstStyle/>
          <a:p>
            <a:pPr marL="0" indent="0">
              <a:buNone/>
            </a:pPr>
            <a:r>
              <a:rPr lang="en-US" sz="3200" dirty="0">
                <a:highlight>
                  <a:srgbClr val="C0C0C0"/>
                </a:highlight>
                <a:ea typeface="Arial"/>
                <a:cs typeface="Arial"/>
                <a:sym typeface="Arial"/>
              </a:rPr>
              <a:t>Fundamental Objectives</a:t>
            </a:r>
          </a:p>
          <a:p>
            <a:pPr marL="0" indent="0">
              <a:spcBef>
                <a:spcPts val="1200"/>
              </a:spcBef>
              <a:buSzPct val="108108"/>
              <a:buNone/>
            </a:pPr>
            <a:r>
              <a:rPr lang="en-US" b="1" dirty="0">
                <a:solidFill>
                  <a:schemeClr val="dk1"/>
                </a:solidFill>
                <a:latin typeface="Arial"/>
                <a:ea typeface="Arial"/>
                <a:cs typeface="Arial"/>
                <a:sym typeface="Arial"/>
              </a:rPr>
              <a:t>How do you know what’s fundamental?</a:t>
            </a:r>
            <a:endParaRPr lang="en-US" dirty="0"/>
          </a:p>
          <a:p>
            <a:pPr indent="-457200">
              <a:spcBef>
                <a:spcPts val="1200"/>
              </a:spcBef>
              <a:buSzPct val="108108"/>
            </a:pPr>
            <a:r>
              <a:rPr lang="en-US" dirty="0">
                <a:solidFill>
                  <a:schemeClr val="dk1"/>
                </a:solidFill>
                <a:latin typeface="Arial"/>
                <a:ea typeface="Arial"/>
                <a:cs typeface="Arial"/>
                <a:sym typeface="Arial"/>
              </a:rPr>
              <a:t>Must be </a:t>
            </a:r>
            <a:r>
              <a:rPr lang="en-US" u="sng" dirty="0">
                <a:solidFill>
                  <a:schemeClr val="dk1"/>
                </a:solidFill>
                <a:latin typeface="Arial"/>
                <a:ea typeface="Arial"/>
                <a:cs typeface="Arial"/>
                <a:sym typeface="Arial"/>
              </a:rPr>
              <a:t>controllable</a:t>
            </a:r>
            <a:r>
              <a:rPr lang="en-US" dirty="0">
                <a:solidFill>
                  <a:schemeClr val="dk1"/>
                </a:solidFill>
                <a:latin typeface="Arial"/>
                <a:ea typeface="Arial"/>
                <a:cs typeface="Arial"/>
                <a:sym typeface="Arial"/>
              </a:rPr>
              <a:t> – available alternatives could influence the objective</a:t>
            </a:r>
            <a:endParaRPr lang="en-US" dirty="0"/>
          </a:p>
          <a:p>
            <a:pPr lvl="1">
              <a:spcBef>
                <a:spcPts val="1200"/>
              </a:spcBef>
              <a:buSzPct val="126126"/>
            </a:pPr>
            <a:r>
              <a:rPr lang="en-US" dirty="0">
                <a:solidFill>
                  <a:srgbClr val="262626"/>
                </a:solidFill>
                <a:latin typeface="Arial"/>
                <a:ea typeface="Arial"/>
                <a:cs typeface="Arial"/>
                <a:sym typeface="Arial"/>
              </a:rPr>
              <a:t>Not too broad or high level to be beyond control with alternatives available for this context</a:t>
            </a:r>
            <a:endParaRPr lang="en-US" dirty="0"/>
          </a:p>
          <a:p>
            <a:pPr indent="-457200">
              <a:spcBef>
                <a:spcPts val="1200"/>
              </a:spcBef>
              <a:buSzPct val="108108"/>
            </a:pPr>
            <a:r>
              <a:rPr lang="en-US" dirty="0">
                <a:solidFill>
                  <a:schemeClr val="dk1"/>
                </a:solidFill>
                <a:latin typeface="Arial"/>
                <a:ea typeface="Arial"/>
                <a:cs typeface="Arial"/>
                <a:sym typeface="Arial"/>
              </a:rPr>
              <a:t>Must be </a:t>
            </a:r>
            <a:r>
              <a:rPr lang="en-US" u="sng" dirty="0">
                <a:solidFill>
                  <a:schemeClr val="dk1"/>
                </a:solidFill>
                <a:latin typeface="Arial"/>
                <a:ea typeface="Arial"/>
                <a:cs typeface="Arial"/>
                <a:sym typeface="Arial"/>
              </a:rPr>
              <a:t>essential</a:t>
            </a:r>
            <a:r>
              <a:rPr lang="en-US" dirty="0">
                <a:solidFill>
                  <a:schemeClr val="dk1"/>
                </a:solidFill>
                <a:latin typeface="Arial"/>
                <a:ea typeface="Arial"/>
                <a:cs typeface="Arial"/>
                <a:sym typeface="Arial"/>
              </a:rPr>
              <a:t> – relevant to selection of alternative </a:t>
            </a:r>
            <a:endParaRPr lang="en-US" dirty="0"/>
          </a:p>
          <a:p>
            <a:pPr lvl="1">
              <a:spcBef>
                <a:spcPts val="1200"/>
              </a:spcBef>
              <a:buSzPct val="126126"/>
            </a:pPr>
            <a:r>
              <a:rPr lang="en-US" dirty="0">
                <a:solidFill>
                  <a:srgbClr val="262626"/>
                </a:solidFill>
                <a:latin typeface="Arial"/>
                <a:ea typeface="Arial"/>
                <a:cs typeface="Arial"/>
                <a:sym typeface="Arial"/>
              </a:rPr>
              <a:t>Not too narrow and not a means to another objective</a:t>
            </a:r>
            <a:endParaRPr lang="en-US" dirty="0"/>
          </a:p>
          <a:p>
            <a:pPr lvl="1">
              <a:spcBef>
                <a:spcPts val="1200"/>
              </a:spcBef>
            </a:pPr>
            <a:endParaRPr lang="en-US" dirty="0">
              <a:solidFill>
                <a:srgbClr val="7F7F7F"/>
              </a:solidFill>
            </a:endParaRPr>
          </a:p>
        </p:txBody>
      </p:sp>
    </p:spTree>
    <p:extLst>
      <p:ext uri="{BB962C8B-B14F-4D97-AF65-F5344CB8AC3E}">
        <p14:creationId xmlns:p14="http://schemas.microsoft.com/office/powerpoint/2010/main" val="31259493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B5993-B66C-9F89-A23F-11D80F43FF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0D55E-4939-9140-71C1-A481AC7E9807}"/>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4" name="TextBox 3">
            <a:extLst>
              <a:ext uri="{FF2B5EF4-FFF2-40B4-BE49-F238E27FC236}">
                <a16:creationId xmlns:a16="http://schemas.microsoft.com/office/drawing/2014/main" id="{544BDF05-9934-31F4-AED6-5D7D94004D1E}"/>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7" name="Title 1">
            <a:extLst>
              <a:ext uri="{FF2B5EF4-FFF2-40B4-BE49-F238E27FC236}">
                <a16:creationId xmlns:a16="http://schemas.microsoft.com/office/drawing/2014/main" id="{E751A849-8846-748D-07B6-E344A92426F1}"/>
              </a:ext>
            </a:extLst>
          </p:cNvPr>
          <p:cNvSpPr txBox="1">
            <a:spLocks/>
          </p:cNvSpPr>
          <p:nvPr/>
        </p:nvSpPr>
        <p:spPr>
          <a:xfrm>
            <a:off x="920496" y="-178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6" name="Content Placeholder 5">
            <a:extLst>
              <a:ext uri="{FF2B5EF4-FFF2-40B4-BE49-F238E27FC236}">
                <a16:creationId xmlns:a16="http://schemas.microsoft.com/office/drawing/2014/main" id="{64C85DF4-1D3B-8DC2-6D6F-B6A6E8889AC1}"/>
              </a:ext>
            </a:extLst>
          </p:cNvPr>
          <p:cNvSpPr>
            <a:spLocks noGrp="1"/>
          </p:cNvSpPr>
          <p:nvPr>
            <p:ph idx="1"/>
          </p:nvPr>
        </p:nvSpPr>
        <p:spPr>
          <a:xfrm>
            <a:off x="838200" y="1825625"/>
            <a:ext cx="10515600" cy="4557522"/>
          </a:xfrm>
        </p:spPr>
        <p:txBody>
          <a:bodyPr>
            <a:normAutofit/>
          </a:bodyPr>
          <a:lstStyle/>
          <a:p>
            <a:pPr marL="0" indent="0">
              <a:buNone/>
            </a:pPr>
            <a:r>
              <a:rPr lang="en-US" sz="3200" dirty="0">
                <a:highlight>
                  <a:srgbClr val="C0C0C0"/>
                </a:highlight>
                <a:ea typeface="Arial"/>
                <a:cs typeface="Arial"/>
                <a:sym typeface="Arial"/>
              </a:rPr>
              <a:t>Fundamental Objectives</a:t>
            </a:r>
          </a:p>
          <a:p>
            <a:pPr marL="0" indent="0">
              <a:spcBef>
                <a:spcPts val="1200"/>
              </a:spcBef>
              <a:buSzPct val="108108"/>
              <a:buNone/>
            </a:pPr>
            <a:r>
              <a:rPr lang="en-US" dirty="0">
                <a:latin typeface="Arial"/>
                <a:ea typeface="Arial"/>
                <a:cs typeface="Arial"/>
                <a:sym typeface="Arial"/>
              </a:rPr>
              <a:t>Distinguish </a:t>
            </a:r>
            <a:r>
              <a:rPr lang="en-US" u="sng" dirty="0">
                <a:latin typeface="Arial"/>
                <a:ea typeface="Arial"/>
                <a:cs typeface="Arial"/>
                <a:sym typeface="Arial"/>
              </a:rPr>
              <a:t>fundamental</a:t>
            </a:r>
            <a:r>
              <a:rPr lang="en-US" dirty="0">
                <a:latin typeface="Arial"/>
                <a:ea typeface="Arial"/>
                <a:cs typeface="Arial"/>
                <a:sym typeface="Arial"/>
              </a:rPr>
              <a:t> from </a:t>
            </a:r>
            <a:r>
              <a:rPr lang="en-US" u="sng" dirty="0">
                <a:latin typeface="Arial"/>
                <a:ea typeface="Arial"/>
                <a:cs typeface="Arial"/>
                <a:sym typeface="Arial"/>
              </a:rPr>
              <a:t>means</a:t>
            </a:r>
            <a:r>
              <a:rPr lang="en-US" dirty="0">
                <a:latin typeface="Arial"/>
                <a:ea typeface="Arial"/>
                <a:cs typeface="Arial"/>
                <a:sym typeface="Arial"/>
              </a:rPr>
              <a:t> objectives</a:t>
            </a:r>
          </a:p>
          <a:p>
            <a:pPr lvl="1">
              <a:buSzPct val="117647"/>
            </a:pPr>
            <a:r>
              <a:rPr lang="en-US" dirty="0">
                <a:solidFill>
                  <a:schemeClr val="dk1"/>
                </a:solidFill>
                <a:latin typeface="Arial"/>
                <a:ea typeface="Arial"/>
                <a:cs typeface="Arial"/>
                <a:sym typeface="Arial"/>
              </a:rPr>
              <a:t>Fundamental objectives point to what matters</a:t>
            </a:r>
            <a:endParaRPr lang="en-US" dirty="0"/>
          </a:p>
          <a:p>
            <a:pPr lvl="1">
              <a:buSzPct val="117647"/>
            </a:pPr>
            <a:r>
              <a:rPr lang="en-US" dirty="0">
                <a:solidFill>
                  <a:schemeClr val="dk1"/>
                </a:solidFill>
                <a:latin typeface="Arial"/>
                <a:ea typeface="Arial"/>
                <a:cs typeface="Arial"/>
                <a:sym typeface="Arial"/>
              </a:rPr>
              <a:t>Means objectives point to the actions that you can take to influence what matters</a:t>
            </a:r>
            <a:endParaRPr lang="en-US" dirty="0"/>
          </a:p>
          <a:p>
            <a:pPr lvl="1">
              <a:buSzPct val="117647"/>
            </a:pPr>
            <a:r>
              <a:rPr lang="en-US" dirty="0">
                <a:solidFill>
                  <a:schemeClr val="dk1"/>
                </a:solidFill>
                <a:latin typeface="Arial"/>
                <a:ea typeface="Arial"/>
                <a:cs typeface="Arial"/>
                <a:sym typeface="Arial"/>
              </a:rPr>
              <a:t>Distinguish fundamental and means objectives to</a:t>
            </a:r>
            <a:endParaRPr lang="en-US" dirty="0"/>
          </a:p>
          <a:p>
            <a:pPr lvl="2">
              <a:buSzPct val="137254"/>
            </a:pPr>
            <a:r>
              <a:rPr lang="en-US" dirty="0">
                <a:solidFill>
                  <a:srgbClr val="262626"/>
                </a:solidFill>
                <a:latin typeface="Arial"/>
                <a:ea typeface="Arial"/>
                <a:cs typeface="Arial"/>
                <a:sym typeface="Arial"/>
              </a:rPr>
              <a:t>Correctly weight objectives</a:t>
            </a:r>
            <a:endParaRPr lang="en-US" dirty="0"/>
          </a:p>
          <a:p>
            <a:pPr lvl="2">
              <a:buSzPct val="137254"/>
            </a:pPr>
            <a:r>
              <a:rPr lang="en-US" dirty="0">
                <a:solidFill>
                  <a:srgbClr val="262626"/>
                </a:solidFill>
                <a:latin typeface="Arial"/>
                <a:ea typeface="Arial"/>
                <a:cs typeface="Arial"/>
                <a:sym typeface="Arial"/>
              </a:rPr>
              <a:t>Separate means from ends (i.e., improving habitat might not be sufficient to improve species status)</a:t>
            </a:r>
            <a:endParaRPr lang="en-US" dirty="0"/>
          </a:p>
          <a:p>
            <a:pPr lvl="2">
              <a:buSzPct val="137254"/>
            </a:pPr>
            <a:r>
              <a:rPr lang="en-US" b="1" dirty="0">
                <a:solidFill>
                  <a:srgbClr val="262626"/>
                </a:solidFill>
                <a:latin typeface="Arial"/>
                <a:ea typeface="Arial"/>
                <a:cs typeface="Arial"/>
                <a:sym typeface="Arial"/>
              </a:rPr>
              <a:t>Help develop </a:t>
            </a:r>
            <a:r>
              <a:rPr lang="en-US" dirty="0">
                <a:solidFill>
                  <a:srgbClr val="262626"/>
                </a:solidFill>
                <a:latin typeface="Arial"/>
                <a:ea typeface="Arial"/>
                <a:cs typeface="Arial"/>
                <a:sym typeface="Arial"/>
              </a:rPr>
              <a:t>creative alternatives (focus on the end not the means)</a:t>
            </a:r>
            <a:endParaRPr lang="en-US" dirty="0"/>
          </a:p>
        </p:txBody>
      </p:sp>
    </p:spTree>
    <p:extLst>
      <p:ext uri="{BB962C8B-B14F-4D97-AF65-F5344CB8AC3E}">
        <p14:creationId xmlns:p14="http://schemas.microsoft.com/office/powerpoint/2010/main" val="39018925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0C273-1241-021A-EE4B-550BAEF97627}"/>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56BEB4CA-4FFB-5640-5F6C-5184405FAB0B}"/>
              </a:ext>
            </a:extLst>
          </p:cNvPr>
          <p:cNvSpPr txBox="1"/>
          <p:nvPr/>
        </p:nvSpPr>
        <p:spPr>
          <a:xfrm>
            <a:off x="4019905" y="1459528"/>
            <a:ext cx="4171049" cy="923330"/>
          </a:xfrm>
          <a:prstGeom prst="rect">
            <a:avLst/>
          </a:prstGeom>
          <a:noFill/>
        </p:spPr>
        <p:txBody>
          <a:bodyPr wrap="square">
            <a:spAutoFit/>
          </a:bodyPr>
          <a:lstStyle/>
          <a:p>
            <a:r>
              <a:rPr lang="en-US" sz="5400" b="1" dirty="0">
                <a:solidFill>
                  <a:srgbClr val="00B050"/>
                </a:solidFill>
                <a:ea typeface="MS PGothic" charset="0"/>
              </a:rPr>
              <a:t>Fundamental </a:t>
            </a:r>
            <a:endParaRPr lang="en-US" sz="5400" dirty="0">
              <a:solidFill>
                <a:srgbClr val="00B050"/>
              </a:solidFill>
            </a:endParaRPr>
          </a:p>
        </p:txBody>
      </p:sp>
      <p:sp>
        <p:nvSpPr>
          <p:cNvPr id="18" name="TextBox 17">
            <a:extLst>
              <a:ext uri="{FF2B5EF4-FFF2-40B4-BE49-F238E27FC236}">
                <a16:creationId xmlns:a16="http://schemas.microsoft.com/office/drawing/2014/main" id="{8C2B25C3-0990-11EA-41A8-5DA9818CDC75}"/>
              </a:ext>
            </a:extLst>
          </p:cNvPr>
          <p:cNvSpPr txBox="1"/>
          <p:nvPr/>
        </p:nvSpPr>
        <p:spPr>
          <a:xfrm>
            <a:off x="4037878" y="3815359"/>
            <a:ext cx="4152190" cy="923330"/>
          </a:xfrm>
          <a:prstGeom prst="rect">
            <a:avLst/>
          </a:prstGeom>
          <a:noFill/>
        </p:spPr>
        <p:txBody>
          <a:bodyPr wrap="square">
            <a:spAutoFit/>
          </a:bodyPr>
          <a:lstStyle/>
          <a:p>
            <a:pPr algn="ctr"/>
            <a:r>
              <a:rPr lang="en-US" sz="5400" b="1" dirty="0">
                <a:solidFill>
                  <a:srgbClr val="0070C0"/>
                </a:solidFill>
                <a:ea typeface="MS PGothic" charset="0"/>
              </a:rPr>
              <a:t>Means</a:t>
            </a:r>
            <a:endParaRPr lang="en-US" sz="5400" dirty="0">
              <a:solidFill>
                <a:srgbClr val="0070C0"/>
              </a:solidFill>
            </a:endParaRPr>
          </a:p>
        </p:txBody>
      </p:sp>
      <p:sp>
        <p:nvSpPr>
          <p:cNvPr id="20" name="Arrow: Curved Down 19">
            <a:extLst>
              <a:ext uri="{FF2B5EF4-FFF2-40B4-BE49-F238E27FC236}">
                <a16:creationId xmlns:a16="http://schemas.microsoft.com/office/drawing/2014/main" id="{04D2A061-8D08-3F4B-B32B-6B5FEDA0BA4E}"/>
              </a:ext>
            </a:extLst>
          </p:cNvPr>
          <p:cNvSpPr/>
          <p:nvPr/>
        </p:nvSpPr>
        <p:spPr>
          <a:xfrm rot="16200000">
            <a:off x="1598055" y="2072257"/>
            <a:ext cx="3034578" cy="1809122"/>
          </a:xfrm>
          <a:prstGeom prst="curvedDownArrow">
            <a:avLst/>
          </a:prstGeom>
          <a:solidFill>
            <a:schemeClr val="bg2">
              <a:lumMod val="50000"/>
            </a:scheme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TextBox 21">
            <a:extLst>
              <a:ext uri="{FF2B5EF4-FFF2-40B4-BE49-F238E27FC236}">
                <a16:creationId xmlns:a16="http://schemas.microsoft.com/office/drawing/2014/main" id="{37243962-CDF6-109B-AE7E-FF496DA3C429}"/>
              </a:ext>
            </a:extLst>
          </p:cNvPr>
          <p:cNvSpPr txBox="1"/>
          <p:nvPr/>
        </p:nvSpPr>
        <p:spPr>
          <a:xfrm>
            <a:off x="403871" y="3313684"/>
            <a:ext cx="1621536" cy="1077218"/>
          </a:xfrm>
          <a:prstGeom prst="rect">
            <a:avLst/>
          </a:prstGeom>
          <a:noFill/>
        </p:spPr>
        <p:txBody>
          <a:bodyPr wrap="square">
            <a:spAutoFit/>
          </a:bodyPr>
          <a:lstStyle/>
          <a:p>
            <a:pPr algn="ctr"/>
            <a:r>
              <a:rPr lang="en-US" sz="3200" dirty="0">
                <a:ea typeface="MS PGothic" charset="0"/>
              </a:rPr>
              <a:t>Ask </a:t>
            </a:r>
            <a:r>
              <a:rPr lang="en-US" sz="3200" b="1" dirty="0">
                <a:ea typeface="MS PGothic" charset="0"/>
              </a:rPr>
              <a:t>“WHY”</a:t>
            </a:r>
            <a:endParaRPr lang="en-US" sz="3200" b="1" dirty="0"/>
          </a:p>
        </p:txBody>
      </p:sp>
      <p:sp>
        <p:nvSpPr>
          <p:cNvPr id="23" name="Arrow: Curved Down 22">
            <a:extLst>
              <a:ext uri="{FF2B5EF4-FFF2-40B4-BE49-F238E27FC236}">
                <a16:creationId xmlns:a16="http://schemas.microsoft.com/office/drawing/2014/main" id="{5AD49216-2F54-810E-C01E-F50A04F0977B}"/>
              </a:ext>
            </a:extLst>
          </p:cNvPr>
          <p:cNvSpPr/>
          <p:nvPr/>
        </p:nvSpPr>
        <p:spPr>
          <a:xfrm rot="16200000" flipH="1" flipV="1">
            <a:off x="7331537" y="2357650"/>
            <a:ext cx="3034576" cy="1727503"/>
          </a:xfrm>
          <a:prstGeom prst="curvedDownArrow">
            <a:avLst/>
          </a:prstGeom>
          <a:solidFill>
            <a:schemeClr val="bg2">
              <a:lumMod val="50000"/>
            </a:scheme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TextBox 23">
            <a:extLst>
              <a:ext uri="{FF2B5EF4-FFF2-40B4-BE49-F238E27FC236}">
                <a16:creationId xmlns:a16="http://schemas.microsoft.com/office/drawing/2014/main" id="{2F19FF62-951E-7F9A-7D3F-6D599E76E385}"/>
              </a:ext>
            </a:extLst>
          </p:cNvPr>
          <p:cNvSpPr txBox="1"/>
          <p:nvPr/>
        </p:nvSpPr>
        <p:spPr>
          <a:xfrm>
            <a:off x="9995850" y="3313684"/>
            <a:ext cx="1539829" cy="1077218"/>
          </a:xfrm>
          <a:prstGeom prst="rect">
            <a:avLst/>
          </a:prstGeom>
          <a:noFill/>
        </p:spPr>
        <p:txBody>
          <a:bodyPr wrap="square">
            <a:spAutoFit/>
          </a:bodyPr>
          <a:lstStyle/>
          <a:p>
            <a:pPr algn="ctr"/>
            <a:r>
              <a:rPr lang="en-US" sz="3200" dirty="0">
                <a:ea typeface="MS PGothic" charset="0"/>
              </a:rPr>
              <a:t>Ask </a:t>
            </a:r>
            <a:r>
              <a:rPr lang="en-US" sz="3200" b="1" dirty="0">
                <a:ea typeface="MS PGothic" charset="0"/>
              </a:rPr>
              <a:t>“HOW”</a:t>
            </a:r>
            <a:endParaRPr lang="en-US" sz="3200" b="1" dirty="0"/>
          </a:p>
        </p:txBody>
      </p:sp>
      <p:sp>
        <p:nvSpPr>
          <p:cNvPr id="5" name="Title 1">
            <a:extLst>
              <a:ext uri="{FF2B5EF4-FFF2-40B4-BE49-F238E27FC236}">
                <a16:creationId xmlns:a16="http://schemas.microsoft.com/office/drawing/2014/main" id="{93E9D839-E905-C3B1-0473-27EC5A3D1FCD}"/>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6" name="Rectangle 5">
            <a:extLst>
              <a:ext uri="{FF2B5EF4-FFF2-40B4-BE49-F238E27FC236}">
                <a16:creationId xmlns:a16="http://schemas.microsoft.com/office/drawing/2014/main" id="{83C27DBD-027F-E32B-4F36-7821EDD4CF2E}"/>
              </a:ext>
            </a:extLst>
          </p:cNvPr>
          <p:cNvSpPr/>
          <p:nvPr/>
        </p:nvSpPr>
        <p:spPr>
          <a:xfrm>
            <a:off x="3772230" y="2323426"/>
            <a:ext cx="4417838" cy="92333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1200"/>
              </a:spcBef>
            </a:pPr>
            <a:r>
              <a:rPr lang="en-US" sz="2400" dirty="0">
                <a:solidFill>
                  <a:schemeClr val="tx1"/>
                </a:solidFill>
                <a:latin typeface="+mn-lt"/>
                <a:ea typeface="MS PGothic" charset="0"/>
              </a:rPr>
              <a:t>When the answer is:                    </a:t>
            </a:r>
            <a:r>
              <a:rPr lang="ja-JP" altLang="en-US" sz="2400" dirty="0">
                <a:solidFill>
                  <a:schemeClr val="tx1"/>
                </a:solidFill>
                <a:latin typeface="+mn-lt"/>
                <a:ea typeface="HGS明朝E" charset="0"/>
                <a:cs typeface="HGS明朝E" charset="0"/>
              </a:rPr>
              <a:t>“</a:t>
            </a:r>
            <a:r>
              <a:rPr lang="en-US" altLang="ja-JP" sz="2400" dirty="0">
                <a:solidFill>
                  <a:schemeClr val="tx1"/>
                </a:solidFill>
                <a:latin typeface="+mn-lt"/>
                <a:ea typeface="MS PGothic" charset="0"/>
              </a:rPr>
              <a:t>Just because”/</a:t>
            </a:r>
            <a:r>
              <a:rPr lang="en-US" altLang="ja-JP" sz="2400" dirty="0">
                <a:solidFill>
                  <a:schemeClr val="tx1"/>
                </a:solidFill>
                <a:latin typeface="+mn-lt"/>
                <a:ea typeface="HGS明朝E" charset="0"/>
                <a:cs typeface="HGS明朝E" charset="0"/>
              </a:rPr>
              <a:t> “Inherent value”</a:t>
            </a:r>
            <a:endParaRPr lang="en-US" altLang="ja-JP" sz="2400" dirty="0">
              <a:solidFill>
                <a:schemeClr val="tx1"/>
              </a:solidFill>
              <a:latin typeface="+mn-lt"/>
              <a:ea typeface="MS PGothic" charset="0"/>
            </a:endParaRPr>
          </a:p>
        </p:txBody>
      </p:sp>
      <p:sp>
        <p:nvSpPr>
          <p:cNvPr id="7" name="Rectangle 6">
            <a:extLst>
              <a:ext uri="{FF2B5EF4-FFF2-40B4-BE49-F238E27FC236}">
                <a16:creationId xmlns:a16="http://schemas.microsoft.com/office/drawing/2014/main" id="{736A2510-7358-EE1A-79CE-2796C11AED9A}"/>
              </a:ext>
            </a:extLst>
          </p:cNvPr>
          <p:cNvSpPr/>
          <p:nvPr/>
        </p:nvSpPr>
        <p:spPr>
          <a:xfrm>
            <a:off x="4019905" y="4591583"/>
            <a:ext cx="4152190" cy="1920584"/>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1200"/>
              </a:spcBef>
            </a:pPr>
            <a:r>
              <a:rPr lang="en-US" sz="2400" dirty="0">
                <a:solidFill>
                  <a:schemeClr val="tx1"/>
                </a:solidFill>
                <a:latin typeface="+mn-lt"/>
                <a:ea typeface="MS PGothic" charset="0"/>
              </a:rPr>
              <a:t>When the answer is:                   </a:t>
            </a:r>
            <a:r>
              <a:rPr lang="en-US" sz="2400" dirty="0">
                <a:solidFill>
                  <a:schemeClr val="tx1"/>
                </a:solidFill>
                <a:ea typeface="MS PGothic" charset="0"/>
              </a:rPr>
              <a:t>This is how we </a:t>
            </a:r>
            <a:r>
              <a:rPr lang="en-US" sz="2400" dirty="0">
                <a:solidFill>
                  <a:schemeClr val="tx1"/>
                </a:solidFill>
                <a:latin typeface="+mn-lt"/>
                <a:ea typeface="MS PGothic" charset="0"/>
              </a:rPr>
              <a:t>address our fundamental concern. Or…        this is how we measure success</a:t>
            </a:r>
          </a:p>
          <a:p>
            <a:pPr algn="ctr">
              <a:spcBef>
                <a:spcPts val="1200"/>
              </a:spcBef>
            </a:pPr>
            <a:r>
              <a:rPr lang="en-US" sz="2400" dirty="0">
                <a:solidFill>
                  <a:schemeClr val="tx1"/>
                </a:solidFill>
                <a:ea typeface="MS PGothic" charset="0"/>
              </a:rPr>
              <a:t>**Often outputs of models**</a:t>
            </a:r>
            <a:endParaRPr lang="en-US" sz="2400" dirty="0">
              <a:solidFill>
                <a:schemeClr val="tx1"/>
              </a:solidFill>
              <a:latin typeface="+mn-lt"/>
              <a:ea typeface="MS PGothic" charset="0"/>
            </a:endParaRPr>
          </a:p>
        </p:txBody>
      </p:sp>
      <p:sp>
        <p:nvSpPr>
          <p:cNvPr id="2" name="TextBox 1">
            <a:extLst>
              <a:ext uri="{FF2B5EF4-FFF2-40B4-BE49-F238E27FC236}">
                <a16:creationId xmlns:a16="http://schemas.microsoft.com/office/drawing/2014/main" id="{498E08E9-B891-704C-BEB3-6017BD581E5A}"/>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3" name="Title 1">
            <a:extLst>
              <a:ext uri="{FF2B5EF4-FFF2-40B4-BE49-F238E27FC236}">
                <a16:creationId xmlns:a16="http://schemas.microsoft.com/office/drawing/2014/main" id="{2F3B4C70-1B37-0429-6DA8-51675AA37D5A}"/>
              </a:ext>
            </a:extLst>
          </p:cNvPr>
          <p:cNvSpPr txBox="1">
            <a:spLocks/>
          </p:cNvSpPr>
          <p:nvPr/>
        </p:nvSpPr>
        <p:spPr>
          <a:xfrm>
            <a:off x="920496" y="-178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Tree>
    <p:extLst>
      <p:ext uri="{BB962C8B-B14F-4D97-AF65-F5344CB8AC3E}">
        <p14:creationId xmlns:p14="http://schemas.microsoft.com/office/powerpoint/2010/main" val="2283546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F8D88-4B7C-14FF-77B5-3C1905CEFCF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C161D0-8A26-1F5E-A8A6-FD90E24EE401}"/>
              </a:ext>
            </a:extLst>
          </p:cNvPr>
          <p:cNvSpPr>
            <a:spLocks noGrp="1"/>
          </p:cNvSpPr>
          <p:nvPr>
            <p:ph idx="1"/>
          </p:nvPr>
        </p:nvSpPr>
        <p:spPr>
          <a:xfrm>
            <a:off x="838200" y="1566292"/>
            <a:ext cx="10515600" cy="606679"/>
          </a:xfrm>
        </p:spPr>
        <p:txBody>
          <a:bodyPr/>
          <a:lstStyle/>
          <a:p>
            <a:pPr marL="0" indent="0">
              <a:buNone/>
            </a:pPr>
            <a:r>
              <a:rPr lang="en-US" dirty="0"/>
              <a:t>Exercise: Identify the fundamental objective</a:t>
            </a:r>
          </a:p>
        </p:txBody>
      </p:sp>
      <p:graphicFrame>
        <p:nvGraphicFramePr>
          <p:cNvPr id="6" name="Table 5">
            <a:extLst>
              <a:ext uri="{FF2B5EF4-FFF2-40B4-BE49-F238E27FC236}">
                <a16:creationId xmlns:a16="http://schemas.microsoft.com/office/drawing/2014/main" id="{9D2360FA-AE0C-A9F1-0523-9B07896CFAD4}"/>
              </a:ext>
            </a:extLst>
          </p:cNvPr>
          <p:cNvGraphicFramePr>
            <a:graphicFrameLocks noGrp="1"/>
          </p:cNvGraphicFramePr>
          <p:nvPr/>
        </p:nvGraphicFramePr>
        <p:xfrm>
          <a:off x="1162812" y="2308734"/>
          <a:ext cx="10190988" cy="3206107"/>
        </p:xfrm>
        <a:graphic>
          <a:graphicData uri="http://schemas.openxmlformats.org/drawingml/2006/table">
            <a:tbl>
              <a:tblPr/>
              <a:tblGrid>
                <a:gridCol w="5329428">
                  <a:extLst>
                    <a:ext uri="{9D8B030D-6E8A-4147-A177-3AD203B41FA5}">
                      <a16:colId xmlns:a16="http://schemas.microsoft.com/office/drawing/2014/main" val="20000"/>
                    </a:ext>
                  </a:extLst>
                </a:gridCol>
                <a:gridCol w="4861560">
                  <a:extLst>
                    <a:ext uri="{9D8B030D-6E8A-4147-A177-3AD203B41FA5}">
                      <a16:colId xmlns:a16="http://schemas.microsoft.com/office/drawing/2014/main" val="20001"/>
                    </a:ext>
                  </a:extLst>
                </a:gridCol>
              </a:tblGrid>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MS PGothic" charset="0"/>
                          <a:cs typeface="MS PGothic" charset="0"/>
                        </a:rPr>
                        <a:t>Concern</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MS PGothic" charset="0"/>
                          <a:cs typeface="MS PGothic" charset="0"/>
                        </a:rPr>
                        <a:t>Objectives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rgbClr val="000000"/>
                          </a:solidFill>
                          <a:effectLst/>
                          <a:latin typeface="+mn-lt"/>
                          <a:ea typeface="MS PGothic" charset="0"/>
                          <a:cs typeface="MS PGothic" charset="0"/>
                        </a:rPr>
                        <a:t>1. Ballast water brings invasive species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eaLnBrk="1" fontAlgn="base" latinLnBrk="0" hangingPunct="1">
                        <a:lnSpc>
                          <a:spcPct val="90000"/>
                        </a:lnSpc>
                        <a:spcBef>
                          <a:spcPct val="0"/>
                        </a:spcBef>
                        <a:spcAft>
                          <a:spcPct val="0"/>
                        </a:spcAft>
                        <a:buClrTx/>
                        <a:buSzTx/>
                        <a:buFont typeface="Wingdings 2" charset="0"/>
                        <a:buNone/>
                      </a:pPr>
                      <a:r>
                        <a:rPr lang="en-US" sz="2400" b="0" i="0" u="none" strike="noStrike" cap="none" normalizeH="0" baseline="0" dirty="0">
                          <a:ln>
                            <a:noFill/>
                          </a:ln>
                          <a:solidFill>
                            <a:schemeClr val="tx1"/>
                          </a:solidFill>
                          <a:effectLst/>
                          <a:latin typeface="+mn-lt"/>
                          <a:ea typeface="MS PGothic"/>
                          <a:cs typeface="MS PGothic" charset="0"/>
                        </a:rPr>
                        <a:t>Minimize ballast</a:t>
                      </a:r>
                      <a:r>
                        <a:rPr kumimoji="0" lang="en-US" sz="2400" b="0" i="0" u="none" strike="noStrike" cap="none" normalizeH="0" baseline="0" dirty="0">
                          <a:ln>
                            <a:noFill/>
                          </a:ln>
                          <a:solidFill>
                            <a:schemeClr val="tx1"/>
                          </a:solidFill>
                          <a:effectLst/>
                          <a:latin typeface="+mn-lt"/>
                          <a:ea typeface="MS PGothic"/>
                          <a:cs typeface="MS PGothic" charset="0"/>
                        </a:rPr>
                        <a:t> dumping</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a:ln>
                          <a:noFill/>
                        </a:ln>
                        <a:solidFill>
                          <a:srgbClr val="00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Minimize invasive species introductions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Maximize native species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170347">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00" b="0" i="0" u="none" strike="noStrike" cap="none" normalizeH="0" baseline="0" dirty="0">
                        <a:ln>
                          <a:noFill/>
                        </a:ln>
                        <a:solidFill>
                          <a:srgbClr val="00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tx1"/>
                    </a:solidFill>
                  </a:tcPr>
                </a:tc>
                <a:tc>
                  <a:txBody>
                    <a:body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endParaRPr kumimoji="0" lang="en-US" sz="100" b="0" i="0" u="none" strike="noStrike" cap="none" normalizeH="0" baseline="0" dirty="0">
                        <a:ln>
                          <a:noFill/>
                        </a:ln>
                        <a:solidFill>
                          <a:srgbClr val="FF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tx1"/>
                    </a:solidFill>
                  </a:tcPr>
                </a:tc>
                <a:extLst>
                  <a:ext uri="{0D108BD9-81ED-4DB2-BD59-A6C34878D82A}">
                    <a16:rowId xmlns:a16="http://schemas.microsoft.com/office/drawing/2014/main" val="1054306726"/>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rgbClr val="000000"/>
                          </a:solidFill>
                          <a:effectLst/>
                          <a:latin typeface="+mn-lt"/>
                          <a:ea typeface="MS PGothic" charset="0"/>
                          <a:cs typeface="MS PGothic" charset="0"/>
                        </a:rPr>
                        <a:t>2. You don’t have enough money for this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Minimize cost</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428751">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a:ln>
                          <a:noFill/>
                        </a:ln>
                        <a:solidFill>
                          <a:srgbClr val="00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Maximize conservation within budget</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
        <p:nvSpPr>
          <p:cNvPr id="7" name="Star: 5 Points 6">
            <a:extLst>
              <a:ext uri="{FF2B5EF4-FFF2-40B4-BE49-F238E27FC236}">
                <a16:creationId xmlns:a16="http://schemas.microsoft.com/office/drawing/2014/main" id="{562FD240-BA68-8309-4F04-3331E5EE7EB2}"/>
              </a:ext>
            </a:extLst>
          </p:cNvPr>
          <p:cNvSpPr/>
          <p:nvPr/>
        </p:nvSpPr>
        <p:spPr>
          <a:xfrm>
            <a:off x="7342632" y="1430529"/>
            <a:ext cx="649224" cy="541719"/>
          </a:xfrm>
          <a:prstGeom prst="star5">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D7E0AA0D-2769-374B-F047-D918C15374E7}"/>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2" name="TextBox 1">
            <a:extLst>
              <a:ext uri="{FF2B5EF4-FFF2-40B4-BE49-F238E27FC236}">
                <a16:creationId xmlns:a16="http://schemas.microsoft.com/office/drawing/2014/main" id="{4E7C249A-AE15-19C0-0F93-397ABFC29E76}"/>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3" name="Title 1">
            <a:extLst>
              <a:ext uri="{FF2B5EF4-FFF2-40B4-BE49-F238E27FC236}">
                <a16:creationId xmlns:a16="http://schemas.microsoft.com/office/drawing/2014/main" id="{06D5D7E5-F091-B5BD-5A93-2AB4D9B277E6}"/>
              </a:ext>
            </a:extLst>
          </p:cNvPr>
          <p:cNvSpPr txBox="1">
            <a:spLocks/>
          </p:cNvSpPr>
          <p:nvPr/>
        </p:nvSpPr>
        <p:spPr>
          <a:xfrm>
            <a:off x="0" y="92081"/>
            <a:ext cx="12192000" cy="734352"/>
          </a:xfrm>
          <a:prstGeom prst="rect">
            <a:avLst/>
          </a:prstGeom>
          <a:solidFill>
            <a:schemeClr val="accent6">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Activity – fundamental objective</a:t>
            </a:r>
          </a:p>
        </p:txBody>
      </p:sp>
    </p:spTree>
    <p:extLst>
      <p:ext uri="{BB962C8B-B14F-4D97-AF65-F5344CB8AC3E}">
        <p14:creationId xmlns:p14="http://schemas.microsoft.com/office/powerpoint/2010/main" val="3689930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1FA4C-CA74-5184-CB41-338B1DA6D10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632F78-355A-4466-1B2F-C28811D607B5}"/>
              </a:ext>
            </a:extLst>
          </p:cNvPr>
          <p:cNvSpPr>
            <a:spLocks noGrp="1"/>
          </p:cNvSpPr>
          <p:nvPr>
            <p:ph idx="1"/>
          </p:nvPr>
        </p:nvSpPr>
        <p:spPr>
          <a:xfrm>
            <a:off x="838200" y="1566292"/>
            <a:ext cx="10515600" cy="606679"/>
          </a:xfrm>
        </p:spPr>
        <p:txBody>
          <a:bodyPr/>
          <a:lstStyle/>
          <a:p>
            <a:pPr marL="0" indent="0">
              <a:buNone/>
            </a:pPr>
            <a:r>
              <a:rPr lang="en-US" dirty="0"/>
              <a:t>Exercise: Identify the fundamental objective</a:t>
            </a:r>
          </a:p>
        </p:txBody>
      </p:sp>
      <p:graphicFrame>
        <p:nvGraphicFramePr>
          <p:cNvPr id="6" name="Table 5">
            <a:extLst>
              <a:ext uri="{FF2B5EF4-FFF2-40B4-BE49-F238E27FC236}">
                <a16:creationId xmlns:a16="http://schemas.microsoft.com/office/drawing/2014/main" id="{045A8D7E-EBB7-CDFD-EDC0-3DC5B30CA338}"/>
              </a:ext>
            </a:extLst>
          </p:cNvPr>
          <p:cNvGraphicFramePr>
            <a:graphicFrameLocks noGrp="1"/>
          </p:cNvGraphicFramePr>
          <p:nvPr/>
        </p:nvGraphicFramePr>
        <p:xfrm>
          <a:off x="1162812" y="2308734"/>
          <a:ext cx="10190988" cy="3206107"/>
        </p:xfrm>
        <a:graphic>
          <a:graphicData uri="http://schemas.openxmlformats.org/drawingml/2006/table">
            <a:tbl>
              <a:tblPr/>
              <a:tblGrid>
                <a:gridCol w="5329428">
                  <a:extLst>
                    <a:ext uri="{9D8B030D-6E8A-4147-A177-3AD203B41FA5}">
                      <a16:colId xmlns:a16="http://schemas.microsoft.com/office/drawing/2014/main" val="20000"/>
                    </a:ext>
                  </a:extLst>
                </a:gridCol>
                <a:gridCol w="4861560">
                  <a:extLst>
                    <a:ext uri="{9D8B030D-6E8A-4147-A177-3AD203B41FA5}">
                      <a16:colId xmlns:a16="http://schemas.microsoft.com/office/drawing/2014/main" val="20001"/>
                    </a:ext>
                  </a:extLst>
                </a:gridCol>
              </a:tblGrid>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MS PGothic" charset="0"/>
                          <a:cs typeface="MS PGothic" charset="0"/>
                        </a:rPr>
                        <a:t>Concern</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MS PGothic" charset="0"/>
                          <a:cs typeface="MS PGothic" charset="0"/>
                        </a:rPr>
                        <a:t>Objectives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rgbClr val="000000"/>
                          </a:solidFill>
                          <a:effectLst/>
                          <a:latin typeface="+mn-lt"/>
                          <a:ea typeface="MS PGothic" charset="0"/>
                          <a:cs typeface="MS PGothic" charset="0"/>
                        </a:rPr>
                        <a:t>1. Ballast water brings invasive species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eaLnBrk="1" fontAlgn="base" latinLnBrk="0" hangingPunct="1">
                        <a:lnSpc>
                          <a:spcPct val="90000"/>
                        </a:lnSpc>
                        <a:spcBef>
                          <a:spcPct val="0"/>
                        </a:spcBef>
                        <a:spcAft>
                          <a:spcPct val="0"/>
                        </a:spcAft>
                        <a:buClrTx/>
                        <a:buSzTx/>
                        <a:buFont typeface="Wingdings 2" charset="0"/>
                        <a:buNone/>
                      </a:pPr>
                      <a:r>
                        <a:rPr lang="en-US" sz="2400" b="0" i="0" u="none" strike="noStrike" cap="none" normalizeH="0" baseline="0" dirty="0">
                          <a:ln>
                            <a:noFill/>
                          </a:ln>
                          <a:solidFill>
                            <a:schemeClr val="tx1"/>
                          </a:solidFill>
                          <a:effectLst/>
                          <a:latin typeface="+mn-lt"/>
                          <a:ea typeface="MS PGothic"/>
                          <a:cs typeface="MS PGothic" charset="0"/>
                        </a:rPr>
                        <a:t>Minimize ballast</a:t>
                      </a:r>
                      <a:r>
                        <a:rPr kumimoji="0" lang="en-US" sz="2400" b="0" i="0" u="none" strike="noStrike" cap="none" normalizeH="0" baseline="0" dirty="0">
                          <a:ln>
                            <a:noFill/>
                          </a:ln>
                          <a:solidFill>
                            <a:schemeClr val="tx1"/>
                          </a:solidFill>
                          <a:effectLst/>
                          <a:latin typeface="+mn-lt"/>
                          <a:ea typeface="MS PGothic"/>
                          <a:cs typeface="MS PGothic" charset="0"/>
                        </a:rPr>
                        <a:t> dumping</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a:ln>
                          <a:noFill/>
                        </a:ln>
                        <a:solidFill>
                          <a:srgbClr val="00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Minimize invasive species introductions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Maximize native species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170347">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00" b="0" i="0" u="none" strike="noStrike" cap="none" normalizeH="0" baseline="0" dirty="0">
                        <a:ln>
                          <a:noFill/>
                        </a:ln>
                        <a:solidFill>
                          <a:srgbClr val="00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tx1"/>
                    </a:solidFill>
                  </a:tcPr>
                </a:tc>
                <a:tc>
                  <a:txBody>
                    <a:body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endParaRPr kumimoji="0" lang="en-US" sz="100" b="0" i="0" u="none" strike="noStrike" cap="none" normalizeH="0" baseline="0" dirty="0">
                        <a:ln>
                          <a:noFill/>
                        </a:ln>
                        <a:solidFill>
                          <a:srgbClr val="FF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tx1"/>
                    </a:solidFill>
                  </a:tcPr>
                </a:tc>
                <a:extLst>
                  <a:ext uri="{0D108BD9-81ED-4DB2-BD59-A6C34878D82A}">
                    <a16:rowId xmlns:a16="http://schemas.microsoft.com/office/drawing/2014/main" val="1054306726"/>
                  </a:ext>
                </a:extLst>
              </a:tr>
              <a:tr h="3714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rgbClr val="000000"/>
                          </a:solidFill>
                          <a:effectLst/>
                          <a:latin typeface="+mn-lt"/>
                          <a:ea typeface="MS PGothic" charset="0"/>
                          <a:cs typeface="MS PGothic" charset="0"/>
                        </a:rPr>
                        <a:t>2. You don’t have enough money for this</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Minimize cost</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428751">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a:ln>
                          <a:noFill/>
                        </a:ln>
                        <a:solidFill>
                          <a:srgbClr val="000000"/>
                        </a:solidFill>
                        <a:effectLst/>
                        <a:latin typeface="+mn-lt"/>
                        <a:ea typeface="MS PGothic" charset="0"/>
                        <a:cs typeface="MS PGothic" charset="0"/>
                      </a:endParaRP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base" latinLnBrk="0" hangingPunct="1">
                        <a:lnSpc>
                          <a:spcPct val="90000"/>
                        </a:lnSpc>
                        <a:spcBef>
                          <a:spcPct val="0"/>
                        </a:spcBef>
                        <a:spcAft>
                          <a:spcPct val="0"/>
                        </a:spcAft>
                        <a:buClrTx/>
                        <a:buSzTx/>
                        <a:buFont typeface="Wingdings 2" charset="0"/>
                        <a:buNone/>
                        <a:tabLst/>
                      </a:pPr>
                      <a:r>
                        <a:rPr kumimoji="0" lang="en-US" sz="2400" b="0" i="0" u="none" strike="noStrike" cap="none" normalizeH="0" baseline="0" dirty="0">
                          <a:ln>
                            <a:noFill/>
                          </a:ln>
                          <a:solidFill>
                            <a:schemeClr val="tx1"/>
                          </a:solidFill>
                          <a:effectLst/>
                          <a:latin typeface="+mn-lt"/>
                          <a:ea typeface="MS PGothic" charset="0"/>
                          <a:cs typeface="MS PGothic" charset="0"/>
                        </a:rPr>
                        <a:t>Maximize conservation within budget</a:t>
                      </a:r>
                    </a:p>
                  </a:txBody>
                  <a:tcPr marT="45716" marB="45716"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
        <p:nvSpPr>
          <p:cNvPr id="7" name="Star: 5 Points 6">
            <a:extLst>
              <a:ext uri="{FF2B5EF4-FFF2-40B4-BE49-F238E27FC236}">
                <a16:creationId xmlns:a16="http://schemas.microsoft.com/office/drawing/2014/main" id="{F01132EB-027A-54DE-B943-1E3D90786346}"/>
              </a:ext>
            </a:extLst>
          </p:cNvPr>
          <p:cNvSpPr/>
          <p:nvPr/>
        </p:nvSpPr>
        <p:spPr>
          <a:xfrm>
            <a:off x="7342632" y="1430529"/>
            <a:ext cx="649224" cy="541719"/>
          </a:xfrm>
          <a:prstGeom prst="star5">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tar: 5 Points 7">
            <a:extLst>
              <a:ext uri="{FF2B5EF4-FFF2-40B4-BE49-F238E27FC236}">
                <a16:creationId xmlns:a16="http://schemas.microsoft.com/office/drawing/2014/main" id="{8EFDA8DC-405F-6776-EC3D-0DB6D4456D7E}"/>
              </a:ext>
            </a:extLst>
          </p:cNvPr>
          <p:cNvSpPr/>
          <p:nvPr/>
        </p:nvSpPr>
        <p:spPr>
          <a:xfrm>
            <a:off x="9707880" y="3986784"/>
            <a:ext cx="441960" cy="414720"/>
          </a:xfrm>
          <a:prstGeom prst="star5">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tar: 5 Points 8">
            <a:extLst>
              <a:ext uri="{FF2B5EF4-FFF2-40B4-BE49-F238E27FC236}">
                <a16:creationId xmlns:a16="http://schemas.microsoft.com/office/drawing/2014/main" id="{E342E88E-0143-DFDE-CF9B-1EBF58919B9E}"/>
              </a:ext>
            </a:extLst>
          </p:cNvPr>
          <p:cNvSpPr/>
          <p:nvPr/>
        </p:nvSpPr>
        <p:spPr>
          <a:xfrm>
            <a:off x="8452104" y="4596384"/>
            <a:ext cx="441960" cy="414720"/>
          </a:xfrm>
          <a:prstGeom prst="star5">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Multiplication Sign 11">
            <a:extLst>
              <a:ext uri="{FF2B5EF4-FFF2-40B4-BE49-F238E27FC236}">
                <a16:creationId xmlns:a16="http://schemas.microsoft.com/office/drawing/2014/main" id="{76504559-CCA5-F679-A06B-ED49C47F7906}"/>
              </a:ext>
            </a:extLst>
          </p:cNvPr>
          <p:cNvSpPr/>
          <p:nvPr/>
        </p:nvSpPr>
        <p:spPr>
          <a:xfrm>
            <a:off x="9369552" y="5085650"/>
            <a:ext cx="1984248" cy="412115"/>
          </a:xfrm>
          <a:prstGeom prst="mathMultiply">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F7A39E7-E585-6E21-C0C5-391C03486F56}"/>
              </a:ext>
            </a:extLst>
          </p:cNvPr>
          <p:cNvSpPr txBox="1"/>
          <p:nvPr/>
        </p:nvSpPr>
        <p:spPr>
          <a:xfrm>
            <a:off x="7790688" y="5497765"/>
            <a:ext cx="4096512" cy="461665"/>
          </a:xfrm>
          <a:prstGeom prst="rect">
            <a:avLst/>
          </a:prstGeom>
          <a:noFill/>
        </p:spPr>
        <p:txBody>
          <a:bodyPr wrap="square" rtlCol="0">
            <a:spAutoFit/>
          </a:bodyPr>
          <a:lstStyle/>
          <a:p>
            <a:r>
              <a:rPr lang="en-US" sz="2400" b="1" dirty="0">
                <a:solidFill>
                  <a:srgbClr val="FF0000"/>
                </a:solidFill>
              </a:rPr>
              <a:t>Do not combine objectives!</a:t>
            </a:r>
          </a:p>
        </p:txBody>
      </p:sp>
      <p:sp>
        <p:nvSpPr>
          <p:cNvPr id="10" name="Title 1">
            <a:extLst>
              <a:ext uri="{FF2B5EF4-FFF2-40B4-BE49-F238E27FC236}">
                <a16:creationId xmlns:a16="http://schemas.microsoft.com/office/drawing/2014/main" id="{7F732C5E-A823-E684-4E67-AD1E0ABC133B}"/>
              </a:ext>
            </a:extLst>
          </p:cNvPr>
          <p:cNvSpPr>
            <a:spLocks noGrp="1"/>
          </p:cNvSpPr>
          <p:nvPr>
            <p:ph type="title"/>
          </p:nvPr>
        </p:nvSpPr>
        <p:spPr>
          <a:xfrm>
            <a:off x="838200" y="474853"/>
            <a:ext cx="10515600" cy="1325563"/>
          </a:xfrm>
        </p:spPr>
        <p:txBody>
          <a:bodyPr/>
          <a:lstStyle/>
          <a:p>
            <a:r>
              <a:rPr lang="en-US" dirty="0"/>
              <a:t>3a. Distinguish types of objectives</a:t>
            </a:r>
          </a:p>
        </p:txBody>
      </p:sp>
      <p:sp>
        <p:nvSpPr>
          <p:cNvPr id="2" name="TextBox 1">
            <a:extLst>
              <a:ext uri="{FF2B5EF4-FFF2-40B4-BE49-F238E27FC236}">
                <a16:creationId xmlns:a16="http://schemas.microsoft.com/office/drawing/2014/main" id="{8113C220-98F4-9639-FA35-AED0DFBDF960}"/>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3" name="Title 1">
            <a:extLst>
              <a:ext uri="{FF2B5EF4-FFF2-40B4-BE49-F238E27FC236}">
                <a16:creationId xmlns:a16="http://schemas.microsoft.com/office/drawing/2014/main" id="{D4A32DEF-3668-1504-5943-4E6C3142A358}"/>
              </a:ext>
            </a:extLst>
          </p:cNvPr>
          <p:cNvSpPr txBox="1">
            <a:spLocks/>
          </p:cNvSpPr>
          <p:nvPr/>
        </p:nvSpPr>
        <p:spPr>
          <a:xfrm>
            <a:off x="0" y="92081"/>
            <a:ext cx="12192000" cy="734352"/>
          </a:xfrm>
          <a:prstGeom prst="rect">
            <a:avLst/>
          </a:prstGeom>
          <a:solidFill>
            <a:schemeClr val="accent6">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Activity – fundamental objective</a:t>
            </a:r>
          </a:p>
        </p:txBody>
      </p:sp>
    </p:spTree>
    <p:extLst>
      <p:ext uri="{BB962C8B-B14F-4D97-AF65-F5344CB8AC3E}">
        <p14:creationId xmlns:p14="http://schemas.microsoft.com/office/powerpoint/2010/main" val="2429975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10">
            <a:extLst>
              <a:ext uri="{FF2B5EF4-FFF2-40B4-BE49-F238E27FC236}">
                <a16:creationId xmlns:a16="http://schemas.microsoft.com/office/drawing/2014/main" id="{C0CB0804-2578-0491-F211-92E17EF29A40}"/>
              </a:ext>
            </a:extLst>
          </p:cNvPr>
          <p:cNvSpPr txBox="1">
            <a:spLocks noChangeArrowheads="1"/>
          </p:cNvSpPr>
          <p:nvPr/>
        </p:nvSpPr>
        <p:spPr bwMode="auto">
          <a:xfrm>
            <a:off x="4184684" y="4462470"/>
            <a:ext cx="2246722" cy="369332"/>
          </a:xfrm>
          <a:prstGeom prst="rect">
            <a:avLst/>
          </a:prstGeom>
          <a:noFill/>
          <a:ln w="15875">
            <a:noFill/>
            <a:miter lim="800000"/>
            <a:headEnd/>
            <a:tailEnd/>
          </a:ln>
        </p:spPr>
        <p:txBody>
          <a:bodyPr wrap="square">
            <a:spAutoFit/>
          </a:bodyPr>
          <a:lstStyle/>
          <a:p>
            <a:pPr algn="ctr" defTabSz="914400">
              <a:defRPr/>
            </a:pPr>
            <a:r>
              <a:rPr lang="en-US" b="1" kern="0" dirty="0">
                <a:solidFill>
                  <a:prstClr val="black"/>
                </a:solidFill>
                <a:latin typeface="Arial"/>
              </a:rPr>
              <a:t>Maximize Habitat</a:t>
            </a:r>
          </a:p>
        </p:txBody>
      </p:sp>
      <p:cxnSp>
        <p:nvCxnSpPr>
          <p:cNvPr id="7" name="Straight Connector 35">
            <a:extLst>
              <a:ext uri="{FF2B5EF4-FFF2-40B4-BE49-F238E27FC236}">
                <a16:creationId xmlns:a16="http://schemas.microsoft.com/office/drawing/2014/main" id="{9BBE45F6-E1E6-4B15-9507-BA51A7A063A9}"/>
              </a:ext>
            </a:extLst>
          </p:cNvPr>
          <p:cNvCxnSpPr>
            <a:cxnSpLocks noChangeShapeType="1"/>
          </p:cNvCxnSpPr>
          <p:nvPr/>
        </p:nvCxnSpPr>
        <p:spPr bwMode="auto">
          <a:xfrm rot="16200000" flipH="1">
            <a:off x="4519052" y="4184095"/>
            <a:ext cx="352502" cy="204247"/>
          </a:xfrm>
          <a:prstGeom prst="line">
            <a:avLst/>
          </a:prstGeom>
          <a:noFill/>
          <a:ln w="28575" algn="ctr">
            <a:solidFill>
              <a:sysClr val="windowText" lastClr="000000"/>
            </a:solidFill>
            <a:round/>
            <a:headEnd type="arrow" w="med" len="med"/>
            <a:tailEnd/>
          </a:ln>
        </p:spPr>
      </p:cxnSp>
      <p:sp>
        <p:nvSpPr>
          <p:cNvPr id="8" name="TextBox 7">
            <a:extLst>
              <a:ext uri="{FF2B5EF4-FFF2-40B4-BE49-F238E27FC236}">
                <a16:creationId xmlns:a16="http://schemas.microsoft.com/office/drawing/2014/main" id="{056BF4A8-6298-9BC9-694D-78C3AE491A51}"/>
              </a:ext>
            </a:extLst>
          </p:cNvPr>
          <p:cNvSpPr txBox="1">
            <a:spLocks noChangeArrowheads="1"/>
          </p:cNvSpPr>
          <p:nvPr/>
        </p:nvSpPr>
        <p:spPr bwMode="auto">
          <a:xfrm>
            <a:off x="1652016" y="4462470"/>
            <a:ext cx="1960775" cy="646331"/>
          </a:xfrm>
          <a:prstGeom prst="rect">
            <a:avLst/>
          </a:prstGeom>
          <a:noFill/>
          <a:ln w="15875">
            <a:noFill/>
            <a:miter lim="800000"/>
            <a:headEnd/>
            <a:tailEnd/>
          </a:ln>
        </p:spPr>
        <p:txBody>
          <a:bodyPr>
            <a:spAutoFit/>
          </a:bodyPr>
          <a:lstStyle/>
          <a:p>
            <a:pPr algn="ctr" defTabSz="914400">
              <a:defRPr/>
            </a:pPr>
            <a:r>
              <a:rPr lang="en-US" b="1" kern="0" dirty="0">
                <a:solidFill>
                  <a:prstClr val="black"/>
                </a:solidFill>
                <a:latin typeface="Arial"/>
              </a:rPr>
              <a:t>Minimize Mortality</a:t>
            </a:r>
          </a:p>
        </p:txBody>
      </p:sp>
      <p:sp>
        <p:nvSpPr>
          <p:cNvPr id="9" name="TextBox 8">
            <a:extLst>
              <a:ext uri="{FF2B5EF4-FFF2-40B4-BE49-F238E27FC236}">
                <a16:creationId xmlns:a16="http://schemas.microsoft.com/office/drawing/2014/main" id="{328FE45B-9D3E-A97B-534C-8DBA202B0D05}"/>
              </a:ext>
            </a:extLst>
          </p:cNvPr>
          <p:cNvSpPr txBox="1">
            <a:spLocks noChangeArrowheads="1"/>
          </p:cNvSpPr>
          <p:nvPr/>
        </p:nvSpPr>
        <p:spPr bwMode="auto">
          <a:xfrm>
            <a:off x="6717352" y="4462470"/>
            <a:ext cx="2696066" cy="369332"/>
          </a:xfrm>
          <a:prstGeom prst="rect">
            <a:avLst/>
          </a:prstGeom>
          <a:noFill/>
          <a:ln w="15875">
            <a:noFill/>
            <a:miter lim="800000"/>
            <a:headEnd/>
            <a:tailEnd/>
          </a:ln>
        </p:spPr>
        <p:txBody>
          <a:bodyPr>
            <a:spAutoFit/>
          </a:bodyPr>
          <a:lstStyle/>
          <a:p>
            <a:pPr algn="ctr" defTabSz="914400">
              <a:defRPr/>
            </a:pPr>
            <a:r>
              <a:rPr lang="en-US" b="1" kern="0" dirty="0">
                <a:solidFill>
                  <a:prstClr val="black"/>
                </a:solidFill>
                <a:latin typeface="Arial"/>
              </a:rPr>
              <a:t>Max. Pop. Connectivity</a:t>
            </a:r>
          </a:p>
        </p:txBody>
      </p:sp>
      <p:cxnSp>
        <p:nvCxnSpPr>
          <p:cNvPr id="11" name="Straight Connector 10">
            <a:extLst>
              <a:ext uri="{FF2B5EF4-FFF2-40B4-BE49-F238E27FC236}">
                <a16:creationId xmlns:a16="http://schemas.microsoft.com/office/drawing/2014/main" id="{9757ABAD-2072-09BD-C4E6-3C37866D999A}"/>
              </a:ext>
            </a:extLst>
          </p:cNvPr>
          <p:cNvCxnSpPr>
            <a:cxnSpLocks noChangeShapeType="1"/>
          </p:cNvCxnSpPr>
          <p:nvPr/>
        </p:nvCxnSpPr>
        <p:spPr bwMode="auto">
          <a:xfrm>
            <a:off x="5165072" y="3968968"/>
            <a:ext cx="1552280" cy="493502"/>
          </a:xfrm>
          <a:prstGeom prst="line">
            <a:avLst/>
          </a:prstGeom>
          <a:noFill/>
          <a:ln w="28575" algn="ctr">
            <a:solidFill>
              <a:sysClr val="windowText" lastClr="000000"/>
            </a:solidFill>
            <a:round/>
            <a:headEnd type="arrow" w="med" len="med"/>
            <a:tailEnd/>
          </a:ln>
        </p:spPr>
      </p:cxnSp>
      <p:cxnSp>
        <p:nvCxnSpPr>
          <p:cNvPr id="13" name="Straight Connector 55">
            <a:extLst>
              <a:ext uri="{FF2B5EF4-FFF2-40B4-BE49-F238E27FC236}">
                <a16:creationId xmlns:a16="http://schemas.microsoft.com/office/drawing/2014/main" id="{DA558777-4BA4-28B8-7582-459EFF13AB6F}"/>
              </a:ext>
            </a:extLst>
          </p:cNvPr>
          <p:cNvCxnSpPr>
            <a:cxnSpLocks noChangeShapeType="1"/>
          </p:cNvCxnSpPr>
          <p:nvPr/>
        </p:nvCxnSpPr>
        <p:spPr bwMode="auto">
          <a:xfrm rot="16200000" flipH="1">
            <a:off x="3068895" y="3458667"/>
            <a:ext cx="352502" cy="245097"/>
          </a:xfrm>
          <a:prstGeom prst="line">
            <a:avLst/>
          </a:prstGeom>
          <a:noFill/>
          <a:ln w="28575" algn="ctr">
            <a:solidFill>
              <a:sysClr val="windowText" lastClr="000000"/>
            </a:solidFill>
            <a:round/>
            <a:headEnd type="arrow" w="med" len="med"/>
            <a:tailEnd/>
          </a:ln>
        </p:spPr>
      </p:cxnSp>
      <p:cxnSp>
        <p:nvCxnSpPr>
          <p:cNvPr id="14" name="Straight Connector 13">
            <a:extLst>
              <a:ext uri="{FF2B5EF4-FFF2-40B4-BE49-F238E27FC236}">
                <a16:creationId xmlns:a16="http://schemas.microsoft.com/office/drawing/2014/main" id="{ED269F4C-6507-4301-1D5C-439CB91FB3C8}"/>
              </a:ext>
            </a:extLst>
          </p:cNvPr>
          <p:cNvCxnSpPr>
            <a:cxnSpLocks noChangeShapeType="1"/>
          </p:cNvCxnSpPr>
          <p:nvPr/>
        </p:nvCxnSpPr>
        <p:spPr bwMode="auto">
          <a:xfrm rot="5400000">
            <a:off x="1776855" y="3933717"/>
            <a:ext cx="1057505" cy="0"/>
          </a:xfrm>
          <a:prstGeom prst="line">
            <a:avLst/>
          </a:prstGeom>
          <a:noFill/>
          <a:ln w="28575" algn="ctr">
            <a:solidFill>
              <a:sysClr val="windowText" lastClr="000000"/>
            </a:solidFill>
            <a:round/>
            <a:headEnd type="arrow" w="med" len="med"/>
            <a:tailEnd/>
          </a:ln>
        </p:spPr>
      </p:cxnSp>
      <p:cxnSp>
        <p:nvCxnSpPr>
          <p:cNvPr id="15" name="Straight Connector 14">
            <a:extLst>
              <a:ext uri="{FF2B5EF4-FFF2-40B4-BE49-F238E27FC236}">
                <a16:creationId xmlns:a16="http://schemas.microsoft.com/office/drawing/2014/main" id="{CEADCD8B-5B8B-061A-BEA5-182F642A90DA}"/>
              </a:ext>
            </a:extLst>
          </p:cNvPr>
          <p:cNvCxnSpPr>
            <a:cxnSpLocks noChangeShapeType="1"/>
            <a:stCxn id="9" idx="1"/>
            <a:endCxn id="4" idx="3"/>
          </p:cNvCxnSpPr>
          <p:nvPr/>
        </p:nvCxnSpPr>
        <p:spPr bwMode="auto">
          <a:xfrm flipH="1">
            <a:off x="6431406" y="4647135"/>
            <a:ext cx="285946" cy="0"/>
          </a:xfrm>
          <a:prstGeom prst="line">
            <a:avLst/>
          </a:prstGeom>
          <a:noFill/>
          <a:ln w="28575" algn="ctr">
            <a:solidFill>
              <a:sysClr val="windowText" lastClr="000000"/>
            </a:solidFill>
            <a:round/>
            <a:headEnd type="arrow" w="med" len="med"/>
            <a:tailEnd/>
          </a:ln>
        </p:spPr>
      </p:cxnSp>
      <p:cxnSp>
        <p:nvCxnSpPr>
          <p:cNvPr id="16" name="Straight Connector 15">
            <a:extLst>
              <a:ext uri="{FF2B5EF4-FFF2-40B4-BE49-F238E27FC236}">
                <a16:creationId xmlns:a16="http://schemas.microsoft.com/office/drawing/2014/main" id="{0FFCBD2B-4F90-3E95-3957-15DAFB186427}"/>
              </a:ext>
            </a:extLst>
          </p:cNvPr>
          <p:cNvCxnSpPr>
            <a:cxnSpLocks noChangeShapeType="1"/>
            <a:stCxn id="17" idx="2"/>
            <a:endCxn id="9" idx="0"/>
          </p:cNvCxnSpPr>
          <p:nvPr/>
        </p:nvCxnSpPr>
        <p:spPr bwMode="auto">
          <a:xfrm>
            <a:off x="7820288" y="4096750"/>
            <a:ext cx="245097" cy="365720"/>
          </a:xfrm>
          <a:prstGeom prst="line">
            <a:avLst/>
          </a:prstGeom>
          <a:noFill/>
          <a:ln w="28575" algn="ctr">
            <a:solidFill>
              <a:sysClr val="windowText" lastClr="000000"/>
            </a:solidFill>
            <a:round/>
            <a:headEnd type="arrow" w="med" len="med"/>
            <a:tailEnd/>
          </a:ln>
        </p:spPr>
      </p:cxnSp>
      <p:sp>
        <p:nvSpPr>
          <p:cNvPr id="17" name="TextBox 16">
            <a:extLst>
              <a:ext uri="{FF2B5EF4-FFF2-40B4-BE49-F238E27FC236}">
                <a16:creationId xmlns:a16="http://schemas.microsoft.com/office/drawing/2014/main" id="{925405F8-55D2-606E-1921-8532F7EB380B}"/>
              </a:ext>
            </a:extLst>
          </p:cNvPr>
          <p:cNvSpPr txBox="1">
            <a:spLocks noChangeArrowheads="1"/>
          </p:cNvSpPr>
          <p:nvPr/>
        </p:nvSpPr>
        <p:spPr bwMode="auto">
          <a:xfrm>
            <a:off x="6390556" y="3757467"/>
            <a:ext cx="2859464" cy="339283"/>
          </a:xfrm>
          <a:prstGeom prst="rect">
            <a:avLst/>
          </a:prstGeom>
          <a:noFill/>
          <a:ln w="15875">
            <a:noFill/>
            <a:miter lim="800000"/>
            <a:headEnd/>
            <a:tailEnd/>
          </a:ln>
        </p:spPr>
        <p:txBody>
          <a:bodyPr>
            <a:spAutoFit/>
          </a:bodyPr>
          <a:lstStyle/>
          <a:p>
            <a:pPr algn="ctr" defTabSz="914400">
              <a:defRPr/>
            </a:pPr>
            <a:r>
              <a:rPr lang="en-US" b="1" kern="0" dirty="0">
                <a:solidFill>
                  <a:prstClr val="black"/>
                </a:solidFill>
                <a:latin typeface="Arial"/>
              </a:rPr>
              <a:t>Minimize Allele Losses</a:t>
            </a:r>
          </a:p>
        </p:txBody>
      </p:sp>
      <p:sp>
        <p:nvSpPr>
          <p:cNvPr id="18" name="TextBox 119">
            <a:extLst>
              <a:ext uri="{FF2B5EF4-FFF2-40B4-BE49-F238E27FC236}">
                <a16:creationId xmlns:a16="http://schemas.microsoft.com/office/drawing/2014/main" id="{9FF2FF6A-4681-A032-E78F-747D97591CC4}"/>
              </a:ext>
            </a:extLst>
          </p:cNvPr>
          <p:cNvSpPr txBox="1">
            <a:spLocks noChangeArrowheads="1"/>
          </p:cNvSpPr>
          <p:nvPr/>
        </p:nvSpPr>
        <p:spPr bwMode="auto">
          <a:xfrm>
            <a:off x="1978812" y="3757467"/>
            <a:ext cx="3839852" cy="339283"/>
          </a:xfrm>
          <a:prstGeom prst="rect">
            <a:avLst/>
          </a:prstGeom>
          <a:noFill/>
          <a:ln w="15875">
            <a:noFill/>
            <a:miter lim="800000"/>
            <a:headEnd/>
            <a:tailEnd/>
          </a:ln>
        </p:spPr>
        <p:txBody>
          <a:bodyPr>
            <a:spAutoFit/>
          </a:bodyPr>
          <a:lstStyle/>
          <a:p>
            <a:pPr algn="ctr" defTabSz="914400">
              <a:defRPr/>
            </a:pPr>
            <a:r>
              <a:rPr lang="en-US" b="1" kern="0" dirty="0">
                <a:solidFill>
                  <a:prstClr val="black"/>
                </a:solidFill>
                <a:latin typeface="Arial"/>
              </a:rPr>
              <a:t>Maximize Locations</a:t>
            </a:r>
          </a:p>
        </p:txBody>
      </p:sp>
      <p:cxnSp>
        <p:nvCxnSpPr>
          <p:cNvPr id="19" name="Straight Connector 18">
            <a:extLst>
              <a:ext uri="{FF2B5EF4-FFF2-40B4-BE49-F238E27FC236}">
                <a16:creationId xmlns:a16="http://schemas.microsoft.com/office/drawing/2014/main" id="{3F19990D-7D67-034F-DE2A-5D8406BF5D5E}"/>
              </a:ext>
            </a:extLst>
          </p:cNvPr>
          <p:cNvCxnSpPr>
            <a:cxnSpLocks noChangeShapeType="1"/>
          </p:cNvCxnSpPr>
          <p:nvPr/>
        </p:nvCxnSpPr>
        <p:spPr bwMode="auto">
          <a:xfrm rot="5400000">
            <a:off x="4786638" y="3419884"/>
            <a:ext cx="389220" cy="285946"/>
          </a:xfrm>
          <a:prstGeom prst="line">
            <a:avLst/>
          </a:prstGeom>
          <a:noFill/>
          <a:ln w="28575" algn="ctr">
            <a:solidFill>
              <a:sysClr val="windowText" lastClr="000000"/>
            </a:solidFill>
            <a:round/>
            <a:headEnd type="arrow" w="med" len="med"/>
            <a:tailEnd/>
          </a:ln>
        </p:spPr>
      </p:cxnSp>
      <p:cxnSp>
        <p:nvCxnSpPr>
          <p:cNvPr id="20" name="Straight Connector 19">
            <a:extLst>
              <a:ext uri="{FF2B5EF4-FFF2-40B4-BE49-F238E27FC236}">
                <a16:creationId xmlns:a16="http://schemas.microsoft.com/office/drawing/2014/main" id="{11EB8B4A-60E2-4755-0A4A-B2DAB9A59D2B}"/>
              </a:ext>
            </a:extLst>
          </p:cNvPr>
          <p:cNvCxnSpPr>
            <a:cxnSpLocks noChangeShapeType="1"/>
          </p:cNvCxnSpPr>
          <p:nvPr/>
        </p:nvCxnSpPr>
        <p:spPr bwMode="auto">
          <a:xfrm>
            <a:off x="3612791" y="3334464"/>
            <a:ext cx="2859464" cy="423002"/>
          </a:xfrm>
          <a:prstGeom prst="line">
            <a:avLst/>
          </a:prstGeom>
          <a:noFill/>
          <a:ln w="28575" algn="ctr">
            <a:solidFill>
              <a:sysClr val="windowText" lastClr="000000"/>
            </a:solidFill>
            <a:round/>
            <a:headEnd type="arrow" w="med" len="med"/>
            <a:tailEnd/>
          </a:ln>
        </p:spPr>
      </p:cxnSp>
      <p:cxnSp>
        <p:nvCxnSpPr>
          <p:cNvPr id="21" name="Straight Connector 20">
            <a:extLst>
              <a:ext uri="{FF2B5EF4-FFF2-40B4-BE49-F238E27FC236}">
                <a16:creationId xmlns:a16="http://schemas.microsoft.com/office/drawing/2014/main" id="{605DD8A5-FF99-F876-BB0D-5ADAA8D36129}"/>
              </a:ext>
            </a:extLst>
          </p:cNvPr>
          <p:cNvCxnSpPr>
            <a:cxnSpLocks noChangeShapeType="1"/>
            <a:endCxn id="17" idx="0"/>
          </p:cNvCxnSpPr>
          <p:nvPr/>
        </p:nvCxnSpPr>
        <p:spPr bwMode="auto">
          <a:xfrm rot="16200000" flipH="1">
            <a:off x="7523554" y="3460733"/>
            <a:ext cx="389220" cy="204247"/>
          </a:xfrm>
          <a:prstGeom prst="line">
            <a:avLst/>
          </a:prstGeom>
          <a:noFill/>
          <a:ln w="28575" algn="ctr">
            <a:solidFill>
              <a:sysClr val="windowText" lastClr="000000"/>
            </a:solidFill>
            <a:round/>
            <a:headEnd type="arrow" w="med" len="med"/>
            <a:tailEnd/>
          </a:ln>
        </p:spPr>
      </p:cxnSp>
      <p:cxnSp>
        <p:nvCxnSpPr>
          <p:cNvPr id="22" name="Straight Connector 20">
            <a:extLst>
              <a:ext uri="{FF2B5EF4-FFF2-40B4-BE49-F238E27FC236}">
                <a16:creationId xmlns:a16="http://schemas.microsoft.com/office/drawing/2014/main" id="{7F5B49ED-B840-64D6-4FFE-924DD9BDD2CB}"/>
              </a:ext>
            </a:extLst>
          </p:cNvPr>
          <p:cNvCxnSpPr>
            <a:cxnSpLocks noChangeShapeType="1"/>
          </p:cNvCxnSpPr>
          <p:nvPr/>
        </p:nvCxnSpPr>
        <p:spPr bwMode="auto">
          <a:xfrm rot="16200000" flipH="1">
            <a:off x="2935148" y="2241709"/>
            <a:ext cx="211501" cy="0"/>
          </a:xfrm>
          <a:prstGeom prst="line">
            <a:avLst/>
          </a:prstGeom>
          <a:noFill/>
          <a:ln w="31750" algn="ctr">
            <a:solidFill>
              <a:sysClr val="windowText" lastClr="000000"/>
            </a:solidFill>
            <a:round/>
            <a:headEnd/>
            <a:tailEnd/>
          </a:ln>
        </p:spPr>
      </p:cxnSp>
      <p:grpSp>
        <p:nvGrpSpPr>
          <p:cNvPr id="23" name="Group 32">
            <a:extLst>
              <a:ext uri="{FF2B5EF4-FFF2-40B4-BE49-F238E27FC236}">
                <a16:creationId xmlns:a16="http://schemas.microsoft.com/office/drawing/2014/main" id="{ABEF15FE-CD97-F5C9-40FD-F03A3410C1D0}"/>
              </a:ext>
            </a:extLst>
          </p:cNvPr>
          <p:cNvGrpSpPr>
            <a:grpSpLocks/>
          </p:cNvGrpSpPr>
          <p:nvPr/>
        </p:nvGrpSpPr>
        <p:grpSpPr bwMode="auto">
          <a:xfrm>
            <a:off x="2060511" y="1571956"/>
            <a:ext cx="7026111" cy="1699352"/>
            <a:chOff x="672" y="1536"/>
            <a:chExt cx="4128" cy="1157"/>
          </a:xfrm>
        </p:grpSpPr>
        <p:sp>
          <p:nvSpPr>
            <p:cNvPr id="24" name="TextBox 3">
              <a:extLst>
                <a:ext uri="{FF2B5EF4-FFF2-40B4-BE49-F238E27FC236}">
                  <a16:creationId xmlns:a16="http://schemas.microsoft.com/office/drawing/2014/main" id="{92811A2E-6FAC-65B9-4304-A897F810E783}"/>
                </a:ext>
              </a:extLst>
            </p:cNvPr>
            <p:cNvSpPr txBox="1">
              <a:spLocks noChangeArrowheads="1"/>
            </p:cNvSpPr>
            <p:nvPr/>
          </p:nvSpPr>
          <p:spPr bwMode="auto">
            <a:xfrm>
              <a:off x="1248" y="1536"/>
              <a:ext cx="2880" cy="272"/>
            </a:xfrm>
            <a:prstGeom prst="rect">
              <a:avLst/>
            </a:prstGeom>
            <a:solidFill>
              <a:srgbClr val="00B050">
                <a:alpha val="79999"/>
              </a:srgbClr>
            </a:solidFill>
            <a:ln w="25400">
              <a:solidFill>
                <a:sysClr val="windowText" lastClr="000000"/>
              </a:solidFill>
              <a:miter lim="800000"/>
              <a:headEnd/>
              <a:tailEnd/>
            </a:ln>
          </p:spPr>
          <p:txBody>
            <a:bodyPr>
              <a:spAutoFit/>
            </a:bodyPr>
            <a:lstStyle/>
            <a:p>
              <a:pPr algn="ctr" defTabSz="914400">
                <a:defRPr/>
              </a:pPr>
              <a:r>
                <a:rPr lang="en-US" sz="2000" b="1" kern="0" dirty="0">
                  <a:solidFill>
                    <a:prstClr val="white"/>
                  </a:solidFill>
                  <a:latin typeface="Rockwell" pitchFamily="18" charset="0"/>
                </a:rPr>
                <a:t>Maximize Species Persistence</a:t>
              </a:r>
            </a:p>
          </p:txBody>
        </p:sp>
        <p:sp>
          <p:nvSpPr>
            <p:cNvPr id="25" name="TextBox 4">
              <a:extLst>
                <a:ext uri="{FF2B5EF4-FFF2-40B4-BE49-F238E27FC236}">
                  <a16:creationId xmlns:a16="http://schemas.microsoft.com/office/drawing/2014/main" id="{51CDC478-17AE-9D1D-C32E-3929B2C82076}"/>
                </a:ext>
              </a:extLst>
            </p:cNvPr>
            <p:cNvSpPr txBox="1">
              <a:spLocks noChangeArrowheads="1"/>
            </p:cNvSpPr>
            <p:nvPr/>
          </p:nvSpPr>
          <p:spPr bwMode="auto">
            <a:xfrm>
              <a:off x="672" y="2064"/>
              <a:ext cx="1152" cy="629"/>
            </a:xfrm>
            <a:prstGeom prst="rect">
              <a:avLst/>
            </a:prstGeom>
            <a:solidFill>
              <a:schemeClr val="accent5">
                <a:lumMod val="60000"/>
                <a:lumOff val="40000"/>
              </a:schemeClr>
            </a:solidFill>
            <a:ln w="15875">
              <a:solidFill>
                <a:sysClr val="windowText" lastClr="000000"/>
              </a:solidFill>
              <a:miter lim="800000"/>
              <a:headEnd/>
              <a:tailEnd/>
            </a:ln>
          </p:spPr>
          <p:txBody>
            <a:bodyPr>
              <a:spAutoFit/>
            </a:bodyPr>
            <a:lstStyle/>
            <a:p>
              <a:pPr algn="ctr" defTabSz="914400">
                <a:defRPr/>
              </a:pPr>
              <a:r>
                <a:rPr lang="en-US" b="1" kern="0" dirty="0">
                  <a:solidFill>
                    <a:prstClr val="black"/>
                  </a:solidFill>
                  <a:latin typeface="Rockwell" pitchFamily="18" charset="0"/>
                </a:rPr>
                <a:t>Maximize</a:t>
              </a:r>
            </a:p>
            <a:p>
              <a:pPr algn="ctr" defTabSz="914400">
                <a:defRPr/>
              </a:pPr>
              <a:r>
                <a:rPr lang="en-US" b="1" kern="0" dirty="0">
                  <a:solidFill>
                    <a:prstClr val="black"/>
                  </a:solidFill>
                  <a:latin typeface="Rockwell" pitchFamily="18" charset="0"/>
                </a:rPr>
                <a:t>Species Abundance</a:t>
              </a:r>
            </a:p>
          </p:txBody>
        </p:sp>
        <p:sp>
          <p:nvSpPr>
            <p:cNvPr id="26" name="TextBox 5">
              <a:extLst>
                <a:ext uri="{FF2B5EF4-FFF2-40B4-BE49-F238E27FC236}">
                  <a16:creationId xmlns:a16="http://schemas.microsoft.com/office/drawing/2014/main" id="{F9002F98-3082-B39A-C132-65657372AD8E}"/>
                </a:ext>
              </a:extLst>
            </p:cNvPr>
            <p:cNvSpPr txBox="1">
              <a:spLocks noChangeArrowheads="1"/>
            </p:cNvSpPr>
            <p:nvPr/>
          </p:nvSpPr>
          <p:spPr bwMode="auto">
            <a:xfrm>
              <a:off x="2112" y="2064"/>
              <a:ext cx="1152" cy="629"/>
            </a:xfrm>
            <a:prstGeom prst="rect">
              <a:avLst/>
            </a:prstGeom>
            <a:solidFill>
              <a:schemeClr val="accent5">
                <a:lumMod val="60000"/>
                <a:lumOff val="40000"/>
              </a:schemeClr>
            </a:solidFill>
            <a:ln w="15875">
              <a:solidFill>
                <a:sysClr val="windowText" lastClr="000000"/>
              </a:solidFill>
              <a:miter lim="800000"/>
              <a:headEnd/>
              <a:tailEnd/>
            </a:ln>
          </p:spPr>
          <p:txBody>
            <a:bodyPr>
              <a:spAutoFit/>
            </a:bodyPr>
            <a:lstStyle/>
            <a:p>
              <a:pPr algn="ctr" defTabSz="914400">
                <a:defRPr/>
              </a:pPr>
              <a:r>
                <a:rPr lang="en-US" b="1" kern="0" dirty="0">
                  <a:solidFill>
                    <a:prstClr val="black"/>
                  </a:solidFill>
                  <a:latin typeface="Rockwell" pitchFamily="18" charset="0"/>
                </a:rPr>
                <a:t>Maximize Species Distribution</a:t>
              </a:r>
            </a:p>
          </p:txBody>
        </p:sp>
        <p:sp>
          <p:nvSpPr>
            <p:cNvPr id="27" name="TextBox 8">
              <a:extLst>
                <a:ext uri="{FF2B5EF4-FFF2-40B4-BE49-F238E27FC236}">
                  <a16:creationId xmlns:a16="http://schemas.microsoft.com/office/drawing/2014/main" id="{F378FB5C-9810-ADBB-E8BC-228A24B84A75}"/>
                </a:ext>
              </a:extLst>
            </p:cNvPr>
            <p:cNvSpPr txBox="1">
              <a:spLocks noChangeArrowheads="1"/>
            </p:cNvSpPr>
            <p:nvPr/>
          </p:nvSpPr>
          <p:spPr bwMode="auto">
            <a:xfrm>
              <a:off x="3552" y="2064"/>
              <a:ext cx="1248" cy="629"/>
            </a:xfrm>
            <a:prstGeom prst="rect">
              <a:avLst/>
            </a:prstGeom>
            <a:solidFill>
              <a:schemeClr val="accent5">
                <a:lumMod val="60000"/>
                <a:lumOff val="40000"/>
              </a:schemeClr>
            </a:solidFill>
            <a:ln w="15875">
              <a:solidFill>
                <a:sysClr val="windowText" lastClr="000000"/>
              </a:solidFill>
              <a:miter lim="800000"/>
              <a:headEnd/>
              <a:tailEnd/>
            </a:ln>
          </p:spPr>
          <p:txBody>
            <a:bodyPr>
              <a:spAutoFit/>
            </a:bodyPr>
            <a:lstStyle/>
            <a:p>
              <a:pPr algn="ctr" defTabSz="914400">
                <a:defRPr/>
              </a:pPr>
              <a:r>
                <a:rPr lang="en-US" b="1" kern="0" dirty="0">
                  <a:solidFill>
                    <a:prstClr val="black"/>
                  </a:solidFill>
                  <a:latin typeface="Rockwell" pitchFamily="18" charset="0"/>
                </a:rPr>
                <a:t>Maximize </a:t>
              </a:r>
            </a:p>
            <a:p>
              <a:pPr algn="ctr" defTabSz="914400">
                <a:defRPr/>
              </a:pPr>
              <a:r>
                <a:rPr lang="en-US" b="1" kern="0" dirty="0">
                  <a:solidFill>
                    <a:prstClr val="black"/>
                  </a:solidFill>
                  <a:latin typeface="Rockwell" pitchFamily="18" charset="0"/>
                </a:rPr>
                <a:t>Genetic Diversity</a:t>
              </a:r>
            </a:p>
          </p:txBody>
        </p:sp>
        <p:cxnSp>
          <p:nvCxnSpPr>
            <p:cNvPr id="28" name="Straight Connector 19">
              <a:extLst>
                <a:ext uri="{FF2B5EF4-FFF2-40B4-BE49-F238E27FC236}">
                  <a16:creationId xmlns:a16="http://schemas.microsoft.com/office/drawing/2014/main" id="{C89297DE-ED33-7C25-8B32-BE84D27873FB}"/>
                </a:ext>
              </a:extLst>
            </p:cNvPr>
            <p:cNvCxnSpPr>
              <a:cxnSpLocks noChangeShapeType="1"/>
              <a:stCxn id="24" idx="2"/>
              <a:endCxn id="26" idx="0"/>
            </p:cNvCxnSpPr>
            <p:nvPr/>
          </p:nvCxnSpPr>
          <p:spPr bwMode="auto">
            <a:xfrm>
              <a:off x="2688" y="1808"/>
              <a:ext cx="0" cy="256"/>
            </a:xfrm>
            <a:prstGeom prst="line">
              <a:avLst/>
            </a:prstGeom>
            <a:noFill/>
            <a:ln w="31750" algn="ctr">
              <a:solidFill>
                <a:sysClr val="windowText" lastClr="000000"/>
              </a:solidFill>
              <a:round/>
              <a:headEnd/>
              <a:tailEnd/>
            </a:ln>
          </p:spPr>
        </p:cxnSp>
        <p:cxnSp>
          <p:nvCxnSpPr>
            <p:cNvPr id="29" name="Straight Connector 21">
              <a:extLst>
                <a:ext uri="{FF2B5EF4-FFF2-40B4-BE49-F238E27FC236}">
                  <a16:creationId xmlns:a16="http://schemas.microsoft.com/office/drawing/2014/main" id="{2C6AE960-3D07-2AD2-F0BF-4D5B25BE5A7C}"/>
                </a:ext>
              </a:extLst>
            </p:cNvPr>
            <p:cNvCxnSpPr>
              <a:cxnSpLocks noChangeShapeType="1"/>
            </p:cNvCxnSpPr>
            <p:nvPr/>
          </p:nvCxnSpPr>
          <p:spPr bwMode="auto">
            <a:xfrm rot="10800000">
              <a:off x="1248" y="1920"/>
              <a:ext cx="2880" cy="1"/>
            </a:xfrm>
            <a:prstGeom prst="line">
              <a:avLst/>
            </a:prstGeom>
            <a:noFill/>
            <a:ln w="31750" algn="ctr">
              <a:solidFill>
                <a:sysClr val="windowText" lastClr="000000"/>
              </a:solidFill>
              <a:round/>
              <a:headEnd/>
              <a:tailEnd/>
            </a:ln>
          </p:spPr>
        </p:cxnSp>
      </p:grpSp>
      <p:cxnSp>
        <p:nvCxnSpPr>
          <p:cNvPr id="30" name="Straight Connector 22">
            <a:extLst>
              <a:ext uri="{FF2B5EF4-FFF2-40B4-BE49-F238E27FC236}">
                <a16:creationId xmlns:a16="http://schemas.microsoft.com/office/drawing/2014/main" id="{24ADD376-A910-3EB6-21C5-FAA36EC8781B}"/>
              </a:ext>
            </a:extLst>
          </p:cNvPr>
          <p:cNvCxnSpPr>
            <a:cxnSpLocks noChangeShapeType="1"/>
          </p:cNvCxnSpPr>
          <p:nvPr/>
        </p:nvCxnSpPr>
        <p:spPr bwMode="auto">
          <a:xfrm rot="16200000" flipH="1">
            <a:off x="7837086" y="2241709"/>
            <a:ext cx="211501" cy="0"/>
          </a:xfrm>
          <a:prstGeom prst="line">
            <a:avLst/>
          </a:prstGeom>
          <a:noFill/>
          <a:ln w="31750" algn="ctr">
            <a:solidFill>
              <a:sysClr val="windowText" lastClr="000000"/>
            </a:solidFill>
            <a:round/>
            <a:headEnd/>
            <a:tailEnd/>
          </a:ln>
        </p:spPr>
      </p:cxnSp>
      <p:sp>
        <p:nvSpPr>
          <p:cNvPr id="31" name="TextBox 30">
            <a:extLst>
              <a:ext uri="{FF2B5EF4-FFF2-40B4-BE49-F238E27FC236}">
                <a16:creationId xmlns:a16="http://schemas.microsoft.com/office/drawing/2014/main" id="{14D620CF-D23D-D985-6A3E-94344F0F2DBB}"/>
              </a:ext>
            </a:extLst>
          </p:cNvPr>
          <p:cNvSpPr txBox="1"/>
          <p:nvPr/>
        </p:nvSpPr>
        <p:spPr>
          <a:xfrm>
            <a:off x="8427390" y="1493206"/>
            <a:ext cx="2313432" cy="523220"/>
          </a:xfrm>
          <a:prstGeom prst="rect">
            <a:avLst/>
          </a:prstGeom>
          <a:noFill/>
        </p:spPr>
        <p:txBody>
          <a:bodyPr wrap="square" rtlCol="0">
            <a:spAutoFit/>
          </a:bodyPr>
          <a:lstStyle/>
          <a:p>
            <a:r>
              <a:rPr lang="en-US" sz="2800" i="1" dirty="0"/>
              <a:t>Fundamental</a:t>
            </a:r>
          </a:p>
        </p:txBody>
      </p:sp>
      <p:sp>
        <p:nvSpPr>
          <p:cNvPr id="32" name="TextBox 31">
            <a:extLst>
              <a:ext uri="{FF2B5EF4-FFF2-40B4-BE49-F238E27FC236}">
                <a16:creationId xmlns:a16="http://schemas.microsoft.com/office/drawing/2014/main" id="{B7CF2D24-E6D8-3D7B-2758-E1D6329D3B6D}"/>
              </a:ext>
            </a:extLst>
          </p:cNvPr>
          <p:cNvSpPr txBox="1"/>
          <p:nvPr/>
        </p:nvSpPr>
        <p:spPr>
          <a:xfrm>
            <a:off x="9226830" y="2496035"/>
            <a:ext cx="2313432" cy="523220"/>
          </a:xfrm>
          <a:prstGeom prst="rect">
            <a:avLst/>
          </a:prstGeom>
          <a:noFill/>
        </p:spPr>
        <p:txBody>
          <a:bodyPr wrap="square" rtlCol="0">
            <a:spAutoFit/>
          </a:bodyPr>
          <a:lstStyle/>
          <a:p>
            <a:r>
              <a:rPr lang="en-US" sz="2800" i="1" dirty="0"/>
              <a:t>Means</a:t>
            </a:r>
          </a:p>
        </p:txBody>
      </p:sp>
      <p:sp>
        <p:nvSpPr>
          <p:cNvPr id="33" name="TextBox 32">
            <a:extLst>
              <a:ext uri="{FF2B5EF4-FFF2-40B4-BE49-F238E27FC236}">
                <a16:creationId xmlns:a16="http://schemas.microsoft.com/office/drawing/2014/main" id="{BB9B3C12-60E8-30FE-5F21-300CC1222D95}"/>
              </a:ext>
            </a:extLst>
          </p:cNvPr>
          <p:cNvSpPr txBox="1"/>
          <p:nvPr/>
        </p:nvSpPr>
        <p:spPr>
          <a:xfrm>
            <a:off x="9617664" y="3590001"/>
            <a:ext cx="2313432" cy="523220"/>
          </a:xfrm>
          <a:prstGeom prst="rect">
            <a:avLst/>
          </a:prstGeom>
          <a:noFill/>
        </p:spPr>
        <p:txBody>
          <a:bodyPr wrap="square" rtlCol="0">
            <a:spAutoFit/>
          </a:bodyPr>
          <a:lstStyle/>
          <a:p>
            <a:r>
              <a:rPr lang="en-US" sz="2800" i="1" dirty="0"/>
              <a:t>Sub-means</a:t>
            </a:r>
          </a:p>
        </p:txBody>
      </p:sp>
      <p:sp>
        <p:nvSpPr>
          <p:cNvPr id="36" name="Title 1">
            <a:extLst>
              <a:ext uri="{FF2B5EF4-FFF2-40B4-BE49-F238E27FC236}">
                <a16:creationId xmlns:a16="http://schemas.microsoft.com/office/drawing/2014/main" id="{1025E34F-AB6E-DB9A-079E-74CAE3F9474F}"/>
              </a:ext>
            </a:extLst>
          </p:cNvPr>
          <p:cNvSpPr>
            <a:spLocks noGrp="1"/>
          </p:cNvSpPr>
          <p:nvPr>
            <p:ph type="title"/>
          </p:nvPr>
        </p:nvSpPr>
        <p:spPr>
          <a:xfrm>
            <a:off x="683412" y="136065"/>
            <a:ext cx="10515600" cy="1325563"/>
          </a:xfrm>
        </p:spPr>
        <p:txBody>
          <a:bodyPr/>
          <a:lstStyle/>
          <a:p>
            <a:r>
              <a:rPr lang="en-US" dirty="0"/>
              <a:t>3b. Create an objective hierarchy</a:t>
            </a:r>
          </a:p>
        </p:txBody>
      </p:sp>
      <p:sp>
        <p:nvSpPr>
          <p:cNvPr id="2" name="TextBox 1">
            <a:extLst>
              <a:ext uri="{FF2B5EF4-FFF2-40B4-BE49-F238E27FC236}">
                <a16:creationId xmlns:a16="http://schemas.microsoft.com/office/drawing/2014/main" id="{168B5773-E4C4-536D-EFE9-BD71D7E12797}"/>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Tree>
    <p:extLst>
      <p:ext uri="{BB962C8B-B14F-4D97-AF65-F5344CB8AC3E}">
        <p14:creationId xmlns:p14="http://schemas.microsoft.com/office/powerpoint/2010/main" val="2662060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9" grpId="0"/>
      <p:bldP spid="17" grpId="0"/>
      <p:bldP spid="18" grpId="0"/>
      <p:bldP spid="33"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B1C31-1EAA-8461-C14F-C06ED24AAAE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4C6ECC5-0623-3028-8F06-CBCC4390E81E}"/>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pic>
        <p:nvPicPr>
          <p:cNvPr id="3" name="Picture 2">
            <a:extLst>
              <a:ext uri="{FF2B5EF4-FFF2-40B4-BE49-F238E27FC236}">
                <a16:creationId xmlns:a16="http://schemas.microsoft.com/office/drawing/2014/main" id="{FBFFE66D-B37C-45FA-0603-883A194C7502}"/>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1065028" y="1382903"/>
            <a:ext cx="8153400" cy="4959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
        <p:nvSpPr>
          <p:cNvPr id="5" name="TextBox 2">
            <a:extLst>
              <a:ext uri="{FF2B5EF4-FFF2-40B4-BE49-F238E27FC236}">
                <a16:creationId xmlns:a16="http://schemas.microsoft.com/office/drawing/2014/main" id="{F52C98FE-A9FF-307B-AD46-398F952E52AA}"/>
              </a:ext>
            </a:extLst>
          </p:cNvPr>
          <p:cNvSpPr txBox="1">
            <a:spLocks noChangeArrowheads="1"/>
          </p:cNvSpPr>
          <p:nvPr/>
        </p:nvSpPr>
        <p:spPr bwMode="auto">
          <a:xfrm>
            <a:off x="9218428" y="2197893"/>
            <a:ext cx="2571307" cy="2462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dirty="0" err="1">
                <a:solidFill>
                  <a:schemeClr val="tx1"/>
                </a:solidFill>
              </a:rPr>
              <a:t>Blomquist</a:t>
            </a:r>
            <a:r>
              <a:rPr lang="en-US" altLang="en-US" sz="1400" dirty="0">
                <a:solidFill>
                  <a:schemeClr val="tx1"/>
                </a:solidFill>
              </a:rPr>
              <a:t>, S. M., Johnson, T. D., Smith, D. R., Call, G. P., Miller, B. N., Thurman, W. M., ... &amp; Boomer, G. S. (2010). Structured decision-making and rapid prototyping to plan a management response to an invasive species. </a:t>
            </a:r>
            <a:r>
              <a:rPr lang="en-US" altLang="en-US" sz="1400" i="1" dirty="0">
                <a:solidFill>
                  <a:schemeClr val="tx1"/>
                </a:solidFill>
              </a:rPr>
              <a:t>Journal of Fish and Wildlife Management</a:t>
            </a:r>
            <a:r>
              <a:rPr lang="en-US" altLang="en-US" sz="1400" dirty="0">
                <a:solidFill>
                  <a:schemeClr val="tx1"/>
                </a:solidFill>
              </a:rPr>
              <a:t>, </a:t>
            </a:r>
            <a:r>
              <a:rPr lang="en-US" altLang="en-US" sz="1400" i="1" dirty="0">
                <a:solidFill>
                  <a:schemeClr val="tx1"/>
                </a:solidFill>
              </a:rPr>
              <a:t>1</a:t>
            </a:r>
            <a:r>
              <a:rPr lang="en-US" altLang="en-US" sz="1400" dirty="0">
                <a:solidFill>
                  <a:schemeClr val="tx1"/>
                </a:solidFill>
              </a:rPr>
              <a:t>(1), 19-32.</a:t>
            </a:r>
          </a:p>
          <a:p>
            <a:endParaRPr lang="en-US" altLang="en-US" sz="1400" dirty="0">
              <a:solidFill>
                <a:schemeClr val="tx1"/>
              </a:solidFill>
            </a:endParaRPr>
          </a:p>
        </p:txBody>
      </p:sp>
      <p:sp>
        <p:nvSpPr>
          <p:cNvPr id="6" name="TextBox 5">
            <a:extLst>
              <a:ext uri="{FF2B5EF4-FFF2-40B4-BE49-F238E27FC236}">
                <a16:creationId xmlns:a16="http://schemas.microsoft.com/office/drawing/2014/main" id="{D55CE791-4EA6-6071-AB36-517BB38F1E53}"/>
              </a:ext>
            </a:extLst>
          </p:cNvPr>
          <p:cNvSpPr txBox="1"/>
          <p:nvPr/>
        </p:nvSpPr>
        <p:spPr>
          <a:xfrm>
            <a:off x="1903228" y="5351653"/>
            <a:ext cx="6324600" cy="830997"/>
          </a:xfrm>
          <a:prstGeom prst="rect">
            <a:avLst/>
          </a:prstGeom>
          <a:solidFill>
            <a:schemeClr val="bg1"/>
          </a:solidFill>
          <a:ln>
            <a:solidFill>
              <a:schemeClr val="accent1"/>
            </a:solidFill>
          </a:ln>
        </p:spPr>
        <p:txBody>
          <a:bodyPr wrap="square" rtlCol="0">
            <a:spAutoFit/>
          </a:bodyPr>
          <a:lstStyle/>
          <a:p>
            <a:pPr algn="ctr"/>
            <a:r>
              <a:rPr lang="en-US" sz="4800" dirty="0">
                <a:solidFill>
                  <a:srgbClr val="FF0000"/>
                </a:solidFill>
              </a:rPr>
              <a:t>DIAGRAM FORMAT</a:t>
            </a:r>
          </a:p>
        </p:txBody>
      </p:sp>
      <p:sp>
        <p:nvSpPr>
          <p:cNvPr id="34" name="Title 1">
            <a:extLst>
              <a:ext uri="{FF2B5EF4-FFF2-40B4-BE49-F238E27FC236}">
                <a16:creationId xmlns:a16="http://schemas.microsoft.com/office/drawing/2014/main" id="{08FA047D-4897-B7CB-AC39-86B3296BD091}"/>
              </a:ext>
            </a:extLst>
          </p:cNvPr>
          <p:cNvSpPr>
            <a:spLocks noGrp="1"/>
          </p:cNvSpPr>
          <p:nvPr>
            <p:ph type="title"/>
          </p:nvPr>
        </p:nvSpPr>
        <p:spPr>
          <a:xfrm>
            <a:off x="683412" y="136065"/>
            <a:ext cx="10515600" cy="1325563"/>
          </a:xfrm>
        </p:spPr>
        <p:txBody>
          <a:bodyPr/>
          <a:lstStyle/>
          <a:p>
            <a:r>
              <a:rPr lang="en-US" dirty="0"/>
              <a:t>3b. Create an objective hierarchy</a:t>
            </a:r>
          </a:p>
        </p:txBody>
      </p:sp>
    </p:spTree>
    <p:extLst>
      <p:ext uri="{BB962C8B-B14F-4D97-AF65-F5344CB8AC3E}">
        <p14:creationId xmlns:p14="http://schemas.microsoft.com/office/powerpoint/2010/main" val="30540947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F7DF3-4DE7-8744-C044-797CAC6610F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5B406E1-7750-EF27-1BDA-8F51AA19C355}"/>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pic>
        <p:nvPicPr>
          <p:cNvPr id="4" name="Picture 2">
            <a:extLst>
              <a:ext uri="{FF2B5EF4-FFF2-40B4-BE49-F238E27FC236}">
                <a16:creationId xmlns:a16="http://schemas.microsoft.com/office/drawing/2014/main" id="{724C0D88-62C8-E230-D488-A95DA59FA84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4561" r="33088"/>
          <a:stretch/>
        </p:blipFill>
        <p:spPr bwMode="auto">
          <a:xfrm>
            <a:off x="889876" y="1094601"/>
            <a:ext cx="7649998"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Lst>
        </p:spPr>
      </p:pic>
      <p:sp>
        <p:nvSpPr>
          <p:cNvPr id="7" name="TextBox 2">
            <a:extLst>
              <a:ext uri="{FF2B5EF4-FFF2-40B4-BE49-F238E27FC236}">
                <a16:creationId xmlns:a16="http://schemas.microsoft.com/office/drawing/2014/main" id="{75F55C06-DF17-F625-A0CB-88B19E8A0DDE}"/>
              </a:ext>
            </a:extLst>
          </p:cNvPr>
          <p:cNvSpPr txBox="1">
            <a:spLocks noChangeArrowheads="1"/>
          </p:cNvSpPr>
          <p:nvPr/>
        </p:nvSpPr>
        <p:spPr bwMode="auto">
          <a:xfrm>
            <a:off x="9250325" y="2651854"/>
            <a:ext cx="2339163"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dirty="0">
                <a:solidFill>
                  <a:schemeClr val="tx1"/>
                </a:solidFill>
              </a:rPr>
              <a:t>Gregory, R., &amp; Long, G. (2009). Using structured decision making to help implement a precautionary approach to endangered species management. </a:t>
            </a:r>
            <a:r>
              <a:rPr lang="en-US" altLang="en-US" sz="1400" i="1" dirty="0">
                <a:solidFill>
                  <a:schemeClr val="tx1"/>
                </a:solidFill>
              </a:rPr>
              <a:t>Risk Analysis</a:t>
            </a:r>
            <a:r>
              <a:rPr lang="en-US" altLang="en-US" sz="1400" dirty="0">
                <a:solidFill>
                  <a:schemeClr val="tx1"/>
                </a:solidFill>
              </a:rPr>
              <a:t>, </a:t>
            </a:r>
            <a:r>
              <a:rPr lang="en-US" altLang="en-US" sz="1400" i="1" dirty="0">
                <a:solidFill>
                  <a:schemeClr val="tx1"/>
                </a:solidFill>
              </a:rPr>
              <a:t>29</a:t>
            </a:r>
            <a:r>
              <a:rPr lang="en-US" altLang="en-US" sz="1400" dirty="0">
                <a:solidFill>
                  <a:schemeClr val="tx1"/>
                </a:solidFill>
              </a:rPr>
              <a:t>(4), 518-532.</a:t>
            </a:r>
          </a:p>
          <a:p>
            <a:endParaRPr lang="en-US" altLang="en-US" sz="1400" dirty="0">
              <a:solidFill>
                <a:schemeClr val="tx1"/>
              </a:solidFill>
            </a:endParaRPr>
          </a:p>
        </p:txBody>
      </p:sp>
      <p:sp>
        <p:nvSpPr>
          <p:cNvPr id="8" name="TextBox 7">
            <a:extLst>
              <a:ext uri="{FF2B5EF4-FFF2-40B4-BE49-F238E27FC236}">
                <a16:creationId xmlns:a16="http://schemas.microsoft.com/office/drawing/2014/main" id="{FBADFB4D-5E02-6643-4A8B-5D4373251578}"/>
              </a:ext>
            </a:extLst>
          </p:cNvPr>
          <p:cNvSpPr txBox="1"/>
          <p:nvPr/>
        </p:nvSpPr>
        <p:spPr>
          <a:xfrm>
            <a:off x="1714500" y="5750004"/>
            <a:ext cx="6000750" cy="830997"/>
          </a:xfrm>
          <a:prstGeom prst="rect">
            <a:avLst/>
          </a:prstGeom>
          <a:solidFill>
            <a:schemeClr val="bg1"/>
          </a:solidFill>
          <a:ln>
            <a:solidFill>
              <a:schemeClr val="accent1"/>
            </a:solidFill>
          </a:ln>
        </p:spPr>
        <p:txBody>
          <a:bodyPr wrap="square" rtlCol="0">
            <a:spAutoFit/>
          </a:bodyPr>
          <a:lstStyle/>
          <a:p>
            <a:pPr algn="ctr"/>
            <a:r>
              <a:rPr lang="en-US" sz="4800" dirty="0">
                <a:solidFill>
                  <a:srgbClr val="FF0000"/>
                </a:solidFill>
              </a:rPr>
              <a:t>TABLE FORMAT</a:t>
            </a:r>
          </a:p>
        </p:txBody>
      </p:sp>
      <p:sp>
        <p:nvSpPr>
          <p:cNvPr id="11" name="Title 1">
            <a:extLst>
              <a:ext uri="{FF2B5EF4-FFF2-40B4-BE49-F238E27FC236}">
                <a16:creationId xmlns:a16="http://schemas.microsoft.com/office/drawing/2014/main" id="{23CC4A5B-0066-D89B-FA74-E6FD485BC80B}"/>
              </a:ext>
            </a:extLst>
          </p:cNvPr>
          <p:cNvSpPr>
            <a:spLocks noGrp="1"/>
          </p:cNvSpPr>
          <p:nvPr>
            <p:ph type="title"/>
          </p:nvPr>
        </p:nvSpPr>
        <p:spPr>
          <a:xfrm>
            <a:off x="683412" y="136065"/>
            <a:ext cx="10515600" cy="1325563"/>
          </a:xfrm>
        </p:spPr>
        <p:txBody>
          <a:bodyPr/>
          <a:lstStyle/>
          <a:p>
            <a:r>
              <a:rPr lang="en-US" dirty="0"/>
              <a:t>3b. Create an objective hierarchy</a:t>
            </a:r>
          </a:p>
        </p:txBody>
      </p:sp>
    </p:spTree>
    <p:extLst>
      <p:ext uri="{BB962C8B-B14F-4D97-AF65-F5344CB8AC3E}">
        <p14:creationId xmlns:p14="http://schemas.microsoft.com/office/powerpoint/2010/main" val="38550345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64BB9-1A9F-3FC8-0338-175B3309101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B0C5403-FA1C-0A2E-8A38-DF277A30325E}"/>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11" name="Title 1">
            <a:extLst>
              <a:ext uri="{FF2B5EF4-FFF2-40B4-BE49-F238E27FC236}">
                <a16:creationId xmlns:a16="http://schemas.microsoft.com/office/drawing/2014/main" id="{AD5C5CEE-599C-35EE-FFC8-66412FEB0254}"/>
              </a:ext>
            </a:extLst>
          </p:cNvPr>
          <p:cNvSpPr>
            <a:spLocks noGrp="1"/>
          </p:cNvSpPr>
          <p:nvPr>
            <p:ph type="title"/>
          </p:nvPr>
        </p:nvSpPr>
        <p:spPr>
          <a:xfrm>
            <a:off x="683412" y="136065"/>
            <a:ext cx="10515600" cy="1325563"/>
          </a:xfrm>
        </p:spPr>
        <p:txBody>
          <a:bodyPr/>
          <a:lstStyle/>
          <a:p>
            <a:r>
              <a:rPr lang="en-US" dirty="0"/>
              <a:t>3b. Create an objective hierarchy</a:t>
            </a:r>
          </a:p>
        </p:txBody>
      </p:sp>
      <p:sp>
        <p:nvSpPr>
          <p:cNvPr id="3" name="Content Placeholder 2">
            <a:extLst>
              <a:ext uri="{FF2B5EF4-FFF2-40B4-BE49-F238E27FC236}">
                <a16:creationId xmlns:a16="http://schemas.microsoft.com/office/drawing/2014/main" id="{C563D6C1-145D-1199-8F13-091F6C5A9E2F}"/>
              </a:ext>
            </a:extLst>
          </p:cNvPr>
          <p:cNvSpPr>
            <a:spLocks noGrp="1"/>
          </p:cNvSpPr>
          <p:nvPr>
            <p:ph idx="1"/>
          </p:nvPr>
        </p:nvSpPr>
        <p:spPr>
          <a:xfrm>
            <a:off x="838200" y="2055038"/>
            <a:ext cx="10515600" cy="4525963"/>
          </a:xfrm>
        </p:spPr>
        <p:txBody>
          <a:bodyPr>
            <a:normAutofit/>
          </a:bodyPr>
          <a:lstStyle/>
          <a:p>
            <a:pPr eaLnBrk="1" hangingPunct="1"/>
            <a:r>
              <a:rPr lang="en-US" sz="2400" b="1" dirty="0">
                <a:solidFill>
                  <a:schemeClr val="tx1"/>
                </a:solidFill>
                <a:ea typeface="MS PGothic" charset="0"/>
              </a:rPr>
              <a:t>Complete</a:t>
            </a:r>
          </a:p>
          <a:p>
            <a:pPr lvl="1" eaLnBrk="1" hangingPunct="1"/>
            <a:r>
              <a:rPr lang="en-US" dirty="0">
                <a:solidFill>
                  <a:srgbClr val="002060"/>
                </a:solidFill>
                <a:ea typeface="MS PGothic" charset="0"/>
              </a:rPr>
              <a:t>Don’t leave out any areas of concern (objectives)</a:t>
            </a:r>
          </a:p>
          <a:p>
            <a:pPr eaLnBrk="1" hangingPunct="1"/>
            <a:r>
              <a:rPr lang="en-US" sz="2400" b="1" dirty="0">
                <a:solidFill>
                  <a:schemeClr val="tx1"/>
                </a:solidFill>
                <a:ea typeface="MS PGothic" charset="0"/>
              </a:rPr>
              <a:t>Non-redundant</a:t>
            </a:r>
          </a:p>
          <a:p>
            <a:pPr lvl="1" eaLnBrk="1" hangingPunct="1"/>
            <a:r>
              <a:rPr lang="en-US" dirty="0">
                <a:solidFill>
                  <a:srgbClr val="002060"/>
                </a:solidFill>
                <a:ea typeface="MS PGothic" charset="0"/>
              </a:rPr>
              <a:t>Redundant objectives can lead to “double-counting”</a:t>
            </a:r>
          </a:p>
          <a:p>
            <a:pPr eaLnBrk="1" hangingPunct="1"/>
            <a:r>
              <a:rPr lang="en-US" sz="2400" b="1" dirty="0">
                <a:solidFill>
                  <a:schemeClr val="tx1"/>
                </a:solidFill>
                <a:ea typeface="MS PGothic" charset="0"/>
              </a:rPr>
              <a:t>Concise</a:t>
            </a:r>
          </a:p>
          <a:p>
            <a:pPr lvl="1" eaLnBrk="1" hangingPunct="1"/>
            <a:r>
              <a:rPr lang="en-US" dirty="0">
                <a:solidFill>
                  <a:srgbClr val="002060"/>
                </a:solidFill>
                <a:ea typeface="MS PGothic" charset="0"/>
              </a:rPr>
              <a:t>Focus on the core issues</a:t>
            </a:r>
          </a:p>
          <a:p>
            <a:pPr eaLnBrk="1" hangingPunct="1"/>
            <a:r>
              <a:rPr lang="en-US" sz="2400" b="1" dirty="0">
                <a:solidFill>
                  <a:schemeClr val="tx1"/>
                </a:solidFill>
                <a:ea typeface="MS PGothic" charset="0"/>
              </a:rPr>
              <a:t>Specific </a:t>
            </a:r>
          </a:p>
          <a:p>
            <a:pPr lvl="1" eaLnBrk="1" hangingPunct="1"/>
            <a:r>
              <a:rPr lang="en-US" dirty="0">
                <a:solidFill>
                  <a:srgbClr val="002060"/>
                </a:solidFill>
                <a:ea typeface="MS PGothic" charset="0"/>
              </a:rPr>
              <a:t>Consequences are clear; measurable attributes can be readily identified</a:t>
            </a:r>
          </a:p>
          <a:p>
            <a:pPr eaLnBrk="1" hangingPunct="1"/>
            <a:r>
              <a:rPr lang="en-US" sz="2400" b="1" dirty="0">
                <a:solidFill>
                  <a:schemeClr val="tx1"/>
                </a:solidFill>
                <a:ea typeface="MS PGothic" charset="0"/>
              </a:rPr>
              <a:t>Understandable </a:t>
            </a:r>
          </a:p>
          <a:p>
            <a:pPr lvl="1" eaLnBrk="1" hangingPunct="1"/>
            <a:r>
              <a:rPr lang="en-US" dirty="0">
                <a:solidFill>
                  <a:srgbClr val="002060"/>
                </a:solidFill>
                <a:ea typeface="MS PGothic" charset="0"/>
              </a:rPr>
              <a:t>Avoid vague and ambiguous terms</a:t>
            </a:r>
          </a:p>
        </p:txBody>
      </p:sp>
      <p:sp>
        <p:nvSpPr>
          <p:cNvPr id="5" name="Title 1">
            <a:extLst>
              <a:ext uri="{FF2B5EF4-FFF2-40B4-BE49-F238E27FC236}">
                <a16:creationId xmlns:a16="http://schemas.microsoft.com/office/drawing/2014/main" id="{5DB36E9B-21D0-B2B8-4E4E-C8272F4AF95B}"/>
              </a:ext>
            </a:extLst>
          </p:cNvPr>
          <p:cNvSpPr txBox="1">
            <a:spLocks/>
          </p:cNvSpPr>
          <p:nvPr/>
        </p:nvSpPr>
        <p:spPr>
          <a:xfrm>
            <a:off x="838200" y="1422587"/>
            <a:ext cx="11684000" cy="632451"/>
          </a:xfrm>
          <a:prstGeom prst="rect">
            <a:avLst/>
          </a:prstGeom>
        </p:spPr>
        <p:txBody>
          <a:bodyPr vert="horz" wrap="square" lIns="91440" tIns="45720" rIns="91440" bIns="45720" numCol="1" rtlCol="0" anchor="ctr" anchorCtr="0" compatLnSpc="1">
            <a:prstTxWarp prst="textNoShape">
              <a:avLst/>
            </a:prstTxWarp>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sz="2800" b="1" u="sng" dirty="0">
                <a:effectLst>
                  <a:outerShdw blurRad="38100" dist="38100" dir="2700000" algn="tl">
                    <a:srgbClr val="DDDDDD"/>
                  </a:outerShdw>
                </a:effectLst>
                <a:latin typeface="+mn-lt"/>
                <a:ea typeface="MS PGothic" charset="0"/>
              </a:rPr>
              <a:t>Desired properties of an objectives hierarchy</a:t>
            </a:r>
          </a:p>
        </p:txBody>
      </p:sp>
    </p:spTree>
    <p:extLst>
      <p:ext uri="{BB962C8B-B14F-4D97-AF65-F5344CB8AC3E}">
        <p14:creationId xmlns:p14="http://schemas.microsoft.com/office/powerpoint/2010/main" val="11281081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9E531-0F62-77A8-BF5C-4BE626DC5784}"/>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C7102E47-7C99-2BFA-2E9E-4286049CD2EA}"/>
              </a:ext>
            </a:extLst>
          </p:cNvPr>
          <p:cNvSpPr/>
          <p:nvPr/>
        </p:nvSpPr>
        <p:spPr>
          <a:xfrm>
            <a:off x="770719" y="1011382"/>
            <a:ext cx="10855317" cy="584775"/>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800" b="1" dirty="0">
                <a:solidFill>
                  <a:schemeClr val="tx1"/>
                </a:solidFill>
              </a:rPr>
              <a:t>Fundamental objectives</a:t>
            </a:r>
          </a:p>
        </p:txBody>
      </p:sp>
      <p:sp>
        <p:nvSpPr>
          <p:cNvPr id="13" name="Rectangle 12">
            <a:extLst>
              <a:ext uri="{FF2B5EF4-FFF2-40B4-BE49-F238E27FC236}">
                <a16:creationId xmlns:a16="http://schemas.microsoft.com/office/drawing/2014/main" id="{270228F6-BA10-8721-F271-AAAAD515CAFE}"/>
              </a:ext>
            </a:extLst>
          </p:cNvPr>
          <p:cNvSpPr/>
          <p:nvPr/>
        </p:nvSpPr>
        <p:spPr>
          <a:xfrm>
            <a:off x="770719" y="1772992"/>
            <a:ext cx="2443536"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16" name="Rectangle 15">
            <a:extLst>
              <a:ext uri="{FF2B5EF4-FFF2-40B4-BE49-F238E27FC236}">
                <a16:creationId xmlns:a16="http://schemas.microsoft.com/office/drawing/2014/main" id="{AA2BA147-1B06-7C35-47CB-D5458DD52FA3}"/>
              </a:ext>
            </a:extLst>
          </p:cNvPr>
          <p:cNvSpPr/>
          <p:nvPr/>
        </p:nvSpPr>
        <p:spPr>
          <a:xfrm>
            <a:off x="3444646" y="1772991"/>
            <a:ext cx="2443536"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17" name="Rectangle 16">
            <a:extLst>
              <a:ext uri="{FF2B5EF4-FFF2-40B4-BE49-F238E27FC236}">
                <a16:creationId xmlns:a16="http://schemas.microsoft.com/office/drawing/2014/main" id="{23CDBDCF-7FB6-6E8E-7D0F-B12F92E6F68D}"/>
              </a:ext>
            </a:extLst>
          </p:cNvPr>
          <p:cNvSpPr/>
          <p:nvPr/>
        </p:nvSpPr>
        <p:spPr>
          <a:xfrm>
            <a:off x="6118573" y="1772991"/>
            <a:ext cx="2443536" cy="1108753"/>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18" name="Rectangle 17">
            <a:extLst>
              <a:ext uri="{FF2B5EF4-FFF2-40B4-BE49-F238E27FC236}">
                <a16:creationId xmlns:a16="http://schemas.microsoft.com/office/drawing/2014/main" id="{1DE45ED9-74A6-D7B1-007B-DF07E3D4C791}"/>
              </a:ext>
            </a:extLst>
          </p:cNvPr>
          <p:cNvSpPr/>
          <p:nvPr/>
        </p:nvSpPr>
        <p:spPr>
          <a:xfrm>
            <a:off x="8792500" y="1772990"/>
            <a:ext cx="2443536" cy="1108753"/>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19" name="Rectangle 18">
            <a:extLst>
              <a:ext uri="{FF2B5EF4-FFF2-40B4-BE49-F238E27FC236}">
                <a16:creationId xmlns:a16="http://schemas.microsoft.com/office/drawing/2014/main" id="{392575A0-DFB1-912A-C8E2-BD0CA585FA9C}"/>
              </a:ext>
            </a:extLst>
          </p:cNvPr>
          <p:cNvSpPr/>
          <p:nvPr/>
        </p:nvSpPr>
        <p:spPr>
          <a:xfrm rot="16200000">
            <a:off x="-286305" y="3728254"/>
            <a:ext cx="1702315" cy="951165"/>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800" b="1" dirty="0">
                <a:solidFill>
                  <a:schemeClr val="tx1"/>
                </a:solidFill>
              </a:rPr>
              <a:t>Means objectives</a:t>
            </a:r>
          </a:p>
        </p:txBody>
      </p:sp>
      <p:sp>
        <p:nvSpPr>
          <p:cNvPr id="20" name="Rectangle 19">
            <a:extLst>
              <a:ext uri="{FF2B5EF4-FFF2-40B4-BE49-F238E27FC236}">
                <a16:creationId xmlns:a16="http://schemas.microsoft.com/office/drawing/2014/main" id="{0080E2E4-76CC-D47A-6051-0CAB75C92B30}"/>
              </a:ext>
            </a:extLst>
          </p:cNvPr>
          <p:cNvSpPr/>
          <p:nvPr/>
        </p:nvSpPr>
        <p:spPr>
          <a:xfrm>
            <a:off x="1359537" y="3642435"/>
            <a:ext cx="1265899"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21" name="Rectangle 20">
            <a:extLst>
              <a:ext uri="{FF2B5EF4-FFF2-40B4-BE49-F238E27FC236}">
                <a16:creationId xmlns:a16="http://schemas.microsoft.com/office/drawing/2014/main" id="{DE86BAF8-484D-0E7D-B793-AD3FF56AE44F}"/>
              </a:ext>
            </a:extLst>
          </p:cNvPr>
          <p:cNvSpPr/>
          <p:nvPr/>
        </p:nvSpPr>
        <p:spPr>
          <a:xfrm>
            <a:off x="2836460" y="3642435"/>
            <a:ext cx="1265899"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22" name="Rectangle 21">
            <a:extLst>
              <a:ext uri="{FF2B5EF4-FFF2-40B4-BE49-F238E27FC236}">
                <a16:creationId xmlns:a16="http://schemas.microsoft.com/office/drawing/2014/main" id="{A2F6F174-2546-A60C-8D0F-E5BA6DCD968D}"/>
              </a:ext>
            </a:extLst>
          </p:cNvPr>
          <p:cNvSpPr/>
          <p:nvPr/>
        </p:nvSpPr>
        <p:spPr>
          <a:xfrm>
            <a:off x="4313383" y="3642435"/>
            <a:ext cx="1265899"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24" name="Rectangle 23">
            <a:extLst>
              <a:ext uri="{FF2B5EF4-FFF2-40B4-BE49-F238E27FC236}">
                <a16:creationId xmlns:a16="http://schemas.microsoft.com/office/drawing/2014/main" id="{D94A15B4-B5AE-97D9-7BCD-56B22D826B3A}"/>
              </a:ext>
            </a:extLst>
          </p:cNvPr>
          <p:cNvSpPr/>
          <p:nvPr/>
        </p:nvSpPr>
        <p:spPr>
          <a:xfrm>
            <a:off x="5790306" y="3642435"/>
            <a:ext cx="1265899"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25" name="Rectangle 24">
            <a:extLst>
              <a:ext uri="{FF2B5EF4-FFF2-40B4-BE49-F238E27FC236}">
                <a16:creationId xmlns:a16="http://schemas.microsoft.com/office/drawing/2014/main" id="{76555C4A-98DE-AFD2-1E67-FC32C39BFE8E}"/>
              </a:ext>
            </a:extLst>
          </p:cNvPr>
          <p:cNvSpPr/>
          <p:nvPr/>
        </p:nvSpPr>
        <p:spPr>
          <a:xfrm>
            <a:off x="7261337" y="3642434"/>
            <a:ext cx="1265899"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26" name="Rectangle 25">
            <a:extLst>
              <a:ext uri="{FF2B5EF4-FFF2-40B4-BE49-F238E27FC236}">
                <a16:creationId xmlns:a16="http://schemas.microsoft.com/office/drawing/2014/main" id="{FD36E2E0-22F5-B4B4-36CD-E0892A994E91}"/>
              </a:ext>
            </a:extLst>
          </p:cNvPr>
          <p:cNvSpPr/>
          <p:nvPr/>
        </p:nvSpPr>
        <p:spPr>
          <a:xfrm>
            <a:off x="8732368" y="3656482"/>
            <a:ext cx="1265899"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27" name="Rectangle 26">
            <a:extLst>
              <a:ext uri="{FF2B5EF4-FFF2-40B4-BE49-F238E27FC236}">
                <a16:creationId xmlns:a16="http://schemas.microsoft.com/office/drawing/2014/main" id="{725C58C6-DED7-68EF-C09A-066D26CB3089}"/>
              </a:ext>
            </a:extLst>
          </p:cNvPr>
          <p:cNvSpPr/>
          <p:nvPr/>
        </p:nvSpPr>
        <p:spPr>
          <a:xfrm>
            <a:off x="10203399" y="3656482"/>
            <a:ext cx="1265899" cy="1108753"/>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28" name="Rectangle 27">
            <a:extLst>
              <a:ext uri="{FF2B5EF4-FFF2-40B4-BE49-F238E27FC236}">
                <a16:creationId xmlns:a16="http://schemas.microsoft.com/office/drawing/2014/main" id="{C4F16676-2EE7-C1F8-5009-7FEC53BC2181}"/>
              </a:ext>
            </a:extLst>
          </p:cNvPr>
          <p:cNvSpPr/>
          <p:nvPr/>
        </p:nvSpPr>
        <p:spPr>
          <a:xfrm>
            <a:off x="770719" y="1011381"/>
            <a:ext cx="10855317" cy="584775"/>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800" b="1" dirty="0">
                <a:solidFill>
                  <a:schemeClr val="tx1"/>
                </a:solidFill>
              </a:rPr>
              <a:t>Fundamental objectives</a:t>
            </a:r>
          </a:p>
        </p:txBody>
      </p:sp>
      <p:sp>
        <p:nvSpPr>
          <p:cNvPr id="29" name="Rectangle 28">
            <a:extLst>
              <a:ext uri="{FF2B5EF4-FFF2-40B4-BE49-F238E27FC236}">
                <a16:creationId xmlns:a16="http://schemas.microsoft.com/office/drawing/2014/main" id="{761B5880-BC7F-BB91-D599-850FBF5D5DEF}"/>
              </a:ext>
            </a:extLst>
          </p:cNvPr>
          <p:cNvSpPr/>
          <p:nvPr/>
        </p:nvSpPr>
        <p:spPr>
          <a:xfrm>
            <a:off x="770719" y="1772991"/>
            <a:ext cx="2443536" cy="1108753"/>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30" name="Rectangle 29">
            <a:extLst>
              <a:ext uri="{FF2B5EF4-FFF2-40B4-BE49-F238E27FC236}">
                <a16:creationId xmlns:a16="http://schemas.microsoft.com/office/drawing/2014/main" id="{CD86E551-6328-05C8-0B45-7917C4E861EA}"/>
              </a:ext>
            </a:extLst>
          </p:cNvPr>
          <p:cNvSpPr/>
          <p:nvPr/>
        </p:nvSpPr>
        <p:spPr>
          <a:xfrm>
            <a:off x="3444646" y="1772990"/>
            <a:ext cx="2443536" cy="1108753"/>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800" dirty="0">
              <a:solidFill>
                <a:schemeClr val="tx1"/>
              </a:solidFill>
            </a:endParaRPr>
          </a:p>
        </p:txBody>
      </p:sp>
      <p:sp>
        <p:nvSpPr>
          <p:cNvPr id="31" name="Rectangle 30">
            <a:extLst>
              <a:ext uri="{FF2B5EF4-FFF2-40B4-BE49-F238E27FC236}">
                <a16:creationId xmlns:a16="http://schemas.microsoft.com/office/drawing/2014/main" id="{098811F6-A284-2B0E-2191-1595D046A730}"/>
              </a:ext>
            </a:extLst>
          </p:cNvPr>
          <p:cNvSpPr/>
          <p:nvPr/>
        </p:nvSpPr>
        <p:spPr>
          <a:xfrm>
            <a:off x="1040435" y="5137473"/>
            <a:ext cx="3848357" cy="1488142"/>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800" b="1" dirty="0">
                <a:solidFill>
                  <a:schemeClr val="tx1"/>
                </a:solidFill>
              </a:rPr>
              <a:t>Process objectives</a:t>
            </a:r>
          </a:p>
          <a:p>
            <a:pPr algn="ctr"/>
            <a:r>
              <a:rPr lang="en-US" sz="2400" dirty="0">
                <a:solidFill>
                  <a:schemeClr val="tx1"/>
                </a:solidFill>
              </a:rPr>
              <a:t>- Be respectful of tribal values and rituals</a:t>
            </a:r>
          </a:p>
        </p:txBody>
      </p:sp>
      <p:sp>
        <p:nvSpPr>
          <p:cNvPr id="32" name="Rectangle 31">
            <a:extLst>
              <a:ext uri="{FF2B5EF4-FFF2-40B4-BE49-F238E27FC236}">
                <a16:creationId xmlns:a16="http://schemas.microsoft.com/office/drawing/2014/main" id="{FE7A0B8A-BEC3-885B-2114-F75E44488B97}"/>
              </a:ext>
            </a:extLst>
          </p:cNvPr>
          <p:cNvSpPr/>
          <p:nvPr/>
        </p:nvSpPr>
        <p:spPr>
          <a:xfrm>
            <a:off x="5007331" y="5054994"/>
            <a:ext cx="3848357" cy="1653100"/>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800" b="1" dirty="0">
                <a:solidFill>
                  <a:schemeClr val="tx1"/>
                </a:solidFill>
              </a:rPr>
              <a:t>Strategic objectives</a:t>
            </a:r>
          </a:p>
          <a:p>
            <a:r>
              <a:rPr lang="en-US" b="1" dirty="0">
                <a:solidFill>
                  <a:schemeClr val="tx1"/>
                </a:solidFill>
              </a:rPr>
              <a:t>-</a:t>
            </a:r>
            <a:r>
              <a:rPr lang="en-US" dirty="0">
                <a:solidFill>
                  <a:schemeClr val="tx1"/>
                </a:solidFill>
              </a:rPr>
              <a:t>Operate within the authority, capabilities, and legal responsibility of the Bureau of Reclamation</a:t>
            </a:r>
          </a:p>
          <a:p>
            <a:r>
              <a:rPr lang="en-US" dirty="0">
                <a:solidFill>
                  <a:schemeClr val="tx1"/>
                </a:solidFill>
              </a:rPr>
              <a:t>- Follow ESA compliances</a:t>
            </a:r>
          </a:p>
        </p:txBody>
      </p:sp>
      <p:cxnSp>
        <p:nvCxnSpPr>
          <p:cNvPr id="34" name="Straight Arrow Connector 33">
            <a:extLst>
              <a:ext uri="{FF2B5EF4-FFF2-40B4-BE49-F238E27FC236}">
                <a16:creationId xmlns:a16="http://schemas.microsoft.com/office/drawing/2014/main" id="{37BD9231-9A53-6900-90B2-AF65C9ABB850}"/>
              </a:ext>
            </a:extLst>
          </p:cNvPr>
          <p:cNvCxnSpPr>
            <a:cxnSpLocks/>
            <a:stCxn id="20" idx="0"/>
            <a:endCxn id="29" idx="2"/>
          </p:cNvCxnSpPr>
          <p:nvPr/>
        </p:nvCxnSpPr>
        <p:spPr>
          <a:xfrm flipV="1">
            <a:off x="1992487" y="2881744"/>
            <a:ext cx="0" cy="76069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DCC1D305-1410-35F6-81C1-38969E12D2E9}"/>
              </a:ext>
            </a:extLst>
          </p:cNvPr>
          <p:cNvCxnSpPr>
            <a:cxnSpLocks/>
            <a:stCxn id="21" idx="0"/>
            <a:endCxn id="30" idx="2"/>
          </p:cNvCxnSpPr>
          <p:nvPr/>
        </p:nvCxnSpPr>
        <p:spPr>
          <a:xfrm flipV="1">
            <a:off x="3469410" y="2881743"/>
            <a:ext cx="1197004" cy="7606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635F797-60AC-1512-6377-933CB3215594}"/>
              </a:ext>
            </a:extLst>
          </p:cNvPr>
          <p:cNvCxnSpPr>
            <a:cxnSpLocks/>
            <a:stCxn id="22" idx="0"/>
            <a:endCxn id="30" idx="2"/>
          </p:cNvCxnSpPr>
          <p:nvPr/>
        </p:nvCxnSpPr>
        <p:spPr>
          <a:xfrm flipH="1" flipV="1">
            <a:off x="4666414" y="2881743"/>
            <a:ext cx="279919" cy="7606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AF690FA-D427-C513-B22D-B80D8912576E}"/>
              </a:ext>
            </a:extLst>
          </p:cNvPr>
          <p:cNvCxnSpPr>
            <a:cxnSpLocks/>
            <a:stCxn id="24" idx="0"/>
            <a:endCxn id="17" idx="2"/>
          </p:cNvCxnSpPr>
          <p:nvPr/>
        </p:nvCxnSpPr>
        <p:spPr>
          <a:xfrm flipV="1">
            <a:off x="6423256" y="2881744"/>
            <a:ext cx="917085" cy="76069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E591AA93-5E38-19CA-FF68-FFCA8CBA5ADB}"/>
              </a:ext>
            </a:extLst>
          </p:cNvPr>
          <p:cNvCxnSpPr>
            <a:cxnSpLocks/>
            <a:stCxn id="25" idx="0"/>
            <a:endCxn id="17" idx="2"/>
          </p:cNvCxnSpPr>
          <p:nvPr/>
        </p:nvCxnSpPr>
        <p:spPr>
          <a:xfrm flipH="1" flipV="1">
            <a:off x="7340341" y="2881744"/>
            <a:ext cx="553946" cy="76069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7901D4-E26B-9844-8963-942C02BAE6C4}"/>
              </a:ext>
            </a:extLst>
          </p:cNvPr>
          <p:cNvCxnSpPr>
            <a:cxnSpLocks/>
            <a:stCxn id="26" idx="0"/>
            <a:endCxn id="18" idx="2"/>
          </p:cNvCxnSpPr>
          <p:nvPr/>
        </p:nvCxnSpPr>
        <p:spPr>
          <a:xfrm flipV="1">
            <a:off x="9365318" y="2881743"/>
            <a:ext cx="648950" cy="774739"/>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90C9E848-913F-ECA1-B3D4-D07AD8409545}"/>
              </a:ext>
            </a:extLst>
          </p:cNvPr>
          <p:cNvCxnSpPr>
            <a:cxnSpLocks/>
            <a:stCxn id="27" idx="0"/>
            <a:endCxn id="18" idx="2"/>
          </p:cNvCxnSpPr>
          <p:nvPr/>
        </p:nvCxnSpPr>
        <p:spPr>
          <a:xfrm flipH="1" flipV="1">
            <a:off x="10014268" y="2881743"/>
            <a:ext cx="822081" cy="774739"/>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E495DE1C-7962-4FD6-38E7-3B46855DB45E}"/>
              </a:ext>
            </a:extLst>
          </p:cNvPr>
          <p:cNvSpPr txBox="1"/>
          <p:nvPr/>
        </p:nvSpPr>
        <p:spPr>
          <a:xfrm>
            <a:off x="743009" y="1888082"/>
            <a:ext cx="2751919" cy="923330"/>
          </a:xfrm>
          <a:prstGeom prst="rect">
            <a:avLst/>
          </a:prstGeom>
          <a:noFill/>
        </p:spPr>
        <p:txBody>
          <a:bodyPr wrap="square" rtlCol="0">
            <a:spAutoFit/>
          </a:bodyPr>
          <a:lstStyle/>
          <a:p>
            <a:r>
              <a:rPr lang="en-US" dirty="0"/>
              <a:t>Maximize resources to protect tribal sacred sites and spiritual values</a:t>
            </a:r>
          </a:p>
        </p:txBody>
      </p:sp>
      <p:sp>
        <p:nvSpPr>
          <p:cNvPr id="4" name="TextBox 3">
            <a:extLst>
              <a:ext uri="{FF2B5EF4-FFF2-40B4-BE49-F238E27FC236}">
                <a16:creationId xmlns:a16="http://schemas.microsoft.com/office/drawing/2014/main" id="{CC695EEF-AD86-6C10-76D6-01EB561BB0C8}"/>
              </a:ext>
            </a:extLst>
          </p:cNvPr>
          <p:cNvSpPr txBox="1"/>
          <p:nvPr/>
        </p:nvSpPr>
        <p:spPr>
          <a:xfrm>
            <a:off x="3492360" y="1934248"/>
            <a:ext cx="2348107" cy="830997"/>
          </a:xfrm>
          <a:prstGeom prst="rect">
            <a:avLst/>
          </a:prstGeom>
          <a:noFill/>
        </p:spPr>
        <p:txBody>
          <a:bodyPr wrap="square" rtlCol="0">
            <a:spAutoFit/>
          </a:bodyPr>
          <a:lstStyle/>
          <a:p>
            <a:pPr algn="ctr"/>
            <a:r>
              <a:rPr lang="en-US" sz="2400" dirty="0"/>
              <a:t>Maximize native species integrity</a:t>
            </a:r>
          </a:p>
        </p:txBody>
      </p:sp>
      <p:sp>
        <p:nvSpPr>
          <p:cNvPr id="6" name="Content Placeholder 2">
            <a:extLst>
              <a:ext uri="{FF2B5EF4-FFF2-40B4-BE49-F238E27FC236}">
                <a16:creationId xmlns:a16="http://schemas.microsoft.com/office/drawing/2014/main" id="{4513565D-297C-3172-4499-25FD70D1C636}"/>
              </a:ext>
            </a:extLst>
          </p:cNvPr>
          <p:cNvSpPr txBox="1">
            <a:spLocks/>
          </p:cNvSpPr>
          <p:nvPr/>
        </p:nvSpPr>
        <p:spPr>
          <a:xfrm>
            <a:off x="8945248" y="5716807"/>
            <a:ext cx="2680788" cy="52824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600" dirty="0"/>
              <a:t>Adapted, modified, and simplified from Runge et al. 2011</a:t>
            </a:r>
          </a:p>
        </p:txBody>
      </p:sp>
      <p:sp>
        <p:nvSpPr>
          <p:cNvPr id="8" name="TextBox 7">
            <a:extLst>
              <a:ext uri="{FF2B5EF4-FFF2-40B4-BE49-F238E27FC236}">
                <a16:creationId xmlns:a16="http://schemas.microsoft.com/office/drawing/2014/main" id="{5171EAFD-C4BB-CB09-ADAC-025459247515}"/>
              </a:ext>
            </a:extLst>
          </p:cNvPr>
          <p:cNvSpPr txBox="1"/>
          <p:nvPr/>
        </p:nvSpPr>
        <p:spPr>
          <a:xfrm>
            <a:off x="6198377" y="1934248"/>
            <a:ext cx="2348107" cy="830997"/>
          </a:xfrm>
          <a:prstGeom prst="rect">
            <a:avLst/>
          </a:prstGeom>
          <a:noFill/>
        </p:spPr>
        <p:txBody>
          <a:bodyPr wrap="square" rtlCol="0">
            <a:spAutoFit/>
          </a:bodyPr>
          <a:lstStyle/>
          <a:p>
            <a:pPr algn="ctr"/>
            <a:r>
              <a:rPr lang="en-US" sz="2400" dirty="0"/>
              <a:t>Maximize recreation</a:t>
            </a:r>
          </a:p>
        </p:txBody>
      </p:sp>
      <p:sp>
        <p:nvSpPr>
          <p:cNvPr id="9" name="TextBox 8">
            <a:extLst>
              <a:ext uri="{FF2B5EF4-FFF2-40B4-BE49-F238E27FC236}">
                <a16:creationId xmlns:a16="http://schemas.microsoft.com/office/drawing/2014/main" id="{D4642D94-AEC2-0850-0ED8-ED113544C162}"/>
              </a:ext>
            </a:extLst>
          </p:cNvPr>
          <p:cNvSpPr txBox="1"/>
          <p:nvPr/>
        </p:nvSpPr>
        <p:spPr>
          <a:xfrm>
            <a:off x="9090372" y="1934248"/>
            <a:ext cx="1847791" cy="830997"/>
          </a:xfrm>
          <a:prstGeom prst="rect">
            <a:avLst/>
          </a:prstGeom>
          <a:noFill/>
        </p:spPr>
        <p:txBody>
          <a:bodyPr wrap="square" rtlCol="0">
            <a:spAutoFit/>
          </a:bodyPr>
          <a:lstStyle/>
          <a:p>
            <a:pPr algn="ctr"/>
            <a:r>
              <a:rPr lang="en-US" sz="2400" dirty="0"/>
              <a:t>Minimize cost</a:t>
            </a:r>
          </a:p>
        </p:txBody>
      </p:sp>
      <p:sp>
        <p:nvSpPr>
          <p:cNvPr id="10" name="TextBox 9">
            <a:extLst>
              <a:ext uri="{FF2B5EF4-FFF2-40B4-BE49-F238E27FC236}">
                <a16:creationId xmlns:a16="http://schemas.microsoft.com/office/drawing/2014/main" id="{4087AAB9-C5CF-0105-400A-242F23FE1F15}"/>
              </a:ext>
            </a:extLst>
          </p:cNvPr>
          <p:cNvSpPr txBox="1"/>
          <p:nvPr/>
        </p:nvSpPr>
        <p:spPr>
          <a:xfrm>
            <a:off x="4349045" y="3892355"/>
            <a:ext cx="1265896" cy="646331"/>
          </a:xfrm>
          <a:prstGeom prst="rect">
            <a:avLst/>
          </a:prstGeom>
          <a:noFill/>
        </p:spPr>
        <p:txBody>
          <a:bodyPr wrap="square" rtlCol="0">
            <a:spAutoFit/>
          </a:bodyPr>
          <a:lstStyle/>
          <a:p>
            <a:r>
              <a:rPr lang="en-US" dirty="0"/>
              <a:t>Min. trout population</a:t>
            </a:r>
          </a:p>
        </p:txBody>
      </p:sp>
      <p:sp>
        <p:nvSpPr>
          <p:cNvPr id="12" name="TextBox 11">
            <a:extLst>
              <a:ext uri="{FF2B5EF4-FFF2-40B4-BE49-F238E27FC236}">
                <a16:creationId xmlns:a16="http://schemas.microsoft.com/office/drawing/2014/main" id="{6108AFB4-F2E9-3F84-C256-0288F54D3772}"/>
              </a:ext>
            </a:extLst>
          </p:cNvPr>
          <p:cNvSpPr txBox="1"/>
          <p:nvPr/>
        </p:nvSpPr>
        <p:spPr>
          <a:xfrm>
            <a:off x="2878016" y="3752943"/>
            <a:ext cx="1265896" cy="923330"/>
          </a:xfrm>
          <a:prstGeom prst="rect">
            <a:avLst/>
          </a:prstGeom>
          <a:noFill/>
        </p:spPr>
        <p:txBody>
          <a:bodyPr wrap="square" rtlCol="0">
            <a:spAutoFit/>
          </a:bodyPr>
          <a:lstStyle/>
          <a:p>
            <a:r>
              <a:rPr lang="en-US" dirty="0"/>
              <a:t>Maximize HBC population</a:t>
            </a:r>
          </a:p>
        </p:txBody>
      </p:sp>
      <p:sp>
        <p:nvSpPr>
          <p:cNvPr id="23" name="TextBox 22">
            <a:extLst>
              <a:ext uri="{FF2B5EF4-FFF2-40B4-BE49-F238E27FC236}">
                <a16:creationId xmlns:a16="http://schemas.microsoft.com/office/drawing/2014/main" id="{42DAD4F1-11F0-1210-ED8F-033F60DB6823}"/>
              </a:ext>
            </a:extLst>
          </p:cNvPr>
          <p:cNvSpPr txBox="1"/>
          <p:nvPr/>
        </p:nvSpPr>
        <p:spPr>
          <a:xfrm>
            <a:off x="1395199" y="3752943"/>
            <a:ext cx="1265896" cy="923330"/>
          </a:xfrm>
          <a:prstGeom prst="rect">
            <a:avLst/>
          </a:prstGeom>
          <a:noFill/>
        </p:spPr>
        <p:txBody>
          <a:bodyPr wrap="square" rtlCol="0">
            <a:spAutoFit/>
          </a:bodyPr>
          <a:lstStyle/>
          <a:p>
            <a:r>
              <a:rPr lang="en-US" dirty="0"/>
              <a:t>Minimize taking of life</a:t>
            </a:r>
          </a:p>
        </p:txBody>
      </p:sp>
      <p:sp>
        <p:nvSpPr>
          <p:cNvPr id="33" name="TextBox 32">
            <a:extLst>
              <a:ext uri="{FF2B5EF4-FFF2-40B4-BE49-F238E27FC236}">
                <a16:creationId xmlns:a16="http://schemas.microsoft.com/office/drawing/2014/main" id="{5316CC21-5B29-FA17-46CC-C2F0FDC0017F}"/>
              </a:ext>
            </a:extLst>
          </p:cNvPr>
          <p:cNvSpPr txBox="1"/>
          <p:nvPr/>
        </p:nvSpPr>
        <p:spPr>
          <a:xfrm>
            <a:off x="5840467" y="3752943"/>
            <a:ext cx="1265896" cy="923330"/>
          </a:xfrm>
          <a:prstGeom prst="rect">
            <a:avLst/>
          </a:prstGeom>
          <a:noFill/>
        </p:spPr>
        <p:txBody>
          <a:bodyPr wrap="square" rtlCol="0">
            <a:spAutoFit/>
          </a:bodyPr>
          <a:lstStyle/>
          <a:p>
            <a:r>
              <a:rPr lang="en-US" dirty="0"/>
              <a:t>Min. wilderness days lost</a:t>
            </a:r>
          </a:p>
        </p:txBody>
      </p:sp>
      <p:sp>
        <p:nvSpPr>
          <p:cNvPr id="37" name="TextBox 36">
            <a:extLst>
              <a:ext uri="{FF2B5EF4-FFF2-40B4-BE49-F238E27FC236}">
                <a16:creationId xmlns:a16="http://schemas.microsoft.com/office/drawing/2014/main" id="{1AAF48A6-4095-7AC8-AFC5-F02CFE0D7537}"/>
              </a:ext>
            </a:extLst>
          </p:cNvPr>
          <p:cNvSpPr txBox="1"/>
          <p:nvPr/>
        </p:nvSpPr>
        <p:spPr>
          <a:xfrm>
            <a:off x="7430542" y="3892355"/>
            <a:ext cx="1027804" cy="646331"/>
          </a:xfrm>
          <a:prstGeom prst="rect">
            <a:avLst/>
          </a:prstGeom>
          <a:noFill/>
        </p:spPr>
        <p:txBody>
          <a:bodyPr wrap="square" rtlCol="0">
            <a:spAutoFit/>
          </a:bodyPr>
          <a:lstStyle/>
          <a:p>
            <a:r>
              <a:rPr lang="en-US" dirty="0"/>
              <a:t>Max. fish catch</a:t>
            </a:r>
          </a:p>
        </p:txBody>
      </p:sp>
      <p:sp>
        <p:nvSpPr>
          <p:cNvPr id="39" name="TextBox 38">
            <a:extLst>
              <a:ext uri="{FF2B5EF4-FFF2-40B4-BE49-F238E27FC236}">
                <a16:creationId xmlns:a16="http://schemas.microsoft.com/office/drawing/2014/main" id="{76FEC109-5927-D977-784C-5BAC73A74B47}"/>
              </a:ext>
            </a:extLst>
          </p:cNvPr>
          <p:cNvSpPr txBox="1"/>
          <p:nvPr/>
        </p:nvSpPr>
        <p:spPr>
          <a:xfrm>
            <a:off x="8857644" y="3752943"/>
            <a:ext cx="1156623" cy="923330"/>
          </a:xfrm>
          <a:prstGeom prst="rect">
            <a:avLst/>
          </a:prstGeom>
          <a:noFill/>
        </p:spPr>
        <p:txBody>
          <a:bodyPr wrap="square" rtlCol="0">
            <a:spAutoFit/>
          </a:bodyPr>
          <a:lstStyle/>
          <a:p>
            <a:r>
              <a:rPr lang="en-US" dirty="0"/>
              <a:t>Min. trout removal cost</a:t>
            </a:r>
          </a:p>
        </p:txBody>
      </p:sp>
      <p:sp>
        <p:nvSpPr>
          <p:cNvPr id="43" name="TextBox 42">
            <a:extLst>
              <a:ext uri="{FF2B5EF4-FFF2-40B4-BE49-F238E27FC236}">
                <a16:creationId xmlns:a16="http://schemas.microsoft.com/office/drawing/2014/main" id="{2767AB82-17FB-45B7-527B-969BCD76C765}"/>
              </a:ext>
            </a:extLst>
          </p:cNvPr>
          <p:cNvSpPr txBox="1"/>
          <p:nvPr/>
        </p:nvSpPr>
        <p:spPr>
          <a:xfrm>
            <a:off x="10259449" y="3752943"/>
            <a:ext cx="1299409" cy="923330"/>
          </a:xfrm>
          <a:prstGeom prst="rect">
            <a:avLst/>
          </a:prstGeom>
          <a:noFill/>
        </p:spPr>
        <p:txBody>
          <a:bodyPr wrap="square" rtlCol="0">
            <a:spAutoFit/>
          </a:bodyPr>
          <a:lstStyle/>
          <a:p>
            <a:r>
              <a:rPr lang="en-US" dirty="0"/>
              <a:t>Max. dam power production</a:t>
            </a:r>
          </a:p>
        </p:txBody>
      </p:sp>
      <p:sp>
        <p:nvSpPr>
          <p:cNvPr id="2" name="Title 1">
            <a:extLst>
              <a:ext uri="{FF2B5EF4-FFF2-40B4-BE49-F238E27FC236}">
                <a16:creationId xmlns:a16="http://schemas.microsoft.com/office/drawing/2014/main" id="{1AF772B1-3D2B-343F-C1FC-64E1FD6EC2D9}"/>
              </a:ext>
            </a:extLst>
          </p:cNvPr>
          <p:cNvSpPr>
            <a:spLocks noGrp="1"/>
          </p:cNvSpPr>
          <p:nvPr>
            <p:ph type="title"/>
          </p:nvPr>
        </p:nvSpPr>
        <p:spPr>
          <a:xfrm>
            <a:off x="720436" y="107935"/>
            <a:ext cx="10515600" cy="839365"/>
          </a:xfrm>
        </p:spPr>
        <p:txBody>
          <a:bodyPr/>
          <a:lstStyle/>
          <a:p>
            <a:r>
              <a:rPr lang="en-US" dirty="0"/>
              <a:t>EXAMPLE:</a:t>
            </a:r>
          </a:p>
        </p:txBody>
      </p:sp>
    </p:spTree>
    <p:extLst>
      <p:ext uri="{BB962C8B-B14F-4D97-AF65-F5344CB8AC3E}">
        <p14:creationId xmlns:p14="http://schemas.microsoft.com/office/powerpoint/2010/main" val="590293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4" grpId="0" animBg="1"/>
      <p:bldP spid="25" grpId="0" animBg="1"/>
      <p:bldP spid="26" grpId="0" animBg="1"/>
      <p:bldP spid="27" grpId="0" animBg="1"/>
      <p:bldP spid="31" grpId="0" animBg="1"/>
      <p:bldP spid="32" grpId="0" animBg="1"/>
      <p:bldP spid="10" grpId="0"/>
      <p:bldP spid="12" grpId="0"/>
      <p:bldP spid="23" grpId="0"/>
      <p:bldP spid="33" grpId="0"/>
      <p:bldP spid="37" grpId="0"/>
      <p:bldP spid="39" grpId="0"/>
      <p:bldP spid="43"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D37CE-8DF3-67AB-906E-6434695E954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33E105-9908-7235-FE46-F1930591215F}"/>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Title 1">
            <a:extLst>
              <a:ext uri="{FF2B5EF4-FFF2-40B4-BE49-F238E27FC236}">
                <a16:creationId xmlns:a16="http://schemas.microsoft.com/office/drawing/2014/main" id="{3CDA6DDA-1B27-C8C7-C885-9895E0F73CEF}"/>
              </a:ext>
            </a:extLst>
          </p:cNvPr>
          <p:cNvSpPr txBox="1">
            <a:spLocks/>
          </p:cNvSpPr>
          <p:nvPr/>
        </p:nvSpPr>
        <p:spPr>
          <a:xfrm>
            <a:off x="0" y="386671"/>
            <a:ext cx="12192000" cy="734352"/>
          </a:xfrm>
          <a:prstGeom prst="rect">
            <a:avLst/>
          </a:prstGeom>
          <a:solidFill>
            <a:schemeClr val="accent5">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Skills Check Task 2</a:t>
            </a:r>
          </a:p>
        </p:txBody>
      </p:sp>
      <p:sp>
        <p:nvSpPr>
          <p:cNvPr id="4" name="Google Shape;225;p18">
            <a:extLst>
              <a:ext uri="{FF2B5EF4-FFF2-40B4-BE49-F238E27FC236}">
                <a16:creationId xmlns:a16="http://schemas.microsoft.com/office/drawing/2014/main" id="{727D4EE4-F2E1-B1F6-554C-865B6500618B}"/>
              </a:ext>
            </a:extLst>
          </p:cNvPr>
          <p:cNvSpPr txBox="1">
            <a:spLocks/>
          </p:cNvSpPr>
          <p:nvPr/>
        </p:nvSpPr>
        <p:spPr>
          <a:xfrm>
            <a:off x="689941" y="1885363"/>
            <a:ext cx="7903441" cy="2334481"/>
          </a:xfrm>
          <a:prstGeom prst="rect">
            <a:avLst/>
          </a:prstGeom>
          <a:noFill/>
          <a:ln>
            <a:noFill/>
          </a:ln>
        </p:spPr>
        <p:txBody>
          <a:bodyPr spcFirstLastPara="1" vert="horz" wrap="square" lIns="91425" tIns="45700" rIns="91425" bIns="45700" rtlCol="0" anchor="t" anchorCtr="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640"/>
              </a:spcBef>
              <a:buSzPts val="3200"/>
              <a:buFont typeface="Arial"/>
              <a:buNone/>
            </a:pPr>
            <a:r>
              <a:rPr lang="en-US" sz="3600" b="1" dirty="0">
                <a:solidFill>
                  <a:schemeClr val="dk1"/>
                </a:solidFill>
                <a:sym typeface="Century Gothic"/>
              </a:rPr>
              <a:t>TASK 2: Generate objectives hierarchy</a:t>
            </a:r>
          </a:p>
          <a:p>
            <a:pPr marL="400050" marR="0" lvl="0" indent="-400050" algn="l" defTabSz="914400" rtl="0" eaLnBrk="1" fontAlgn="auto" latinLnBrk="0" hangingPunct="1">
              <a:lnSpc>
                <a:spcPct val="100000"/>
              </a:lnSpc>
              <a:spcBef>
                <a:spcPts val="640"/>
              </a:spcBef>
              <a:spcAft>
                <a:spcPts val="0"/>
              </a:spcAft>
              <a:buClr>
                <a:srgbClr val="000000"/>
              </a:buClr>
              <a:buSzPts val="3200"/>
              <a:buFont typeface="Arial"/>
              <a:buChar char="•"/>
              <a:tabLst/>
              <a:defRPr/>
            </a:pPr>
            <a:r>
              <a:rPr kumimoji="0" lang="en-US" sz="2800" b="0" i="0" u="none" strike="noStrike" kern="0" cap="none" spc="0" normalizeH="0" baseline="0" noProof="0" dirty="0">
                <a:ln>
                  <a:noFill/>
                </a:ln>
                <a:solidFill>
                  <a:srgbClr val="000000"/>
                </a:solidFill>
                <a:effectLst/>
                <a:uLnTx/>
                <a:uFillTx/>
                <a:ea typeface="MS PGothic" charset="0"/>
                <a:cs typeface="Arial"/>
                <a:sym typeface="Arial"/>
              </a:rPr>
              <a:t>Revisit your earlier potential objectives </a:t>
            </a:r>
            <a:endParaRPr kumimoji="0" lang="en-US" sz="1400" b="0" i="0" u="none" strike="noStrike" kern="0" cap="none" spc="0" normalizeH="0" baseline="0" noProof="0" dirty="0">
              <a:ln>
                <a:noFill/>
              </a:ln>
              <a:solidFill>
                <a:srgbClr val="000000"/>
              </a:solidFill>
              <a:effectLst/>
              <a:uLnTx/>
              <a:uFillTx/>
              <a:ea typeface="MS PGothic" charset="0"/>
              <a:cs typeface="Arial"/>
              <a:sym typeface="Arial"/>
            </a:endParaRPr>
          </a:p>
          <a:p>
            <a:pPr marL="400050" marR="0" lvl="0" indent="-400050" algn="l" defTabSz="914400" rtl="0" eaLnBrk="1" fontAlgn="auto" latinLnBrk="0" hangingPunct="1">
              <a:lnSpc>
                <a:spcPct val="100000"/>
              </a:lnSpc>
              <a:spcBef>
                <a:spcPts val="640"/>
              </a:spcBef>
              <a:spcAft>
                <a:spcPts val="0"/>
              </a:spcAft>
              <a:buClr>
                <a:srgbClr val="000000"/>
              </a:buClr>
              <a:buSzPts val="3200"/>
              <a:buFont typeface="Arial"/>
              <a:buChar char="•"/>
              <a:tabLst/>
              <a:defRPr/>
            </a:pPr>
            <a:r>
              <a:rPr kumimoji="0" lang="en-US" sz="2800" b="0" i="0" u="none" strike="noStrike" kern="0" cap="none" spc="0" normalizeH="0" baseline="0" noProof="0" dirty="0">
                <a:ln>
                  <a:noFill/>
                </a:ln>
                <a:solidFill>
                  <a:srgbClr val="000000"/>
                </a:solidFill>
                <a:effectLst/>
                <a:uLnTx/>
                <a:uFillTx/>
                <a:ea typeface="MS PGothic" charset="0"/>
                <a:cs typeface="Arial"/>
                <a:sym typeface="Arial"/>
              </a:rPr>
              <a:t>Circle your fundamental objectives</a:t>
            </a:r>
          </a:p>
          <a:p>
            <a:pPr marL="857250" lvl="1" indent="-400050">
              <a:lnSpc>
                <a:spcPct val="100000"/>
              </a:lnSpc>
              <a:spcBef>
                <a:spcPts val="640"/>
              </a:spcBef>
              <a:buClr>
                <a:srgbClr val="000000"/>
              </a:buClr>
              <a:buSzPts val="3200"/>
              <a:buFont typeface="Arial"/>
              <a:buChar char="•"/>
              <a:defRPr/>
            </a:pPr>
            <a:r>
              <a:rPr kumimoji="0" lang="en-US" b="0" i="0" u="none" strike="noStrike" kern="0" cap="none" spc="0" normalizeH="0" baseline="0" noProof="0" dirty="0">
                <a:ln>
                  <a:noFill/>
                </a:ln>
                <a:solidFill>
                  <a:srgbClr val="000000"/>
                </a:solidFill>
                <a:effectLst/>
                <a:uLnTx/>
                <a:uFillTx/>
                <a:ea typeface="MS PGothic" charset="0"/>
                <a:cs typeface="Arial"/>
                <a:sym typeface="Arial"/>
              </a:rPr>
              <a:t>Identify fundamental/means/process/strategic objectives</a:t>
            </a:r>
          </a:p>
          <a:p>
            <a:pPr marL="400050" marR="0" lvl="0" indent="-400050" algn="l" defTabSz="914400" rtl="0" eaLnBrk="1" fontAlgn="auto" latinLnBrk="0" hangingPunct="1">
              <a:lnSpc>
                <a:spcPct val="100000"/>
              </a:lnSpc>
              <a:spcBef>
                <a:spcPts val="640"/>
              </a:spcBef>
              <a:spcAft>
                <a:spcPts val="0"/>
              </a:spcAft>
              <a:buClr>
                <a:srgbClr val="000000"/>
              </a:buClr>
              <a:buSzPts val="3200"/>
              <a:buFont typeface="Arial"/>
              <a:buChar char="•"/>
              <a:tabLst/>
              <a:defRPr/>
            </a:pPr>
            <a:r>
              <a:rPr lang="en-US" kern="0" dirty="0">
                <a:solidFill>
                  <a:srgbClr val="000000"/>
                </a:solidFill>
                <a:ea typeface="MS PGothic" charset="0"/>
                <a:cs typeface="Arial"/>
                <a:sym typeface="Arial"/>
              </a:rPr>
              <a:t>Then draw an objectives hierarchy</a:t>
            </a:r>
            <a:endParaRPr kumimoji="0" lang="en-US" sz="2800" b="0" i="0" u="none" strike="noStrike" kern="0" cap="none" spc="0" normalizeH="0" baseline="0" noProof="0" dirty="0">
              <a:ln>
                <a:noFill/>
              </a:ln>
              <a:solidFill>
                <a:srgbClr val="000000"/>
              </a:solidFill>
              <a:effectLst/>
              <a:uLnTx/>
              <a:uFillTx/>
              <a:ea typeface="MS PGothic" charset="0"/>
              <a:cs typeface="Arial"/>
              <a:sym typeface="Arial"/>
            </a:endParaRPr>
          </a:p>
          <a:p>
            <a:pPr marL="0" indent="0">
              <a:lnSpc>
                <a:spcPct val="100000"/>
              </a:lnSpc>
              <a:spcBef>
                <a:spcPts val="640"/>
              </a:spcBef>
              <a:buSzPts val="3200"/>
              <a:buFont typeface="Arial"/>
              <a:buNone/>
            </a:pPr>
            <a:endParaRPr lang="en-US" sz="4400" b="1" dirty="0"/>
          </a:p>
        </p:txBody>
      </p:sp>
      <p:sp>
        <p:nvSpPr>
          <p:cNvPr id="10" name="TextBox 9">
            <a:extLst>
              <a:ext uri="{FF2B5EF4-FFF2-40B4-BE49-F238E27FC236}">
                <a16:creationId xmlns:a16="http://schemas.microsoft.com/office/drawing/2014/main" id="{AF2E779E-F8AE-0BA6-348E-C112DB1D3430}"/>
              </a:ext>
            </a:extLst>
          </p:cNvPr>
          <p:cNvSpPr txBox="1"/>
          <p:nvPr/>
        </p:nvSpPr>
        <p:spPr>
          <a:xfrm>
            <a:off x="63169" y="1213673"/>
            <a:ext cx="12192000" cy="734352"/>
          </a:xfrm>
          <a:prstGeom prst="rect">
            <a:avLst/>
          </a:prstGeom>
          <a:noFill/>
        </p:spPr>
        <p:txBody>
          <a:bodyPr wrap="square">
            <a:spAutoFit/>
          </a:bodyPr>
          <a:lstStyle/>
          <a:p>
            <a:pPr marL="0" indent="0" algn="ctr">
              <a:lnSpc>
                <a:spcPct val="100000"/>
              </a:lnSpc>
              <a:spcBef>
                <a:spcPts val="600"/>
              </a:spcBef>
              <a:buSzPts val="3200"/>
              <a:buNone/>
            </a:pPr>
            <a:r>
              <a:rPr lang="en-US" sz="4000" b="1" dirty="0">
                <a:solidFill>
                  <a:schemeClr val="dk1"/>
                </a:solidFill>
                <a:sym typeface="Century Gothic"/>
              </a:rPr>
              <a:t>Lizard example</a:t>
            </a:r>
            <a:endParaRPr lang="en-US" sz="4800" b="1" dirty="0"/>
          </a:p>
        </p:txBody>
      </p:sp>
      <p:pic>
        <p:nvPicPr>
          <p:cNvPr id="14" name="Graphic 13" descr="Gecko with solid fill">
            <a:extLst>
              <a:ext uri="{FF2B5EF4-FFF2-40B4-BE49-F238E27FC236}">
                <a16:creationId xmlns:a16="http://schemas.microsoft.com/office/drawing/2014/main" id="{E35711C9-2F16-5A9C-2B26-553DBC1C530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22370" y="2342716"/>
            <a:ext cx="3024612" cy="3024612"/>
          </a:xfrm>
          <a:prstGeom prst="rect">
            <a:avLst/>
          </a:prstGeom>
        </p:spPr>
      </p:pic>
      <p:pic>
        <p:nvPicPr>
          <p:cNvPr id="6" name="Graphic 5" descr="Hierarchy with solid fill">
            <a:extLst>
              <a:ext uri="{FF2B5EF4-FFF2-40B4-BE49-F238E27FC236}">
                <a16:creationId xmlns:a16="http://schemas.microsoft.com/office/drawing/2014/main" id="{DAF0B574-30B0-DC5F-361F-3F8788B5E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640418" y="3901794"/>
            <a:ext cx="2569535" cy="2569535"/>
          </a:xfrm>
          <a:prstGeom prst="rect">
            <a:avLst/>
          </a:prstGeom>
        </p:spPr>
      </p:pic>
    </p:spTree>
    <p:extLst>
      <p:ext uri="{BB962C8B-B14F-4D97-AF65-F5344CB8AC3E}">
        <p14:creationId xmlns:p14="http://schemas.microsoft.com/office/powerpoint/2010/main" val="11110218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13A86-2CB1-CC6B-C270-5319DEB3D9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28EE0-CEE6-9BC2-CB29-86B093AA87CC}"/>
              </a:ext>
            </a:extLst>
          </p:cNvPr>
          <p:cNvSpPr>
            <a:spLocks noGrp="1"/>
          </p:cNvSpPr>
          <p:nvPr>
            <p:ph type="title"/>
          </p:nvPr>
        </p:nvSpPr>
        <p:spPr>
          <a:xfrm>
            <a:off x="1598655" y="1732171"/>
            <a:ext cx="10644368" cy="4283901"/>
          </a:xfrm>
        </p:spPr>
        <p:txBody>
          <a:bodyPr>
            <a:normAutofit/>
          </a:bodyPr>
          <a:lstStyle/>
          <a:p>
            <a:pPr lvl="0">
              <a:lnSpc>
                <a:spcPct val="100000"/>
              </a:lnSpc>
              <a:spcBef>
                <a:spcPts val="640"/>
              </a:spcBef>
              <a:buSzPts val="3200"/>
            </a:pPr>
            <a:r>
              <a:rPr lang="en-US" sz="4000" dirty="0"/>
              <a:t>1. Articulate goals &amp; concerns</a:t>
            </a:r>
            <a:br>
              <a:rPr lang="en-US" sz="4000" dirty="0"/>
            </a:br>
            <a:r>
              <a:rPr lang="en-US" sz="4000" dirty="0"/>
              <a:t>2. </a:t>
            </a:r>
            <a:r>
              <a:rPr lang="en-US" sz="4000" dirty="0">
                <a:solidFill>
                  <a:schemeClr val="dk1"/>
                </a:solidFill>
              </a:rPr>
              <a:t>Convert goals &amp; concerns to objectives</a:t>
            </a:r>
            <a:br>
              <a:rPr lang="en-US" sz="4000" dirty="0"/>
            </a:br>
            <a:r>
              <a:rPr lang="en-US" sz="4000" dirty="0"/>
              <a:t>3. </a:t>
            </a:r>
            <a:r>
              <a:rPr lang="en-US" sz="4000" dirty="0">
                <a:solidFill>
                  <a:schemeClr val="dk1"/>
                </a:solidFill>
              </a:rPr>
              <a:t>Structure objectives</a:t>
            </a:r>
            <a:br>
              <a:rPr lang="en-US" sz="4000" dirty="0"/>
            </a:br>
            <a:r>
              <a:rPr lang="en-US" sz="4000" b="1" u="sng" dirty="0"/>
              <a:t>4. </a:t>
            </a:r>
            <a:r>
              <a:rPr lang="en-US" sz="4000" b="1" u="sng" dirty="0">
                <a:solidFill>
                  <a:schemeClr val="dk1"/>
                </a:solidFill>
              </a:rPr>
              <a:t>Create measurable attributes for each objective</a:t>
            </a:r>
            <a:br>
              <a:rPr lang="en-US" sz="4000" b="1" dirty="0"/>
            </a:br>
            <a:r>
              <a:rPr lang="en-US" sz="4000" i="1" dirty="0">
                <a:solidFill>
                  <a:schemeClr val="dk1"/>
                </a:solidFill>
              </a:rPr>
              <a:t>Repeat as needed</a:t>
            </a:r>
            <a:br>
              <a:rPr lang="en-US" sz="4000" dirty="0"/>
            </a:br>
            <a:endParaRPr lang="en-US" sz="4000" dirty="0"/>
          </a:p>
        </p:txBody>
      </p:sp>
      <p:sp>
        <p:nvSpPr>
          <p:cNvPr id="4" name="Title 1">
            <a:extLst>
              <a:ext uri="{FF2B5EF4-FFF2-40B4-BE49-F238E27FC236}">
                <a16:creationId xmlns:a16="http://schemas.microsoft.com/office/drawing/2014/main" id="{F8DBF733-8E09-0157-0939-65B4567014AC}"/>
              </a:ext>
            </a:extLst>
          </p:cNvPr>
          <p:cNvSpPr txBox="1">
            <a:spLocks/>
          </p:cNvSpPr>
          <p:nvPr/>
        </p:nvSpPr>
        <p:spPr>
          <a:xfrm>
            <a:off x="933022" y="5936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5" name="TextBox 4">
            <a:extLst>
              <a:ext uri="{FF2B5EF4-FFF2-40B4-BE49-F238E27FC236}">
                <a16:creationId xmlns:a16="http://schemas.microsoft.com/office/drawing/2014/main" id="{71C3B7F2-9D63-1EC0-D938-1D13BBEC25FB}"/>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Left Brace 7">
            <a:extLst>
              <a:ext uri="{FF2B5EF4-FFF2-40B4-BE49-F238E27FC236}">
                <a16:creationId xmlns:a16="http://schemas.microsoft.com/office/drawing/2014/main" id="{5041FA8F-124B-F54B-CE4D-107D92187F25}"/>
              </a:ext>
            </a:extLst>
          </p:cNvPr>
          <p:cNvSpPr/>
          <p:nvPr/>
        </p:nvSpPr>
        <p:spPr>
          <a:xfrm>
            <a:off x="1046948" y="2287439"/>
            <a:ext cx="601449" cy="867077"/>
          </a:xfrm>
          <a:prstGeom prst="leftBrace">
            <a:avLst/>
          </a:prstGeom>
          <a:ln w="381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89FAFBE3-5F96-91DE-1B6F-72BA9D9857AA}"/>
              </a:ext>
            </a:extLst>
          </p:cNvPr>
          <p:cNvSpPr txBox="1"/>
          <p:nvPr/>
        </p:nvSpPr>
        <p:spPr>
          <a:xfrm>
            <a:off x="110153" y="2299159"/>
            <a:ext cx="936795" cy="707886"/>
          </a:xfrm>
          <a:prstGeom prst="rect">
            <a:avLst/>
          </a:prstGeom>
          <a:noFill/>
        </p:spPr>
        <p:txBody>
          <a:bodyPr wrap="none" rtlCol="0">
            <a:spAutoFit/>
          </a:bodyPr>
          <a:lstStyle/>
          <a:p>
            <a:pPr algn="ctr"/>
            <a:r>
              <a:rPr lang="en-US" sz="2000" b="1" dirty="0">
                <a:solidFill>
                  <a:schemeClr val="accent1"/>
                </a:solidFill>
              </a:rPr>
              <a:t>Big</a:t>
            </a:r>
          </a:p>
          <a:p>
            <a:pPr algn="ctr"/>
            <a:r>
              <a:rPr lang="en-US" sz="2000" b="1" dirty="0">
                <a:solidFill>
                  <a:schemeClr val="accent1"/>
                </a:solidFill>
              </a:rPr>
              <a:t>picture</a:t>
            </a:r>
          </a:p>
        </p:txBody>
      </p:sp>
      <p:sp>
        <p:nvSpPr>
          <p:cNvPr id="10" name="Left Brace 9">
            <a:extLst>
              <a:ext uri="{FF2B5EF4-FFF2-40B4-BE49-F238E27FC236}">
                <a16:creationId xmlns:a16="http://schemas.microsoft.com/office/drawing/2014/main" id="{C43D2F53-8A37-7381-F1AD-A7030ACE3DF3}"/>
              </a:ext>
            </a:extLst>
          </p:cNvPr>
          <p:cNvSpPr/>
          <p:nvPr/>
        </p:nvSpPr>
        <p:spPr>
          <a:xfrm>
            <a:off x="976696" y="3423739"/>
            <a:ext cx="567559" cy="867077"/>
          </a:xfrm>
          <a:prstGeom prst="leftBrace">
            <a:avLst/>
          </a:prstGeom>
          <a:ln w="3810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20598F-67A1-581F-65F8-E1B55BA22EA4}"/>
              </a:ext>
            </a:extLst>
          </p:cNvPr>
          <p:cNvSpPr txBox="1"/>
          <p:nvPr/>
        </p:nvSpPr>
        <p:spPr>
          <a:xfrm>
            <a:off x="80657" y="3497013"/>
            <a:ext cx="995785" cy="707886"/>
          </a:xfrm>
          <a:prstGeom prst="rect">
            <a:avLst/>
          </a:prstGeom>
          <a:noFill/>
        </p:spPr>
        <p:txBody>
          <a:bodyPr wrap="none" rtlCol="0">
            <a:spAutoFit/>
          </a:bodyPr>
          <a:lstStyle/>
          <a:p>
            <a:pPr algn="ctr"/>
            <a:r>
              <a:rPr lang="en-US" sz="2000" b="1" dirty="0">
                <a:solidFill>
                  <a:schemeClr val="accent6"/>
                </a:solidFill>
              </a:rPr>
              <a:t>Specific</a:t>
            </a:r>
          </a:p>
          <a:p>
            <a:pPr algn="ctr"/>
            <a:r>
              <a:rPr lang="en-US" sz="2000" b="1" dirty="0">
                <a:solidFill>
                  <a:schemeClr val="accent6"/>
                </a:solidFill>
              </a:rPr>
              <a:t>Steps</a:t>
            </a:r>
          </a:p>
        </p:txBody>
      </p:sp>
    </p:spTree>
    <p:extLst>
      <p:ext uri="{BB962C8B-B14F-4D97-AF65-F5344CB8AC3E}">
        <p14:creationId xmlns:p14="http://schemas.microsoft.com/office/powerpoint/2010/main" val="242563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40CD3D-59D1-E340-4872-CFCDFE5802FF}"/>
              </a:ext>
            </a:extLst>
          </p:cNvPr>
          <p:cNvSpPr>
            <a:spLocks noGrp="1"/>
          </p:cNvSpPr>
          <p:nvPr>
            <p:ph type="title"/>
          </p:nvPr>
        </p:nvSpPr>
        <p:spPr/>
        <p:txBody>
          <a:bodyPr>
            <a:normAutofit/>
          </a:bodyPr>
          <a:lstStyle/>
          <a:p>
            <a:pPr algn="ctr"/>
            <a:r>
              <a:rPr lang="en-US" sz="5400" dirty="0"/>
              <a:t>JARGON!!</a:t>
            </a:r>
          </a:p>
        </p:txBody>
      </p:sp>
      <p:sp>
        <p:nvSpPr>
          <p:cNvPr id="3" name="Content Placeholder 2">
            <a:extLst>
              <a:ext uri="{FF2B5EF4-FFF2-40B4-BE49-F238E27FC236}">
                <a16:creationId xmlns:a16="http://schemas.microsoft.com/office/drawing/2014/main" id="{EDA44CFE-A67C-FF4B-DA84-A264C16F0EB5}"/>
              </a:ext>
            </a:extLst>
          </p:cNvPr>
          <p:cNvSpPr>
            <a:spLocks noGrp="1"/>
          </p:cNvSpPr>
          <p:nvPr>
            <p:ph idx="1"/>
          </p:nvPr>
        </p:nvSpPr>
        <p:spPr/>
        <p:txBody>
          <a:bodyPr>
            <a:normAutofit/>
          </a:bodyPr>
          <a:lstStyle/>
          <a:p>
            <a:pPr marL="0" indent="0" algn="ctr">
              <a:buNone/>
            </a:pPr>
            <a:r>
              <a:rPr lang="en-US" sz="4400" dirty="0"/>
              <a:t>These terms are interchangeable:</a:t>
            </a:r>
          </a:p>
          <a:p>
            <a:pPr algn="ctr"/>
            <a:endParaRPr lang="en-US" sz="4400" dirty="0"/>
          </a:p>
          <a:p>
            <a:pPr marL="457200" lvl="1" indent="0" algn="ctr">
              <a:buNone/>
            </a:pPr>
            <a:r>
              <a:rPr lang="en-US" sz="4400" dirty="0">
                <a:solidFill>
                  <a:srgbClr val="C00000"/>
                </a:solidFill>
              </a:rPr>
              <a:t>Measurable attributes</a:t>
            </a:r>
          </a:p>
          <a:p>
            <a:pPr marL="457200" lvl="1" indent="0" algn="ctr">
              <a:buNone/>
            </a:pPr>
            <a:r>
              <a:rPr lang="en-US" sz="4400" dirty="0">
                <a:solidFill>
                  <a:srgbClr val="C00000"/>
                </a:solidFill>
              </a:rPr>
              <a:t>Performance measures</a:t>
            </a:r>
          </a:p>
          <a:p>
            <a:pPr marL="457200" lvl="1" indent="0" algn="ctr">
              <a:buNone/>
            </a:pPr>
            <a:r>
              <a:rPr lang="en-US" sz="4400" dirty="0">
                <a:solidFill>
                  <a:srgbClr val="C00000"/>
                </a:solidFill>
              </a:rPr>
              <a:t>Performance criteria</a:t>
            </a:r>
          </a:p>
          <a:p>
            <a:endParaRPr lang="en-US" sz="4000" dirty="0"/>
          </a:p>
        </p:txBody>
      </p:sp>
      <p:sp>
        <p:nvSpPr>
          <p:cNvPr id="4" name="TextBox 3">
            <a:extLst>
              <a:ext uri="{FF2B5EF4-FFF2-40B4-BE49-F238E27FC236}">
                <a16:creationId xmlns:a16="http://schemas.microsoft.com/office/drawing/2014/main" id="{FC1FB5ED-3858-626D-71A7-FDA4BEBCAEDF}"/>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pic>
        <p:nvPicPr>
          <p:cNvPr id="6" name="Graphic 5" descr="Warning with solid fill">
            <a:extLst>
              <a:ext uri="{FF2B5EF4-FFF2-40B4-BE49-F238E27FC236}">
                <a16:creationId xmlns:a16="http://schemas.microsoft.com/office/drawing/2014/main" id="{226E050F-DD5A-1BAD-C6D0-7E7800C18E4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699831" y="521107"/>
            <a:ext cx="914400" cy="914400"/>
          </a:xfrm>
          <a:prstGeom prst="rect">
            <a:avLst/>
          </a:prstGeom>
        </p:spPr>
      </p:pic>
      <p:pic>
        <p:nvPicPr>
          <p:cNvPr id="7" name="Graphic 6" descr="Warning with solid fill">
            <a:extLst>
              <a:ext uri="{FF2B5EF4-FFF2-40B4-BE49-F238E27FC236}">
                <a16:creationId xmlns:a16="http://schemas.microsoft.com/office/drawing/2014/main" id="{0B147975-EB14-C201-0176-0F666B975A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75862" y="521107"/>
            <a:ext cx="914400" cy="914400"/>
          </a:xfrm>
          <a:prstGeom prst="rect">
            <a:avLst/>
          </a:prstGeom>
        </p:spPr>
      </p:pic>
    </p:spTree>
    <p:extLst>
      <p:ext uri="{BB962C8B-B14F-4D97-AF65-F5344CB8AC3E}">
        <p14:creationId xmlns:p14="http://schemas.microsoft.com/office/powerpoint/2010/main" val="26394292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6121-0A57-75DB-5AEE-B63B5F0AB918}"/>
            </a:ext>
          </a:extLst>
        </p:cNvPr>
        <p:cNvGrpSpPr/>
        <p:nvPr/>
      </p:nvGrpSpPr>
      <p:grpSpPr>
        <a:xfrm>
          <a:off x="0" y="0"/>
          <a:ext cx="0" cy="0"/>
          <a:chOff x="0" y="0"/>
          <a:chExt cx="0" cy="0"/>
        </a:xfrm>
      </p:grpSpPr>
      <p:sp>
        <p:nvSpPr>
          <p:cNvPr id="9" name="Content Placeholder 2">
            <a:extLst>
              <a:ext uri="{FF2B5EF4-FFF2-40B4-BE49-F238E27FC236}">
                <a16:creationId xmlns:a16="http://schemas.microsoft.com/office/drawing/2014/main" id="{1D31F816-002A-9BA5-B392-19F76EE66A17}"/>
              </a:ext>
            </a:extLst>
          </p:cNvPr>
          <p:cNvSpPr txBox="1">
            <a:spLocks/>
          </p:cNvSpPr>
          <p:nvPr/>
        </p:nvSpPr>
        <p:spPr>
          <a:xfrm>
            <a:off x="987552" y="2483993"/>
            <a:ext cx="3319272" cy="14570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b="1" dirty="0"/>
              <a:t>Direction</a:t>
            </a:r>
            <a:r>
              <a:rPr lang="en-US" dirty="0"/>
              <a:t> </a:t>
            </a:r>
          </a:p>
          <a:p>
            <a:pPr marL="0" indent="0" algn="ctr">
              <a:buFont typeface="Arial" panose="020B0604020202020204" pitchFamily="34" charset="0"/>
              <a:buNone/>
            </a:pPr>
            <a:r>
              <a:rPr lang="en-US" dirty="0"/>
              <a:t>(maximize, minimize)</a:t>
            </a:r>
          </a:p>
        </p:txBody>
      </p:sp>
      <p:sp>
        <p:nvSpPr>
          <p:cNvPr id="2" name="Title 1">
            <a:extLst>
              <a:ext uri="{FF2B5EF4-FFF2-40B4-BE49-F238E27FC236}">
                <a16:creationId xmlns:a16="http://schemas.microsoft.com/office/drawing/2014/main" id="{A2381B13-C058-6DB0-6F3C-869AE714F379}"/>
              </a:ext>
            </a:extLst>
          </p:cNvPr>
          <p:cNvSpPr>
            <a:spLocks noGrp="1"/>
          </p:cNvSpPr>
          <p:nvPr>
            <p:ph type="title"/>
          </p:nvPr>
        </p:nvSpPr>
        <p:spPr/>
        <p:txBody>
          <a:bodyPr/>
          <a:lstStyle/>
          <a:p>
            <a:r>
              <a:rPr lang="en-US" dirty="0"/>
              <a:t>Recall Pieces of an objective:</a:t>
            </a:r>
          </a:p>
        </p:txBody>
      </p:sp>
      <p:sp>
        <p:nvSpPr>
          <p:cNvPr id="3" name="Content Placeholder 2">
            <a:extLst>
              <a:ext uri="{FF2B5EF4-FFF2-40B4-BE49-F238E27FC236}">
                <a16:creationId xmlns:a16="http://schemas.microsoft.com/office/drawing/2014/main" id="{12E955A0-8117-B810-AB3E-A12E6E3539A4}"/>
              </a:ext>
            </a:extLst>
          </p:cNvPr>
          <p:cNvSpPr>
            <a:spLocks noGrp="1"/>
          </p:cNvSpPr>
          <p:nvPr>
            <p:ph idx="1"/>
          </p:nvPr>
        </p:nvSpPr>
        <p:spPr>
          <a:xfrm>
            <a:off x="8726424" y="2483992"/>
            <a:ext cx="1943100" cy="1457071"/>
          </a:xfrm>
        </p:spPr>
        <p:txBody>
          <a:bodyPr>
            <a:normAutofit/>
          </a:bodyPr>
          <a:lstStyle/>
          <a:p>
            <a:pPr marL="0" indent="0" algn="ctr">
              <a:buNone/>
            </a:pPr>
            <a:r>
              <a:rPr lang="en-US" b="1" dirty="0"/>
              <a:t>Attribute</a:t>
            </a:r>
            <a:endParaRPr lang="en-US" dirty="0"/>
          </a:p>
          <a:p>
            <a:pPr marL="0" indent="0" algn="ctr">
              <a:buNone/>
            </a:pPr>
            <a:r>
              <a:rPr lang="en-US" dirty="0"/>
              <a:t>(the units)</a:t>
            </a:r>
          </a:p>
        </p:txBody>
      </p:sp>
      <p:sp>
        <p:nvSpPr>
          <p:cNvPr id="4" name="Content Placeholder 2">
            <a:extLst>
              <a:ext uri="{FF2B5EF4-FFF2-40B4-BE49-F238E27FC236}">
                <a16:creationId xmlns:a16="http://schemas.microsoft.com/office/drawing/2014/main" id="{90CAE362-8457-0A97-48AB-2EEEA6BA1834}"/>
              </a:ext>
            </a:extLst>
          </p:cNvPr>
          <p:cNvSpPr txBox="1">
            <a:spLocks/>
          </p:cNvSpPr>
          <p:nvPr/>
        </p:nvSpPr>
        <p:spPr>
          <a:xfrm>
            <a:off x="3802380" y="2483993"/>
            <a:ext cx="1862328" cy="116751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8000" dirty="0"/>
              <a:t>+</a:t>
            </a:r>
          </a:p>
        </p:txBody>
      </p:sp>
      <p:sp>
        <p:nvSpPr>
          <p:cNvPr id="6" name="Content Placeholder 2">
            <a:extLst>
              <a:ext uri="{FF2B5EF4-FFF2-40B4-BE49-F238E27FC236}">
                <a16:creationId xmlns:a16="http://schemas.microsoft.com/office/drawing/2014/main" id="{3E141360-499F-D4DC-600E-9F89043DA02C}"/>
              </a:ext>
            </a:extLst>
          </p:cNvPr>
          <p:cNvSpPr txBox="1">
            <a:spLocks/>
          </p:cNvSpPr>
          <p:nvPr/>
        </p:nvSpPr>
        <p:spPr>
          <a:xfrm>
            <a:off x="4114800" y="2757234"/>
            <a:ext cx="4611624" cy="5975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b="1" dirty="0"/>
              <a:t>What is desired</a:t>
            </a:r>
            <a:endParaRPr lang="en-US" dirty="0"/>
          </a:p>
        </p:txBody>
      </p:sp>
      <p:sp>
        <p:nvSpPr>
          <p:cNvPr id="7" name="Content Placeholder 2">
            <a:extLst>
              <a:ext uri="{FF2B5EF4-FFF2-40B4-BE49-F238E27FC236}">
                <a16:creationId xmlns:a16="http://schemas.microsoft.com/office/drawing/2014/main" id="{EE3F9539-0C18-B95B-9074-6EDF7757FE67}"/>
              </a:ext>
            </a:extLst>
          </p:cNvPr>
          <p:cNvSpPr txBox="1">
            <a:spLocks/>
          </p:cNvSpPr>
          <p:nvPr/>
        </p:nvSpPr>
        <p:spPr>
          <a:xfrm>
            <a:off x="7176516" y="2483993"/>
            <a:ext cx="1862328" cy="116751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8000" dirty="0"/>
              <a:t>+</a:t>
            </a:r>
          </a:p>
        </p:txBody>
      </p:sp>
      <p:pic>
        <p:nvPicPr>
          <p:cNvPr id="8" name="Graphic 7" descr="Arrow Up with solid fill">
            <a:extLst>
              <a:ext uri="{FF2B5EF4-FFF2-40B4-BE49-F238E27FC236}">
                <a16:creationId xmlns:a16="http://schemas.microsoft.com/office/drawing/2014/main" id="{E4097A72-01C5-0106-1D5A-3F2D29C1D8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71462" y="3651504"/>
            <a:ext cx="914400" cy="914400"/>
          </a:xfrm>
          <a:prstGeom prst="rect">
            <a:avLst/>
          </a:prstGeom>
        </p:spPr>
      </p:pic>
      <p:pic>
        <p:nvPicPr>
          <p:cNvPr id="11" name="Graphic 10" descr="Arrow Down with solid fill">
            <a:extLst>
              <a:ext uri="{FF2B5EF4-FFF2-40B4-BE49-F238E27FC236}">
                <a16:creationId xmlns:a16="http://schemas.microsoft.com/office/drawing/2014/main" id="{30E9B52E-9063-01FD-0CA0-4444C0F3B3D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32562" y="3651504"/>
            <a:ext cx="914400" cy="914400"/>
          </a:xfrm>
          <a:prstGeom prst="rect">
            <a:avLst/>
          </a:prstGeom>
        </p:spPr>
      </p:pic>
      <p:pic>
        <p:nvPicPr>
          <p:cNvPr id="13" name="Graphic 12" descr="Heart with solid fill">
            <a:extLst>
              <a:ext uri="{FF2B5EF4-FFF2-40B4-BE49-F238E27FC236}">
                <a16:creationId xmlns:a16="http://schemas.microsoft.com/office/drawing/2014/main" id="{9F70611C-FC66-224C-A36A-E654E65CEEA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688053" y="3560064"/>
            <a:ext cx="1097280" cy="1097280"/>
          </a:xfrm>
          <a:prstGeom prst="rect">
            <a:avLst/>
          </a:prstGeom>
        </p:spPr>
      </p:pic>
      <p:pic>
        <p:nvPicPr>
          <p:cNvPr id="15" name="Graphic 14" descr="Dollar with solid fill">
            <a:extLst>
              <a:ext uri="{FF2B5EF4-FFF2-40B4-BE49-F238E27FC236}">
                <a16:creationId xmlns:a16="http://schemas.microsoft.com/office/drawing/2014/main" id="{59913296-0B59-4E10-0CBB-5B4B02B7D69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240774" y="3649776"/>
            <a:ext cx="914400" cy="914400"/>
          </a:xfrm>
          <a:prstGeom prst="rect">
            <a:avLst/>
          </a:prstGeom>
        </p:spPr>
      </p:pic>
      <p:sp>
        <p:nvSpPr>
          <p:cNvPr id="10" name="TextBox 9">
            <a:extLst>
              <a:ext uri="{FF2B5EF4-FFF2-40B4-BE49-F238E27FC236}">
                <a16:creationId xmlns:a16="http://schemas.microsoft.com/office/drawing/2014/main" id="{6EFA312E-9EEC-7B47-EEF7-9293660F610F}"/>
              </a:ext>
            </a:extLst>
          </p:cNvPr>
          <p:cNvSpPr txBox="1"/>
          <p:nvPr/>
        </p:nvSpPr>
        <p:spPr>
          <a:xfrm>
            <a:off x="8534579" y="3979401"/>
            <a:ext cx="1008529" cy="584775"/>
          </a:xfrm>
          <a:prstGeom prst="rect">
            <a:avLst/>
          </a:prstGeom>
          <a:noFill/>
        </p:spPr>
        <p:txBody>
          <a:bodyPr wrap="square">
            <a:spAutoFit/>
          </a:bodyPr>
          <a:lstStyle/>
          <a:p>
            <a:pPr marL="0" indent="0" algn="ctr">
              <a:buNone/>
            </a:pPr>
            <a:r>
              <a:rPr lang="en-US" sz="3200" dirty="0"/>
              <a:t>e.g. </a:t>
            </a:r>
          </a:p>
        </p:txBody>
      </p:sp>
      <p:sp>
        <p:nvSpPr>
          <p:cNvPr id="5" name="TextBox 4">
            <a:extLst>
              <a:ext uri="{FF2B5EF4-FFF2-40B4-BE49-F238E27FC236}">
                <a16:creationId xmlns:a16="http://schemas.microsoft.com/office/drawing/2014/main" id="{F331827F-32D2-BFEB-B5A3-17CC228D6B80}"/>
              </a:ext>
            </a:extLst>
          </p:cNvPr>
          <p:cNvSpPr txBox="1"/>
          <p:nvPr/>
        </p:nvSpPr>
        <p:spPr>
          <a:xfrm>
            <a:off x="0" y="6581001"/>
            <a:ext cx="8918089" cy="276999"/>
          </a:xfrm>
          <a:prstGeom prst="rect">
            <a:avLst/>
          </a:prstGeom>
          <a:noFill/>
        </p:spPr>
        <p:txBody>
          <a:bodyPr wrap="square">
            <a:spAutoFit/>
          </a:bodyPr>
          <a:lstStyle/>
          <a:p>
            <a:r>
              <a:rPr lang="en-US" sz="1200" dirty="0"/>
              <a:t>Developed by Brielle K Thompson</a:t>
            </a:r>
          </a:p>
        </p:txBody>
      </p:sp>
      <p:sp>
        <p:nvSpPr>
          <p:cNvPr id="14" name="Rectangle 13">
            <a:extLst>
              <a:ext uri="{FF2B5EF4-FFF2-40B4-BE49-F238E27FC236}">
                <a16:creationId xmlns:a16="http://schemas.microsoft.com/office/drawing/2014/main" id="{3A4AA046-47EE-E190-7C8E-DCD72C5E06EA}"/>
              </a:ext>
            </a:extLst>
          </p:cNvPr>
          <p:cNvSpPr/>
          <p:nvPr/>
        </p:nvSpPr>
        <p:spPr>
          <a:xfrm>
            <a:off x="414035" y="4830317"/>
            <a:ext cx="5573405" cy="1437986"/>
          </a:xfrm>
          <a:prstGeom prst="rect">
            <a:avLst/>
          </a:prstGeom>
          <a:solidFill>
            <a:schemeClr val="accent4">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*Maximize/Minimize may be uncomfortable to state (but its useful for optimization purposes). So, as long as the direction is clear we can use other verbs (e.g.,  increase, decrease, etc.) </a:t>
            </a:r>
          </a:p>
        </p:txBody>
      </p:sp>
      <p:sp>
        <p:nvSpPr>
          <p:cNvPr id="16" name="Star: 5 Points 15">
            <a:extLst>
              <a:ext uri="{FF2B5EF4-FFF2-40B4-BE49-F238E27FC236}">
                <a16:creationId xmlns:a16="http://schemas.microsoft.com/office/drawing/2014/main" id="{DFFA5423-FF06-7842-3D6E-E13396522C5F}"/>
              </a:ext>
            </a:extLst>
          </p:cNvPr>
          <p:cNvSpPr/>
          <p:nvPr/>
        </p:nvSpPr>
        <p:spPr>
          <a:xfrm>
            <a:off x="706771" y="2869501"/>
            <a:ext cx="425885" cy="372999"/>
          </a:xfrm>
          <a:prstGeom prst="star5">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574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4E2F0-1816-4F15-98BE-33D26990C3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F1685B-49C6-5679-6FCB-4552D6AEEC4B}"/>
              </a:ext>
            </a:extLst>
          </p:cNvPr>
          <p:cNvSpPr>
            <a:spLocks noGrp="1"/>
          </p:cNvSpPr>
          <p:nvPr>
            <p:ph type="title"/>
          </p:nvPr>
        </p:nvSpPr>
        <p:spPr>
          <a:xfrm>
            <a:off x="838200" y="465709"/>
            <a:ext cx="10515600" cy="1325563"/>
          </a:xfrm>
        </p:spPr>
        <p:txBody>
          <a:bodyPr/>
          <a:lstStyle/>
          <a:p>
            <a:r>
              <a:rPr lang="en-US" dirty="0"/>
              <a:t>4. </a:t>
            </a:r>
            <a:r>
              <a:rPr lang="en-US" dirty="0">
                <a:solidFill>
                  <a:schemeClr val="dk1"/>
                </a:solidFill>
              </a:rPr>
              <a:t>Create measurable attributes </a:t>
            </a:r>
            <a:r>
              <a:rPr lang="en-US" dirty="0"/>
              <a:t>(the units)</a:t>
            </a:r>
          </a:p>
        </p:txBody>
      </p:sp>
      <p:sp>
        <p:nvSpPr>
          <p:cNvPr id="3" name="Content Placeholder 2">
            <a:extLst>
              <a:ext uri="{FF2B5EF4-FFF2-40B4-BE49-F238E27FC236}">
                <a16:creationId xmlns:a16="http://schemas.microsoft.com/office/drawing/2014/main" id="{8C608641-1906-69C9-56DA-476DE503AE43}"/>
              </a:ext>
            </a:extLst>
          </p:cNvPr>
          <p:cNvSpPr>
            <a:spLocks noGrp="1"/>
          </p:cNvSpPr>
          <p:nvPr>
            <p:ph idx="1"/>
          </p:nvPr>
        </p:nvSpPr>
        <p:spPr>
          <a:xfrm>
            <a:off x="1114875" y="1477679"/>
            <a:ext cx="10346436" cy="2327863"/>
          </a:xfrm>
        </p:spPr>
        <p:txBody>
          <a:bodyPr vert="horz" lIns="91440" tIns="45720" rIns="91440" bIns="45720" rtlCol="0" anchor="t">
            <a:normAutofit/>
          </a:bodyPr>
          <a:lstStyle/>
          <a:p>
            <a:pPr marL="342900" marR="0" lvl="0" indent="-342900" algn="l" defTabSz="914400" rtl="0" eaLnBrk="1" fontAlgn="auto" latinLnBrk="0" hangingPunct="1">
              <a:lnSpc>
                <a:spcPct val="100000"/>
              </a:lnSpc>
              <a:spcBef>
                <a:spcPct val="20000"/>
              </a:spcBef>
              <a:spcAft>
                <a:spcPts val="0"/>
              </a:spcAft>
              <a:buClrTx/>
              <a:buSzTx/>
              <a:buFont typeface="Wingdings 2" pitchFamily="18" charset="2"/>
              <a:buNone/>
              <a:tabLst/>
              <a:defRPr/>
            </a:pPr>
            <a:r>
              <a:rPr kumimoji="0" lang="en-US" b="0" i="0" u="none" strike="noStrike" kern="1200" cap="none" spc="0" normalizeH="0" baseline="0" noProof="0" dirty="0">
                <a:ln>
                  <a:noFill/>
                </a:ln>
                <a:solidFill>
                  <a:srgbClr val="000000"/>
                </a:solidFill>
                <a:effectLst/>
                <a:uLnTx/>
                <a:uFillTx/>
                <a:ea typeface="+mn-ea"/>
                <a:cs typeface="+mn-cs"/>
              </a:rPr>
              <a:t>Attributes measure performance and is used to:</a:t>
            </a:r>
          </a:p>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ea typeface="+mn-ea"/>
                <a:cs typeface="+mn-cs"/>
              </a:rPr>
              <a:t>Predict (in advance of the decision) how a given decision will lead to measurable outcomes</a:t>
            </a:r>
          </a:p>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ea typeface="+mn-ea"/>
                <a:cs typeface="+mn-cs"/>
              </a:rPr>
              <a:t>Compare realized objective outcomes to predicted outcomes after decision implementation</a:t>
            </a:r>
          </a:p>
          <a:p>
            <a:pPr marL="0" marR="0" lvl="0" indent="0" algn="l" defTabSz="914400" rtl="0" eaLnBrk="1" fontAlgn="auto" latinLnBrk="0" hangingPunct="1">
              <a:lnSpc>
                <a:spcPct val="100000"/>
              </a:lnSpc>
              <a:spcBef>
                <a:spcPct val="20000"/>
              </a:spcBef>
              <a:spcAft>
                <a:spcPts val="0"/>
              </a:spcAft>
              <a:buClrTx/>
              <a:buSzTx/>
              <a:buNone/>
              <a:tabLst/>
              <a:defRPr/>
            </a:pPr>
            <a:endParaRPr kumimoji="0" lang="en-US" sz="2400" b="0" i="0" u="none" strike="noStrike" kern="1200" cap="none" spc="0" normalizeH="0" baseline="0" noProof="0" dirty="0">
              <a:ln>
                <a:noFill/>
              </a:ln>
              <a:solidFill>
                <a:srgbClr val="000000"/>
              </a:solidFill>
              <a:effectLst/>
              <a:uLnTx/>
              <a:uFillTx/>
              <a:ea typeface="+mn-ea"/>
              <a:cs typeface="+mn-cs"/>
            </a:endParaRPr>
          </a:p>
          <a:p>
            <a:pPr marL="0" lvl="0" indent="0">
              <a:lnSpc>
                <a:spcPct val="100000"/>
              </a:lnSpc>
              <a:spcBef>
                <a:spcPct val="20000"/>
              </a:spcBef>
              <a:buNone/>
              <a:defRPr/>
            </a:pPr>
            <a:r>
              <a:rPr lang="en-US" dirty="0">
                <a:solidFill>
                  <a:srgbClr val="000000"/>
                </a:solidFill>
              </a:rPr>
              <a:t>Desired characteristics of measurable attributes:</a:t>
            </a:r>
            <a:endParaRPr kumimoji="0" lang="en-US" b="0" i="0" u="none" strike="noStrike" kern="1200" cap="none" spc="0" normalizeH="0" baseline="0" noProof="0" dirty="0">
              <a:ln>
                <a:noFill/>
              </a:ln>
              <a:solidFill>
                <a:srgbClr val="000000"/>
              </a:solidFill>
              <a:effectLst/>
              <a:uLnTx/>
              <a:uFillTx/>
              <a:ea typeface="+mn-ea"/>
              <a:cs typeface="+mn-cs"/>
            </a:endParaRPr>
          </a:p>
        </p:txBody>
      </p:sp>
      <p:sp>
        <p:nvSpPr>
          <p:cNvPr id="4" name="TextBox 3">
            <a:extLst>
              <a:ext uri="{FF2B5EF4-FFF2-40B4-BE49-F238E27FC236}">
                <a16:creationId xmlns:a16="http://schemas.microsoft.com/office/drawing/2014/main" id="{15730F0E-C6B2-7FC5-4981-C33917DD24F5}"/>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5" name="Content Placeholder 1">
            <a:extLst>
              <a:ext uri="{FF2B5EF4-FFF2-40B4-BE49-F238E27FC236}">
                <a16:creationId xmlns:a16="http://schemas.microsoft.com/office/drawing/2014/main" id="{B545BDD7-1B6B-3D19-906A-8464469F0762}"/>
              </a:ext>
            </a:extLst>
          </p:cNvPr>
          <p:cNvSpPr txBox="1">
            <a:spLocks/>
          </p:cNvSpPr>
          <p:nvPr/>
        </p:nvSpPr>
        <p:spPr>
          <a:xfrm>
            <a:off x="1464564" y="3683498"/>
            <a:ext cx="9937311" cy="2501597"/>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altLang="en-US" b="1" dirty="0"/>
              <a:t>Unambiguous - </a:t>
            </a:r>
            <a:r>
              <a:rPr lang="en-US" altLang="en-US" dirty="0"/>
              <a:t>Clear relationship to fundamental objectives</a:t>
            </a:r>
          </a:p>
          <a:p>
            <a:pPr>
              <a:defRPr/>
            </a:pPr>
            <a:r>
              <a:rPr lang="en-US" altLang="en-US" b="1" dirty="0"/>
              <a:t>Direct - </a:t>
            </a:r>
            <a:r>
              <a:rPr lang="en-US" altLang="en-US" dirty="0"/>
              <a:t>Clearly related to the consequences of interest</a:t>
            </a:r>
          </a:p>
          <a:p>
            <a:pPr>
              <a:defRPr/>
            </a:pPr>
            <a:r>
              <a:rPr lang="en-US" altLang="en-US" b="1" dirty="0"/>
              <a:t>Comprehensive - </a:t>
            </a:r>
            <a:r>
              <a:rPr lang="en-US" altLang="en-US" dirty="0"/>
              <a:t>Cover full range of possible outcomes</a:t>
            </a:r>
          </a:p>
          <a:p>
            <a:pPr>
              <a:defRPr/>
            </a:pPr>
            <a:r>
              <a:rPr lang="en-US" altLang="en-US" b="1" dirty="0"/>
              <a:t>Operational - </a:t>
            </a:r>
            <a:r>
              <a:rPr lang="en-US" altLang="en-US" dirty="0"/>
              <a:t>Suitable information available</a:t>
            </a:r>
          </a:p>
          <a:p>
            <a:pPr>
              <a:defRPr/>
            </a:pPr>
            <a:r>
              <a:rPr lang="en-US" altLang="en-US" b="1" dirty="0"/>
              <a:t>Understandable- </a:t>
            </a:r>
            <a:r>
              <a:rPr lang="en-US" altLang="en-US" dirty="0"/>
              <a:t>Readily understood and easily communicated</a:t>
            </a:r>
          </a:p>
        </p:txBody>
      </p:sp>
    </p:spTree>
    <p:extLst>
      <p:ext uri="{BB962C8B-B14F-4D97-AF65-F5344CB8AC3E}">
        <p14:creationId xmlns:p14="http://schemas.microsoft.com/office/powerpoint/2010/main" val="944645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Effect transition="in" filter="fade">
                                      <p:cBhvr>
                                        <p:cTn id="15" dur="500"/>
                                        <p:tgtEl>
                                          <p:spTgt spid="3">
                                            <p:txEl>
                                              <p:pRg st="4" end="4"/>
                                            </p:txEl>
                                          </p:spTgt>
                                        </p:tgtEl>
                                      </p:cBhvr>
                                    </p:animEffect>
                                  </p:childTnLst>
                                </p:cTn>
                              </p:par>
                              <p:par>
                                <p:cTn id="16" presetID="1"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6B5E5-18AB-4966-B36A-2254E0DAD242}"/>
              </a:ext>
            </a:extLst>
          </p:cNvPr>
          <p:cNvSpPr>
            <a:spLocks noGrp="1"/>
          </p:cNvSpPr>
          <p:nvPr>
            <p:ph type="title"/>
          </p:nvPr>
        </p:nvSpPr>
        <p:spPr>
          <a:xfrm>
            <a:off x="838200" y="465709"/>
            <a:ext cx="10515600" cy="1325563"/>
          </a:xfrm>
        </p:spPr>
        <p:txBody>
          <a:bodyPr/>
          <a:lstStyle/>
          <a:p>
            <a:r>
              <a:rPr lang="en-US" dirty="0"/>
              <a:t>4. </a:t>
            </a:r>
            <a:r>
              <a:rPr lang="en-US" dirty="0">
                <a:solidFill>
                  <a:schemeClr val="dk1"/>
                </a:solidFill>
              </a:rPr>
              <a:t>Create measurable attributes </a:t>
            </a:r>
            <a:r>
              <a:rPr lang="en-US" dirty="0"/>
              <a:t>(the units)</a:t>
            </a:r>
          </a:p>
        </p:txBody>
      </p:sp>
      <p:sp>
        <p:nvSpPr>
          <p:cNvPr id="3" name="Content Placeholder 2">
            <a:extLst>
              <a:ext uri="{FF2B5EF4-FFF2-40B4-BE49-F238E27FC236}">
                <a16:creationId xmlns:a16="http://schemas.microsoft.com/office/drawing/2014/main" id="{8116996A-3732-11E8-30CE-BA80AE0776CA}"/>
              </a:ext>
            </a:extLst>
          </p:cNvPr>
          <p:cNvSpPr>
            <a:spLocks noGrp="1"/>
          </p:cNvSpPr>
          <p:nvPr>
            <p:ph idx="1"/>
          </p:nvPr>
        </p:nvSpPr>
        <p:spPr>
          <a:xfrm>
            <a:off x="1114875" y="1477679"/>
            <a:ext cx="10346436" cy="5562092"/>
          </a:xfrm>
        </p:spPr>
        <p:txBody>
          <a:bodyPr vert="horz" lIns="91440" tIns="45720" rIns="91440" bIns="45720" rtlCol="0" anchor="t">
            <a:normAutofit fontScale="85000" lnSpcReduction="10000"/>
          </a:bodyPr>
          <a:lstStyle/>
          <a:p>
            <a:pPr marL="342900" marR="0" lvl="0" indent="-342900" algn="l" defTabSz="914400" rtl="0" eaLnBrk="1" fontAlgn="auto" latinLnBrk="0" hangingPunct="1">
              <a:lnSpc>
                <a:spcPct val="100000"/>
              </a:lnSpc>
              <a:spcBef>
                <a:spcPct val="20000"/>
              </a:spcBef>
              <a:spcAft>
                <a:spcPts val="0"/>
              </a:spcAft>
              <a:buClrTx/>
              <a:buSzTx/>
              <a:buFont typeface="Wingdings 2" pitchFamily="18" charset="2"/>
              <a:buNone/>
              <a:tabLst/>
              <a:defRPr/>
            </a:pPr>
            <a:r>
              <a:rPr kumimoji="0" lang="en-US" b="0" i="0" u="none" strike="noStrike" kern="1200" cap="none" spc="0" normalizeH="0" baseline="0" noProof="0" dirty="0">
                <a:ln>
                  <a:noFill/>
                </a:ln>
                <a:solidFill>
                  <a:srgbClr val="000000"/>
                </a:solidFill>
                <a:effectLst/>
                <a:uLnTx/>
                <a:uFillTx/>
                <a:ea typeface="+mn-ea"/>
                <a:cs typeface="+mn-cs"/>
              </a:rPr>
              <a:t>Attributes measure performance and is used to:</a:t>
            </a:r>
          </a:p>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ea typeface="+mn-ea"/>
                <a:cs typeface="+mn-cs"/>
              </a:rPr>
              <a:t>Predict (in advance of the decision) how a given decision will lead to measurable outcomes</a:t>
            </a:r>
          </a:p>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ea typeface="+mn-ea"/>
                <a:cs typeface="+mn-cs"/>
              </a:rPr>
              <a:t>Compare realized objective outcomes to predicted outcomes after decision implementation</a:t>
            </a:r>
          </a:p>
          <a:p>
            <a:pPr marL="0" marR="0" lvl="0" indent="0" algn="l" defTabSz="914400" rtl="0" eaLnBrk="1" fontAlgn="auto" latinLnBrk="0" hangingPunct="1">
              <a:lnSpc>
                <a:spcPct val="100000"/>
              </a:lnSpc>
              <a:spcBef>
                <a:spcPct val="20000"/>
              </a:spcBef>
              <a:spcAft>
                <a:spcPts val="0"/>
              </a:spcAft>
              <a:buClrTx/>
              <a:buSzTx/>
              <a:buNone/>
              <a:tabLst/>
              <a:defRPr/>
            </a:pPr>
            <a:endParaRPr kumimoji="0" lang="en-US" sz="2400" b="0" i="0" u="none" strike="noStrike" kern="1200" cap="none" spc="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000000"/>
                </a:solidFill>
                <a:effectLst/>
                <a:uLnTx/>
                <a:uFillTx/>
                <a:ea typeface="+mn-ea"/>
                <a:cs typeface="+mn-cs"/>
              </a:rPr>
              <a:t>Attribute scales: </a:t>
            </a: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srgbClr val="000000"/>
                </a:solidFill>
                <a:effectLst/>
                <a:uLnTx/>
                <a:uFillTx/>
                <a:ea typeface="ＭＳ Ｐゴシック" charset="0"/>
                <a:cs typeface="+mn-cs"/>
              </a:rPr>
              <a:t>1. Natural scale </a:t>
            </a:r>
          </a:p>
          <a:p>
            <a:pPr marL="742950" marR="0" lvl="1"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
              <a:tabLst/>
              <a:defRPr/>
            </a:pPr>
            <a:r>
              <a:rPr kumimoji="0" lang="en-US" b="0" i="0" u="none" strike="noStrike" kern="1200" cap="none" spc="0" normalizeH="0" baseline="0" noProof="0" dirty="0">
                <a:ln>
                  <a:noFill/>
                </a:ln>
                <a:solidFill>
                  <a:srgbClr val="000000"/>
                </a:solidFill>
                <a:effectLst/>
                <a:uLnTx/>
                <a:uFillTx/>
                <a:ea typeface="ＭＳ Ｐゴシック" charset="0"/>
                <a:cs typeface="+mn-cs"/>
              </a:rPr>
              <a:t>Objective can be directly measured</a:t>
            </a:r>
          </a:p>
          <a:p>
            <a:pPr marL="742950" marR="0" lvl="1"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
              <a:tabLst/>
              <a:defRPr/>
            </a:pPr>
            <a:r>
              <a:rPr kumimoji="0" lang="en-US" b="0" i="0" u="none" strike="noStrike" kern="1200" cap="none" spc="0" normalizeH="0" baseline="0" noProof="0" dirty="0">
                <a:ln>
                  <a:noFill/>
                </a:ln>
                <a:solidFill>
                  <a:srgbClr val="000000"/>
                </a:solidFill>
                <a:effectLst/>
                <a:uLnTx/>
                <a:uFillTx/>
                <a:ea typeface="ＭＳ Ｐゴシック"/>
                <a:cs typeface="+mn-cs"/>
              </a:rPr>
              <a:t>Example: $ </a:t>
            </a:r>
            <a:r>
              <a:rPr kumimoji="0" lang="en-US" b="0" u="none" strike="noStrike" kern="1200" cap="none" spc="0" normalizeH="0" baseline="0" noProof="0" dirty="0">
                <a:ln>
                  <a:noFill/>
                </a:ln>
                <a:solidFill>
                  <a:srgbClr val="000000"/>
                </a:solidFill>
                <a:effectLst/>
                <a:uLnTx/>
                <a:uFillTx/>
                <a:ea typeface="ＭＳ Ｐゴシック"/>
                <a:cs typeface="+mn-cs"/>
              </a:rPr>
              <a:t>for</a:t>
            </a:r>
            <a:r>
              <a:rPr kumimoji="0" lang="en-US" b="0" i="0" u="none" strike="noStrike" kern="1200" cap="none" spc="0" normalizeH="0" baseline="0" noProof="0" dirty="0">
                <a:ln>
                  <a:noFill/>
                </a:ln>
                <a:solidFill>
                  <a:srgbClr val="000000"/>
                </a:solidFill>
                <a:effectLst/>
                <a:uLnTx/>
                <a:uFillTx/>
                <a:ea typeface="ＭＳ Ｐゴシック"/>
                <a:cs typeface="+mn-cs"/>
              </a:rPr>
              <a:t> cost	</a:t>
            </a:r>
            <a:endParaRPr lang="en-US" b="0" i="0" u="none" strike="noStrike" kern="1200" cap="none" spc="0" normalizeH="0" baseline="0" noProof="0" dirty="0">
              <a:ln>
                <a:noFill/>
              </a:ln>
              <a:solidFill>
                <a:srgbClr val="000000"/>
              </a:solidFill>
              <a:effectLst/>
              <a:uLnTx/>
              <a:uFillTx/>
              <a:ea typeface="ＭＳ Ｐゴシック"/>
              <a:cs typeface="Calibri"/>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srgbClr val="000000"/>
                </a:solidFill>
                <a:effectLst/>
                <a:uLnTx/>
                <a:uFillTx/>
                <a:ea typeface="ＭＳ Ｐゴシック" charset="0"/>
                <a:cs typeface="ＭＳ Ｐゴシック" charset="0"/>
              </a:rPr>
              <a:t>2. Constructed scale</a:t>
            </a:r>
          </a:p>
          <a:p>
            <a:pPr marL="742950" marR="0" lvl="1"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
              <a:tabLst/>
              <a:defRPr/>
            </a:pPr>
            <a:r>
              <a:rPr kumimoji="0" lang="en-US" b="0" i="0" u="none" strike="noStrike" kern="1200" cap="none" spc="0" normalizeH="0" baseline="0" noProof="0" dirty="0">
                <a:ln>
                  <a:noFill/>
                </a:ln>
                <a:solidFill>
                  <a:srgbClr val="000000"/>
                </a:solidFill>
                <a:effectLst/>
                <a:uLnTx/>
                <a:uFillTx/>
                <a:ea typeface="ＭＳ Ｐゴシック" charset="0"/>
                <a:cs typeface="+mn-cs"/>
              </a:rPr>
              <a:t>Sliding or relative scale requiring interpretation   </a:t>
            </a:r>
          </a:p>
          <a:p>
            <a:pPr marL="742950" marR="0" lvl="1"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
              <a:tabLst/>
              <a:defRPr/>
            </a:pPr>
            <a:r>
              <a:rPr kumimoji="0" lang="en-US" b="0" i="0" u="none" strike="noStrike" kern="1200" cap="none" spc="0" normalizeH="0" baseline="0" noProof="0" dirty="0">
                <a:ln>
                  <a:noFill/>
                </a:ln>
                <a:solidFill>
                  <a:srgbClr val="000000"/>
                </a:solidFill>
                <a:effectLst/>
                <a:uLnTx/>
                <a:uFillTx/>
                <a:ea typeface="ＭＳ Ｐゴシック" charset="0"/>
                <a:cs typeface="+mn-cs"/>
              </a:rPr>
              <a:t>Example: Likert scale (5 = very satisfied…1 = very unsatisfied) </a:t>
            </a:r>
            <a:r>
              <a:rPr kumimoji="0" lang="en-US" b="0" i="1" u="none" strike="noStrike" kern="1200" cap="none" spc="0" normalizeH="0" baseline="0" noProof="0" dirty="0">
                <a:ln>
                  <a:noFill/>
                </a:ln>
                <a:solidFill>
                  <a:srgbClr val="000000"/>
                </a:solidFill>
                <a:effectLst/>
                <a:uLnTx/>
                <a:uFillTx/>
                <a:ea typeface="ＭＳ Ｐゴシック" charset="0"/>
                <a:cs typeface="+mn-cs"/>
              </a:rPr>
              <a:t>for</a:t>
            </a:r>
            <a:r>
              <a:rPr kumimoji="0" lang="en-US" b="0" i="0" u="none" strike="noStrike" kern="1200" cap="none" spc="0" normalizeH="0" baseline="0" noProof="0" dirty="0">
                <a:ln>
                  <a:noFill/>
                </a:ln>
                <a:solidFill>
                  <a:srgbClr val="000000"/>
                </a:solidFill>
                <a:effectLst/>
                <a:uLnTx/>
                <a:uFillTx/>
                <a:ea typeface="ＭＳ Ｐゴシック" charset="0"/>
                <a:cs typeface="+mn-cs"/>
              </a:rPr>
              <a:t> fisher satisfaction</a:t>
            </a:r>
            <a:endParaRPr kumimoji="0" lang="en-US" b="0" i="0" u="none" strike="noStrike" kern="1200" cap="none" spc="0" normalizeH="0" baseline="0" noProof="0" dirty="0">
              <a:ln>
                <a:noFill/>
              </a:ln>
              <a:solidFill>
                <a:srgbClr val="000000"/>
              </a:solidFill>
              <a:effectLst/>
              <a:uLnTx/>
              <a:uFillTx/>
              <a:ea typeface="ＭＳ Ｐゴシック" charset="0"/>
              <a:cs typeface="ＭＳ Ｐゴシック" charset="0"/>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srgbClr val="000000"/>
                </a:solidFill>
                <a:effectLst/>
                <a:uLnTx/>
                <a:uFillTx/>
                <a:ea typeface="ＭＳ Ｐゴシック" charset="0"/>
                <a:cs typeface="ＭＳ Ｐゴシック" charset="0"/>
              </a:rPr>
              <a:t>3. Proxy scale</a:t>
            </a:r>
          </a:p>
          <a:p>
            <a:pPr marL="742950" marR="0" lvl="1"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
              <a:tabLst/>
              <a:defRPr/>
            </a:pPr>
            <a:r>
              <a:rPr kumimoji="0" lang="en-US" b="0" i="0" u="none" strike="noStrike" kern="1200" cap="none" spc="0" normalizeH="0" baseline="0" noProof="0" dirty="0">
                <a:ln>
                  <a:noFill/>
                </a:ln>
                <a:solidFill>
                  <a:srgbClr val="000000"/>
                </a:solidFill>
                <a:effectLst/>
                <a:uLnTx/>
                <a:uFillTx/>
                <a:ea typeface="ＭＳ Ｐゴシック" charset="0"/>
                <a:cs typeface="+mn-cs"/>
              </a:rPr>
              <a:t>Natural attribute that is highly correlated with the objective, but does not directly measure</a:t>
            </a:r>
          </a:p>
          <a:p>
            <a:pPr marL="742950" marR="0" lvl="1" indent="-285750" algn="l" defTabSz="914400" rtl="0" eaLnBrk="1" fontAlgn="auto" latinLnBrk="0" hangingPunct="1">
              <a:lnSpc>
                <a:spcPct val="100000"/>
              </a:lnSpc>
              <a:spcBef>
                <a:spcPct val="20000"/>
              </a:spcBef>
              <a:spcAft>
                <a:spcPts val="0"/>
              </a:spcAft>
              <a:buClrTx/>
              <a:buSzTx/>
              <a:buFont typeface="Wingdings" panose="05000000000000000000" pitchFamily="2" charset="2"/>
              <a:buChar char="§"/>
              <a:tabLst/>
              <a:defRPr/>
            </a:pPr>
            <a:r>
              <a:rPr kumimoji="0" lang="en-US" b="0" i="0" u="none" strike="noStrike" kern="1200" cap="none" spc="0" normalizeH="0" baseline="0" noProof="0" dirty="0">
                <a:ln>
                  <a:noFill/>
                </a:ln>
                <a:solidFill>
                  <a:srgbClr val="000000"/>
                </a:solidFill>
                <a:effectLst/>
                <a:uLnTx/>
                <a:uFillTx/>
                <a:ea typeface="ＭＳ Ｐゴシック" charset="0"/>
                <a:cs typeface="+mn-cs"/>
              </a:rPr>
              <a:t>Example: % of natural range preserved </a:t>
            </a:r>
            <a:r>
              <a:rPr kumimoji="0" lang="en-US" b="0" i="1" u="none" strike="noStrike" kern="1200" cap="none" spc="0" normalizeH="0" baseline="0" noProof="0" dirty="0">
                <a:ln>
                  <a:noFill/>
                </a:ln>
                <a:solidFill>
                  <a:srgbClr val="000000"/>
                </a:solidFill>
                <a:effectLst/>
                <a:uLnTx/>
                <a:uFillTx/>
                <a:ea typeface="ＭＳ Ｐゴシック" charset="0"/>
                <a:cs typeface="+mn-cs"/>
              </a:rPr>
              <a:t>for</a:t>
            </a:r>
            <a:r>
              <a:rPr kumimoji="0" lang="en-US" b="0" i="0" u="none" strike="noStrike" kern="1200" cap="none" spc="0" normalizeH="0" baseline="0" noProof="0" dirty="0">
                <a:ln>
                  <a:noFill/>
                </a:ln>
                <a:solidFill>
                  <a:srgbClr val="000000"/>
                </a:solidFill>
                <a:effectLst/>
                <a:uLnTx/>
                <a:uFillTx/>
                <a:ea typeface="ＭＳ Ｐゴシック" charset="0"/>
                <a:cs typeface="+mn-cs"/>
              </a:rPr>
              <a:t> species genetic diversity </a:t>
            </a:r>
          </a:p>
          <a:p>
            <a:endParaRPr lang="en-US" sz="3600" dirty="0"/>
          </a:p>
        </p:txBody>
      </p:sp>
      <p:pic>
        <p:nvPicPr>
          <p:cNvPr id="6" name="Graphic 5" descr="Dollar with solid fill">
            <a:extLst>
              <a:ext uri="{FF2B5EF4-FFF2-40B4-BE49-F238E27FC236}">
                <a16:creationId xmlns:a16="http://schemas.microsoft.com/office/drawing/2014/main" id="{7FF8AA56-0F94-AD79-4E6B-113760C65F9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73489" y="3344325"/>
            <a:ext cx="914400" cy="914400"/>
          </a:xfrm>
          <a:prstGeom prst="rect">
            <a:avLst/>
          </a:prstGeom>
        </p:spPr>
      </p:pic>
      <p:pic>
        <p:nvPicPr>
          <p:cNvPr id="8" name="Graphic 7" descr="Pyramid with levels with solid fill">
            <a:extLst>
              <a:ext uri="{FF2B5EF4-FFF2-40B4-BE49-F238E27FC236}">
                <a16:creationId xmlns:a16="http://schemas.microsoft.com/office/drawing/2014/main" id="{C00E2F72-379F-92CB-67C3-8CD73103B4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3489" y="4201448"/>
            <a:ext cx="914400" cy="914400"/>
          </a:xfrm>
          <a:prstGeom prst="rect">
            <a:avLst/>
          </a:prstGeom>
        </p:spPr>
      </p:pic>
      <p:pic>
        <p:nvPicPr>
          <p:cNvPr id="10" name="Graphic 9" descr="Hill scene with solid fill">
            <a:extLst>
              <a:ext uri="{FF2B5EF4-FFF2-40B4-BE49-F238E27FC236}">
                <a16:creationId xmlns:a16="http://schemas.microsoft.com/office/drawing/2014/main" id="{5276B0BB-49A9-F5D1-1880-83D5CAE8D86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73489" y="5270695"/>
            <a:ext cx="914400" cy="914400"/>
          </a:xfrm>
          <a:prstGeom prst="rect">
            <a:avLst/>
          </a:prstGeom>
        </p:spPr>
      </p:pic>
      <p:sp>
        <p:nvSpPr>
          <p:cNvPr id="4" name="TextBox 3">
            <a:extLst>
              <a:ext uri="{FF2B5EF4-FFF2-40B4-BE49-F238E27FC236}">
                <a16:creationId xmlns:a16="http://schemas.microsoft.com/office/drawing/2014/main" id="{3E954AA9-8BBE-104A-3806-B8435AEF75EC}"/>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5" name="Rectangle 4">
            <a:extLst>
              <a:ext uri="{FF2B5EF4-FFF2-40B4-BE49-F238E27FC236}">
                <a16:creationId xmlns:a16="http://schemas.microsoft.com/office/drawing/2014/main" id="{2634D187-49EB-1C8D-D649-D8B1A11EA7C5}"/>
              </a:ext>
            </a:extLst>
          </p:cNvPr>
          <p:cNvSpPr/>
          <p:nvPr/>
        </p:nvSpPr>
        <p:spPr>
          <a:xfrm>
            <a:off x="144379" y="2803242"/>
            <a:ext cx="11566358" cy="3462063"/>
          </a:xfrm>
          <a:prstGeom prst="rect">
            <a:avLst/>
          </a:prstGeom>
          <a:no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20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2" end="1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3" end="13"/>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B8CC0-1842-F943-ED95-B327EFAE46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401AF0-BDA2-3AD4-4217-2BE8BFA35994}"/>
              </a:ext>
            </a:extLst>
          </p:cNvPr>
          <p:cNvSpPr>
            <a:spLocks noGrp="1"/>
          </p:cNvSpPr>
          <p:nvPr>
            <p:ph type="title"/>
          </p:nvPr>
        </p:nvSpPr>
        <p:spPr>
          <a:xfrm>
            <a:off x="838200" y="465709"/>
            <a:ext cx="10515600" cy="1325563"/>
          </a:xfrm>
        </p:spPr>
        <p:txBody>
          <a:bodyPr/>
          <a:lstStyle/>
          <a:p>
            <a:r>
              <a:rPr lang="en-US" dirty="0"/>
              <a:t>4. </a:t>
            </a:r>
            <a:r>
              <a:rPr lang="en-US" dirty="0">
                <a:solidFill>
                  <a:schemeClr val="dk1"/>
                </a:solidFill>
              </a:rPr>
              <a:t>Create measurable attributes </a:t>
            </a:r>
            <a:r>
              <a:rPr lang="en-US" dirty="0"/>
              <a:t>(the units)</a:t>
            </a:r>
          </a:p>
        </p:txBody>
      </p:sp>
      <p:sp>
        <p:nvSpPr>
          <p:cNvPr id="4" name="TextBox 3">
            <a:extLst>
              <a:ext uri="{FF2B5EF4-FFF2-40B4-BE49-F238E27FC236}">
                <a16:creationId xmlns:a16="http://schemas.microsoft.com/office/drawing/2014/main" id="{682EEA38-3C65-98BC-757E-2637DE9C7EA6}"/>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11" name="Title 2">
            <a:extLst>
              <a:ext uri="{FF2B5EF4-FFF2-40B4-BE49-F238E27FC236}">
                <a16:creationId xmlns:a16="http://schemas.microsoft.com/office/drawing/2014/main" id="{742C975E-8E1B-5FF3-631D-B2A8A58DA5C7}"/>
              </a:ext>
            </a:extLst>
          </p:cNvPr>
          <p:cNvSpPr txBox="1">
            <a:spLocks/>
          </p:cNvSpPr>
          <p:nvPr/>
        </p:nvSpPr>
        <p:spPr>
          <a:xfrm>
            <a:off x="1828800" y="1432592"/>
            <a:ext cx="9144000" cy="1254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sz="3200" dirty="0">
                <a:ea typeface="ＭＳ Ｐゴシック" charset="0"/>
                <a:cs typeface="ＭＳ Ｐゴシック" charset="0"/>
              </a:rPr>
              <a:t>Constructed attributes – Example 1</a:t>
            </a:r>
            <a:r>
              <a:rPr lang="en-US" sz="3600" dirty="0">
                <a:ea typeface="ＭＳ Ｐゴシック" charset="0"/>
                <a:cs typeface="ＭＳ Ｐゴシック" charset="0"/>
              </a:rPr>
              <a:t> </a:t>
            </a:r>
            <a:endParaRPr lang="en-US" sz="3200" dirty="0">
              <a:ea typeface="ＭＳ Ｐゴシック" charset="0"/>
              <a:cs typeface="ＭＳ Ｐゴシック" charset="0"/>
            </a:endParaRPr>
          </a:p>
        </p:txBody>
      </p:sp>
      <p:sp>
        <p:nvSpPr>
          <p:cNvPr id="12" name="Content Placeholder 1">
            <a:extLst>
              <a:ext uri="{FF2B5EF4-FFF2-40B4-BE49-F238E27FC236}">
                <a16:creationId xmlns:a16="http://schemas.microsoft.com/office/drawing/2014/main" id="{B9FE2CAE-12AE-A582-B6E1-2049831B1AEE}"/>
              </a:ext>
            </a:extLst>
          </p:cNvPr>
          <p:cNvSpPr>
            <a:spLocks noGrp="1"/>
          </p:cNvSpPr>
          <p:nvPr>
            <p:ph idx="1"/>
          </p:nvPr>
        </p:nvSpPr>
        <p:spPr>
          <a:xfrm>
            <a:off x="1447800" y="2370879"/>
            <a:ext cx="8686800" cy="3676996"/>
          </a:xfrm>
        </p:spPr>
        <p:txBody>
          <a:bodyPr>
            <a:normAutofit lnSpcReduction="10000"/>
          </a:bodyPr>
          <a:lstStyle/>
          <a:p>
            <a:pPr marL="0" indent="0">
              <a:spcBef>
                <a:spcPts val="1200"/>
              </a:spcBef>
              <a:buNone/>
            </a:pPr>
            <a:r>
              <a:rPr lang="en-US" sz="3000" dirty="0">
                <a:solidFill>
                  <a:schemeClr val="tx1"/>
                </a:solidFill>
                <a:ea typeface="MS PGothic" charset="0"/>
              </a:rPr>
              <a:t>Objective: Minimize Wetland Development Impacts:</a:t>
            </a:r>
            <a:endParaRPr lang="en-US" dirty="0">
              <a:solidFill>
                <a:schemeClr val="tx1"/>
              </a:solidFill>
              <a:latin typeface="+mn-lt"/>
              <a:ea typeface="MS PGothic" charset="0"/>
            </a:endParaRPr>
          </a:p>
          <a:p>
            <a:pPr marL="457200" indent="-457200">
              <a:spcBef>
                <a:spcPts val="1200"/>
              </a:spcBef>
              <a:buNone/>
            </a:pPr>
            <a:r>
              <a:rPr lang="en-US" sz="2600" b="1" dirty="0">
                <a:solidFill>
                  <a:schemeClr val="tx1"/>
                </a:solidFill>
                <a:ea typeface="MS PGothic" charset="0"/>
              </a:rPr>
              <a:t>         </a:t>
            </a:r>
            <a:r>
              <a:rPr lang="en-US" sz="2600" b="1" u="sng" dirty="0">
                <a:solidFill>
                  <a:schemeClr val="tx1"/>
                </a:solidFill>
                <a:ea typeface="MS PGothic" charset="0"/>
              </a:rPr>
              <a:t>Development impacts (scale 0-5)</a:t>
            </a:r>
            <a:endParaRPr lang="en-US" b="1" u="sng" dirty="0">
              <a:solidFill>
                <a:schemeClr val="tx1"/>
              </a:solidFill>
              <a:latin typeface="+mn-lt"/>
              <a:ea typeface="MS PGothic" charset="0"/>
            </a:endParaRPr>
          </a:p>
          <a:p>
            <a:pPr marL="457200" indent="-457200">
              <a:spcBef>
                <a:spcPts val="1200"/>
              </a:spcBef>
              <a:buNone/>
            </a:pPr>
            <a:r>
              <a:rPr lang="en-US" sz="2200" b="1" dirty="0">
                <a:solidFill>
                  <a:schemeClr val="tx1"/>
                </a:solidFill>
                <a:ea typeface="MS PGothic" charset="0"/>
              </a:rPr>
              <a:t>0 </a:t>
            </a:r>
            <a:r>
              <a:rPr lang="en-US" sz="2200" dirty="0">
                <a:solidFill>
                  <a:schemeClr val="tx1"/>
                </a:solidFill>
                <a:ea typeface="MS PGothic" charset="0"/>
              </a:rPr>
              <a:t> 	No loss of riparian areas and ≥ 300 acres estuary restored </a:t>
            </a:r>
          </a:p>
          <a:p>
            <a:pPr marL="457200" indent="-457200">
              <a:spcBef>
                <a:spcPts val="1200"/>
              </a:spcBef>
              <a:buNone/>
            </a:pPr>
            <a:r>
              <a:rPr lang="en-US" sz="2200" b="1" dirty="0">
                <a:solidFill>
                  <a:schemeClr val="tx1"/>
                </a:solidFill>
                <a:ea typeface="MS PGothic" charset="0"/>
              </a:rPr>
              <a:t>1</a:t>
            </a:r>
            <a:r>
              <a:rPr lang="en-US" sz="2200" dirty="0">
                <a:solidFill>
                  <a:schemeClr val="tx1"/>
                </a:solidFill>
                <a:ea typeface="MS PGothic" charset="0"/>
              </a:rPr>
              <a:t>  	No loss of riparian areas and &lt; 300 acres estuary restored</a:t>
            </a:r>
          </a:p>
          <a:p>
            <a:pPr marL="457200" indent="-457200">
              <a:spcBef>
                <a:spcPts val="1200"/>
              </a:spcBef>
              <a:buNone/>
            </a:pPr>
            <a:r>
              <a:rPr lang="en-US" sz="2200" b="1" dirty="0">
                <a:solidFill>
                  <a:schemeClr val="tx1"/>
                </a:solidFill>
                <a:ea typeface="MS PGothic" charset="0"/>
              </a:rPr>
              <a:t>2 </a:t>
            </a:r>
            <a:r>
              <a:rPr lang="en-US" sz="2200" dirty="0">
                <a:solidFill>
                  <a:schemeClr val="tx1"/>
                </a:solidFill>
                <a:ea typeface="MS PGothic" charset="0"/>
              </a:rPr>
              <a:t> 	No loss of riparian areas and no loss of estuary</a:t>
            </a:r>
          </a:p>
          <a:p>
            <a:pPr marL="457200" indent="-457200">
              <a:spcBef>
                <a:spcPts val="1200"/>
              </a:spcBef>
              <a:buNone/>
            </a:pPr>
            <a:r>
              <a:rPr lang="en-US" sz="2200" b="1" dirty="0">
                <a:solidFill>
                  <a:schemeClr val="tx1"/>
                </a:solidFill>
                <a:ea typeface="MS PGothic" charset="0"/>
              </a:rPr>
              <a:t>3</a:t>
            </a:r>
            <a:r>
              <a:rPr lang="en-US" sz="2200" dirty="0">
                <a:solidFill>
                  <a:schemeClr val="tx1"/>
                </a:solidFill>
                <a:ea typeface="MS PGothic" charset="0"/>
              </a:rPr>
              <a:t>  	Loss of &lt; 300 acres riparian area and &lt; 300 acres of estuary</a:t>
            </a:r>
          </a:p>
          <a:p>
            <a:pPr marL="457200" indent="-457200">
              <a:spcBef>
                <a:spcPts val="1200"/>
              </a:spcBef>
              <a:buNone/>
            </a:pPr>
            <a:r>
              <a:rPr lang="en-US" sz="2200" b="1" dirty="0">
                <a:solidFill>
                  <a:schemeClr val="tx1"/>
                </a:solidFill>
                <a:ea typeface="MS PGothic" charset="0"/>
              </a:rPr>
              <a:t>4 </a:t>
            </a:r>
            <a:r>
              <a:rPr lang="en-US" sz="2200" dirty="0">
                <a:solidFill>
                  <a:schemeClr val="tx1"/>
                </a:solidFill>
                <a:ea typeface="MS PGothic" charset="0"/>
              </a:rPr>
              <a:t> 	Loss of &lt; 300 acres riparian area and ≥ 300 acres of estuary</a:t>
            </a:r>
          </a:p>
          <a:p>
            <a:pPr marL="457200" indent="-457200">
              <a:spcBef>
                <a:spcPts val="1200"/>
              </a:spcBef>
              <a:buNone/>
            </a:pPr>
            <a:r>
              <a:rPr lang="en-US" sz="2200" b="1" dirty="0">
                <a:solidFill>
                  <a:schemeClr val="tx1"/>
                </a:solidFill>
                <a:ea typeface="MS PGothic" charset="0"/>
              </a:rPr>
              <a:t>5</a:t>
            </a:r>
            <a:r>
              <a:rPr lang="en-US" sz="2200" dirty="0">
                <a:solidFill>
                  <a:schemeClr val="tx1"/>
                </a:solidFill>
                <a:ea typeface="MS PGothic" charset="0"/>
              </a:rPr>
              <a:t>  	Loss of ≥ 300 acres riparian area and ≥ 300 acres of estuary</a:t>
            </a:r>
          </a:p>
        </p:txBody>
      </p:sp>
      <p:sp>
        <p:nvSpPr>
          <p:cNvPr id="3" name="Rectangle 2">
            <a:extLst>
              <a:ext uri="{FF2B5EF4-FFF2-40B4-BE49-F238E27FC236}">
                <a16:creationId xmlns:a16="http://schemas.microsoft.com/office/drawing/2014/main" id="{BEC3AD04-B98C-CEB4-329B-BEE07637541A}"/>
              </a:ext>
            </a:extLst>
          </p:cNvPr>
          <p:cNvSpPr/>
          <p:nvPr/>
        </p:nvSpPr>
        <p:spPr>
          <a:xfrm>
            <a:off x="1233889" y="2370879"/>
            <a:ext cx="8686800" cy="3589246"/>
          </a:xfrm>
          <a:prstGeom prst="rect">
            <a:avLst/>
          </a:prstGeom>
          <a:noFill/>
          <a:ln w="76200">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1700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54D80-1D85-532D-C91B-BB704FC2DD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A8D359-BF9E-44AF-D4B4-53493EB4C6D8}"/>
              </a:ext>
            </a:extLst>
          </p:cNvPr>
          <p:cNvSpPr>
            <a:spLocks noGrp="1"/>
          </p:cNvSpPr>
          <p:nvPr>
            <p:ph type="title"/>
          </p:nvPr>
        </p:nvSpPr>
        <p:spPr>
          <a:xfrm>
            <a:off x="838200" y="465709"/>
            <a:ext cx="10515600" cy="1325563"/>
          </a:xfrm>
        </p:spPr>
        <p:txBody>
          <a:bodyPr/>
          <a:lstStyle/>
          <a:p>
            <a:r>
              <a:rPr lang="en-US" dirty="0"/>
              <a:t>4. </a:t>
            </a:r>
            <a:r>
              <a:rPr lang="en-US" dirty="0">
                <a:solidFill>
                  <a:schemeClr val="dk1"/>
                </a:solidFill>
              </a:rPr>
              <a:t>Create measurable attributes </a:t>
            </a:r>
            <a:r>
              <a:rPr lang="en-US" dirty="0"/>
              <a:t>(the units)</a:t>
            </a:r>
          </a:p>
        </p:txBody>
      </p:sp>
      <p:sp>
        <p:nvSpPr>
          <p:cNvPr id="4" name="TextBox 3">
            <a:extLst>
              <a:ext uri="{FF2B5EF4-FFF2-40B4-BE49-F238E27FC236}">
                <a16:creationId xmlns:a16="http://schemas.microsoft.com/office/drawing/2014/main" id="{FC05DE2E-462E-8B4F-C17B-178309C31174}"/>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11" name="Title 2">
            <a:extLst>
              <a:ext uri="{FF2B5EF4-FFF2-40B4-BE49-F238E27FC236}">
                <a16:creationId xmlns:a16="http://schemas.microsoft.com/office/drawing/2014/main" id="{722E98A6-9E46-4F78-2228-70FAF14CC7A5}"/>
              </a:ext>
            </a:extLst>
          </p:cNvPr>
          <p:cNvSpPr txBox="1">
            <a:spLocks/>
          </p:cNvSpPr>
          <p:nvPr/>
        </p:nvSpPr>
        <p:spPr>
          <a:xfrm>
            <a:off x="1828800" y="1432592"/>
            <a:ext cx="9144000" cy="1254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sz="3200" dirty="0">
                <a:ea typeface="ＭＳ Ｐゴシック" charset="0"/>
                <a:cs typeface="ＭＳ Ｐゴシック" charset="0"/>
              </a:rPr>
              <a:t>Constructed attributes – Example 2</a:t>
            </a:r>
            <a:r>
              <a:rPr lang="en-US" sz="3600" dirty="0">
                <a:ea typeface="ＭＳ Ｐゴシック" charset="0"/>
                <a:cs typeface="ＭＳ Ｐゴシック" charset="0"/>
              </a:rPr>
              <a:t> </a:t>
            </a:r>
            <a:endParaRPr lang="en-US" sz="3200" dirty="0">
              <a:ea typeface="ＭＳ Ｐゴシック" charset="0"/>
              <a:cs typeface="ＭＳ Ｐゴシック" charset="0"/>
            </a:endParaRPr>
          </a:p>
        </p:txBody>
      </p:sp>
      <p:sp>
        <p:nvSpPr>
          <p:cNvPr id="6" name="Content Placeholder 1">
            <a:extLst>
              <a:ext uri="{FF2B5EF4-FFF2-40B4-BE49-F238E27FC236}">
                <a16:creationId xmlns:a16="http://schemas.microsoft.com/office/drawing/2014/main" id="{04EA326E-DE95-848D-11A9-56E9CC6A4A7F}"/>
              </a:ext>
            </a:extLst>
          </p:cNvPr>
          <p:cNvSpPr>
            <a:spLocks noGrp="1"/>
          </p:cNvSpPr>
          <p:nvPr>
            <p:ph idx="1"/>
          </p:nvPr>
        </p:nvSpPr>
        <p:spPr>
          <a:xfrm>
            <a:off x="838200" y="2403223"/>
            <a:ext cx="9753600" cy="3611987"/>
          </a:xfrm>
          <a:ln w="76200">
            <a:solidFill>
              <a:schemeClr val="accent5">
                <a:lumMod val="50000"/>
              </a:schemeClr>
            </a:solidFill>
          </a:ln>
        </p:spPr>
        <p:txBody>
          <a:bodyPr>
            <a:noAutofit/>
          </a:bodyPr>
          <a:lstStyle/>
          <a:p>
            <a:pPr marL="881063" lvl="1" indent="-457200">
              <a:buNone/>
              <a:defRPr/>
            </a:pPr>
            <a:r>
              <a:rPr lang="en-US" dirty="0">
                <a:ea typeface="ＭＳ Ｐゴシック" charset="0"/>
                <a:cs typeface="ＭＳ Ｐゴシック" charset="0"/>
              </a:rPr>
              <a:t>Infant APGAR scores : </a:t>
            </a:r>
          </a:p>
          <a:p>
            <a:pPr marL="1276350" lvl="2" indent="-361950">
              <a:buNone/>
              <a:defRPr/>
            </a:pPr>
            <a:r>
              <a:rPr lang="en-US" sz="2400" dirty="0">
                <a:ea typeface="ＭＳ Ｐゴシック" charset="0"/>
              </a:rPr>
              <a:t>1.  activity and muscle tone </a:t>
            </a:r>
          </a:p>
          <a:p>
            <a:pPr marL="1276350" lvl="2" indent="-361950">
              <a:buNone/>
              <a:defRPr/>
            </a:pPr>
            <a:r>
              <a:rPr lang="en-US" sz="2400" dirty="0">
                <a:ea typeface="ＭＳ Ｐゴシック" charset="0"/>
              </a:rPr>
              <a:t>2.  pulse (heart rate) </a:t>
            </a:r>
          </a:p>
          <a:p>
            <a:pPr marL="1276350" lvl="2" indent="-361950">
              <a:buNone/>
              <a:defRPr/>
            </a:pPr>
            <a:r>
              <a:rPr lang="en-US" sz="2400" dirty="0">
                <a:ea typeface="ＭＳ Ｐゴシック" charset="0"/>
              </a:rPr>
              <a:t>3.  grimace response ("reflex irritability") </a:t>
            </a:r>
          </a:p>
          <a:p>
            <a:pPr marL="1276350" lvl="2" indent="-361950">
              <a:buNone/>
              <a:defRPr/>
            </a:pPr>
            <a:r>
              <a:rPr lang="en-US" sz="2400" dirty="0">
                <a:ea typeface="ＭＳ Ｐゴシック" charset="0"/>
              </a:rPr>
              <a:t>4.  appearance (skin coloration) </a:t>
            </a:r>
          </a:p>
          <a:p>
            <a:pPr marL="1371600" lvl="2" indent="-457200">
              <a:buAutoNum type="arabicPeriod" startAt="5"/>
              <a:defRPr/>
            </a:pPr>
            <a:r>
              <a:rPr lang="en-US" sz="2400" dirty="0">
                <a:ea typeface="ＭＳ Ｐゴシック" charset="0"/>
              </a:rPr>
              <a:t>respiration (breathing rate and effort) </a:t>
            </a:r>
          </a:p>
          <a:p>
            <a:pPr marL="914400" lvl="2" indent="0">
              <a:buNone/>
              <a:defRPr/>
            </a:pPr>
            <a:endParaRPr lang="en-US" dirty="0">
              <a:ea typeface="ＭＳ Ｐゴシック" charset="0"/>
              <a:cs typeface="+mn-cs"/>
            </a:endParaRPr>
          </a:p>
          <a:p>
            <a:pPr marL="376238" indent="-400050">
              <a:buNone/>
              <a:defRPr/>
            </a:pPr>
            <a:r>
              <a:rPr lang="en-US" sz="2000" dirty="0">
                <a:ea typeface="ＭＳ Ｐゴシック" charset="0"/>
                <a:cs typeface="+mn-cs"/>
              </a:rPr>
              <a:t>Each is scored on a scale of 0 to 2.  </a:t>
            </a:r>
          </a:p>
          <a:p>
            <a:pPr marL="376238" indent="-400050">
              <a:buNone/>
              <a:defRPr/>
            </a:pPr>
            <a:r>
              <a:rPr lang="en-US" sz="2000" dirty="0">
                <a:ea typeface="ＭＳ Ｐゴシック" charset="0"/>
                <a:cs typeface="+mn-cs"/>
              </a:rPr>
              <a:t>Scores are added for the total APGAR score; &gt; 7 is a healthy baby</a:t>
            </a:r>
            <a:endParaRPr lang="en-US" sz="2000" dirty="0">
              <a:ea typeface="ＭＳ Ｐゴシック" charset="0"/>
            </a:endParaRPr>
          </a:p>
        </p:txBody>
      </p:sp>
    </p:spTree>
    <p:extLst>
      <p:ext uri="{BB962C8B-B14F-4D97-AF65-F5344CB8AC3E}">
        <p14:creationId xmlns:p14="http://schemas.microsoft.com/office/powerpoint/2010/main" val="547573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2E36A-4C6C-79BA-397C-3EAD54B146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80F1B-E16E-A677-D656-3B970ED50F55}"/>
              </a:ext>
            </a:extLst>
          </p:cNvPr>
          <p:cNvSpPr>
            <a:spLocks noGrp="1"/>
          </p:cNvSpPr>
          <p:nvPr>
            <p:ph type="title"/>
          </p:nvPr>
        </p:nvSpPr>
        <p:spPr>
          <a:xfrm>
            <a:off x="838200" y="465709"/>
            <a:ext cx="10515600" cy="1325563"/>
          </a:xfrm>
        </p:spPr>
        <p:txBody>
          <a:bodyPr/>
          <a:lstStyle/>
          <a:p>
            <a:r>
              <a:rPr lang="en-US" dirty="0"/>
              <a:t>4. </a:t>
            </a:r>
            <a:r>
              <a:rPr lang="en-US" dirty="0">
                <a:solidFill>
                  <a:schemeClr val="dk1"/>
                </a:solidFill>
              </a:rPr>
              <a:t>Create measurable attributes </a:t>
            </a:r>
            <a:r>
              <a:rPr lang="en-US" dirty="0"/>
              <a:t>(the units)</a:t>
            </a:r>
          </a:p>
        </p:txBody>
      </p:sp>
      <p:sp>
        <p:nvSpPr>
          <p:cNvPr id="4" name="TextBox 3">
            <a:extLst>
              <a:ext uri="{FF2B5EF4-FFF2-40B4-BE49-F238E27FC236}">
                <a16:creationId xmlns:a16="http://schemas.microsoft.com/office/drawing/2014/main" id="{44357236-A8BA-2705-C781-8C49B984AE6B}"/>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11" name="Title 2">
            <a:extLst>
              <a:ext uri="{FF2B5EF4-FFF2-40B4-BE49-F238E27FC236}">
                <a16:creationId xmlns:a16="http://schemas.microsoft.com/office/drawing/2014/main" id="{135BB315-6C9E-6B72-166F-8F28255E21D2}"/>
              </a:ext>
            </a:extLst>
          </p:cNvPr>
          <p:cNvSpPr txBox="1">
            <a:spLocks/>
          </p:cNvSpPr>
          <p:nvPr/>
        </p:nvSpPr>
        <p:spPr>
          <a:xfrm>
            <a:off x="1828800" y="1432592"/>
            <a:ext cx="9144000" cy="1254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sz="3200" dirty="0">
                <a:ea typeface="ＭＳ Ｐゴシック" charset="0"/>
                <a:cs typeface="ＭＳ Ｐゴシック" charset="0"/>
              </a:rPr>
              <a:t>Proxy attributes – Example </a:t>
            </a:r>
          </a:p>
        </p:txBody>
      </p:sp>
      <p:sp>
        <p:nvSpPr>
          <p:cNvPr id="9" name="TextBox 8">
            <a:extLst>
              <a:ext uri="{FF2B5EF4-FFF2-40B4-BE49-F238E27FC236}">
                <a16:creationId xmlns:a16="http://schemas.microsoft.com/office/drawing/2014/main" id="{1731215B-D566-1990-9839-2B90D47A6EF0}"/>
              </a:ext>
            </a:extLst>
          </p:cNvPr>
          <p:cNvSpPr txBox="1"/>
          <p:nvPr/>
        </p:nvSpPr>
        <p:spPr>
          <a:xfrm>
            <a:off x="2822089" y="2686717"/>
            <a:ext cx="6096000" cy="1261884"/>
          </a:xfrm>
          <a:prstGeom prst="rect">
            <a:avLst/>
          </a:prstGeom>
          <a:noFill/>
        </p:spPr>
        <p:txBody>
          <a:bodyPr wrap="square">
            <a:spAutoFit/>
          </a:bodyPr>
          <a:lstStyle/>
          <a:p>
            <a:pPr eaLnBrk="1" hangingPunct="1"/>
            <a:r>
              <a:rPr lang="en-US" sz="3200" dirty="0">
                <a:solidFill>
                  <a:schemeClr val="tx1"/>
                </a:solidFill>
                <a:latin typeface="+mn-lt"/>
                <a:ea typeface="MS PGothic" charset="0"/>
              </a:rPr>
              <a:t>Minimize student boredom </a:t>
            </a:r>
          </a:p>
          <a:p>
            <a:pPr marL="508000" lvl="1" indent="0">
              <a:buNone/>
            </a:pPr>
            <a:r>
              <a:rPr lang="en-US" sz="4400" dirty="0">
                <a:ea typeface="MS PGothic" charset="0"/>
                <a:sym typeface="Wingdings" charset="0"/>
              </a:rPr>
              <a:t> </a:t>
            </a:r>
            <a:r>
              <a:rPr lang="en-US" sz="4400" dirty="0">
                <a:solidFill>
                  <a:srgbClr val="C00000"/>
                </a:solidFill>
                <a:ea typeface="MS PGothic" charset="0"/>
                <a:sym typeface="Wingdings" charset="0"/>
              </a:rPr>
              <a:t># of yawns</a:t>
            </a:r>
          </a:p>
        </p:txBody>
      </p:sp>
      <p:pic>
        <p:nvPicPr>
          <p:cNvPr id="12" name="Video 10" title="Man yawning">
            <a:hlinkClick r:id="" action="ppaction://media"/>
            <a:extLst>
              <a:ext uri="{FF2B5EF4-FFF2-40B4-BE49-F238E27FC236}">
                <a16:creationId xmlns:a16="http://schemas.microsoft.com/office/drawing/2014/main" id="{D6B11222-241C-95AC-CFE5-9E104CF6D86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218947" y="3298354"/>
            <a:ext cx="4748463" cy="2671010"/>
          </a:xfrm>
          <a:prstGeom prst="rect">
            <a:avLst/>
          </a:prstGeom>
        </p:spPr>
      </p:pic>
    </p:spTree>
    <p:extLst>
      <p:ext uri="{BB962C8B-B14F-4D97-AF65-F5344CB8AC3E}">
        <p14:creationId xmlns:p14="http://schemas.microsoft.com/office/powerpoint/2010/main" val="3921891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0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A725CEF-9CF2-89AD-38E6-C7B6BE758738}"/>
              </a:ext>
            </a:extLst>
          </p:cNvPr>
          <p:cNvGraphicFramePr>
            <a:graphicFrameLocks noGrp="1"/>
          </p:cNvGraphicFramePr>
          <p:nvPr/>
        </p:nvGraphicFramePr>
        <p:xfrm>
          <a:off x="1129284" y="2166019"/>
          <a:ext cx="9933431" cy="3902371"/>
        </p:xfrm>
        <a:graphic>
          <a:graphicData uri="http://schemas.openxmlformats.org/drawingml/2006/table">
            <a:tbl>
              <a:tblPr/>
              <a:tblGrid>
                <a:gridCol w="3447427">
                  <a:extLst>
                    <a:ext uri="{9D8B030D-6E8A-4147-A177-3AD203B41FA5}">
                      <a16:colId xmlns:a16="http://schemas.microsoft.com/office/drawing/2014/main" val="20000"/>
                    </a:ext>
                  </a:extLst>
                </a:gridCol>
                <a:gridCol w="2507027">
                  <a:extLst>
                    <a:ext uri="{9D8B030D-6E8A-4147-A177-3AD203B41FA5}">
                      <a16:colId xmlns:a16="http://schemas.microsoft.com/office/drawing/2014/main" val="20001"/>
                    </a:ext>
                  </a:extLst>
                </a:gridCol>
                <a:gridCol w="3978977">
                  <a:extLst>
                    <a:ext uri="{9D8B030D-6E8A-4147-A177-3AD203B41FA5}">
                      <a16:colId xmlns:a16="http://schemas.microsoft.com/office/drawing/2014/main" val="20003"/>
                    </a:ext>
                  </a:extLst>
                </a:gridCol>
              </a:tblGrid>
              <a:tr h="571518">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2400" b="0" u="none" strike="noStrike" dirty="0">
                          <a:solidFill>
                            <a:schemeClr val="tx1"/>
                          </a:solidFill>
                          <a:effectLst/>
                          <a:latin typeface="+mn-lt"/>
                          <a:cs typeface="Arial" panose="020B0604020202020204" pitchFamily="34" charset="0"/>
                        </a:rPr>
                        <a:t>Objective</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2400" b="0" i="0" u="none" strike="noStrike" dirty="0">
                          <a:solidFill>
                            <a:schemeClr val="tx1"/>
                          </a:solidFill>
                          <a:effectLst/>
                          <a:latin typeface="+mn-lt"/>
                          <a:cs typeface="Arial" pitchFamily="34" charset="0"/>
                        </a:rPr>
                        <a:t>Direction</a:t>
                      </a: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3600" b="0" u="none" strike="noStrike" dirty="0">
                          <a:solidFill>
                            <a:schemeClr val="tx1"/>
                          </a:solidFill>
                          <a:effectLst/>
                          <a:latin typeface="+mn-lt"/>
                          <a:cs typeface="Arial" panose="020B0604020202020204" pitchFamily="34" charset="0"/>
                        </a:rPr>
                        <a:t>Attribute</a:t>
                      </a:r>
                      <a:endParaRPr lang="en-US" sz="36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extLst>
                  <a:ext uri="{0D108BD9-81ED-4DB2-BD59-A6C34878D82A}">
                    <a16:rowId xmlns:a16="http://schemas.microsoft.com/office/drawing/2014/main" val="10000"/>
                  </a:ext>
                </a:extLst>
              </a:tr>
              <a:tr h="814549">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2400" b="0" u="none" strike="noStrike" dirty="0">
                          <a:solidFill>
                            <a:schemeClr val="tx1"/>
                          </a:solidFill>
                          <a:effectLst/>
                          <a:latin typeface="+mn-lt"/>
                          <a:cs typeface="Arial" panose="020B0604020202020204" pitchFamily="34" charset="0"/>
                        </a:rPr>
                        <a:t>Minimize costs</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2400" b="0" i="0" u="none" strike="noStrike" dirty="0">
                          <a:solidFill>
                            <a:schemeClr val="tx1"/>
                          </a:solidFill>
                          <a:effectLst/>
                          <a:latin typeface="+mn-lt"/>
                          <a:cs typeface="Arial"/>
                        </a:rPr>
                        <a:t>Minimize (↓)</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38768">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2400" b="0" u="none" strike="noStrike" dirty="0">
                          <a:solidFill>
                            <a:schemeClr val="tx1"/>
                          </a:solidFill>
                          <a:effectLst/>
                          <a:latin typeface="+mn-lt"/>
                          <a:cs typeface="Arial" panose="020B0604020202020204" pitchFamily="34" charset="0"/>
                        </a:rPr>
                        <a:t>Maximize occupancy probability</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indent="0" algn="ctr" defTabSz="914400" rtl="0" eaLnBrk="1" fontAlgn="b" latinLnBrk="0" hangingPunct="1">
                        <a:lnSpc>
                          <a:spcPct val="100000"/>
                        </a:lnSpc>
                        <a:spcBef>
                          <a:spcPts val="0"/>
                        </a:spcBef>
                        <a:spcAft>
                          <a:spcPts val="0"/>
                        </a:spcAft>
                        <a:buClrTx/>
                        <a:buSzTx/>
                        <a:buFontTx/>
                        <a:buNone/>
                        <a:tabLst/>
                        <a:defRPr/>
                      </a:pPr>
                      <a:r>
                        <a:rPr lang="en-US" sz="2400" b="0" i="0" u="none" strike="noStrike" dirty="0">
                          <a:solidFill>
                            <a:schemeClr val="tx1"/>
                          </a:solidFill>
                          <a:effectLst/>
                          <a:latin typeface="+mn-lt"/>
                          <a:cs typeface="Arial"/>
                        </a:rPr>
                        <a:t>Maximize (↑)</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838768">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2400" b="0" u="none" strike="noStrike" dirty="0">
                          <a:solidFill>
                            <a:schemeClr val="tx1"/>
                          </a:solidFill>
                          <a:effectLst/>
                          <a:latin typeface="+mn-lt"/>
                          <a:cs typeface="Arial" panose="020B0604020202020204" pitchFamily="34" charset="0"/>
                        </a:rPr>
                        <a:t>Minimize extinction probability</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indent="0" algn="ctr" defTabSz="914400" rtl="0" eaLnBrk="1" fontAlgn="b" latinLnBrk="0" hangingPunct="1">
                        <a:lnSpc>
                          <a:spcPct val="100000"/>
                        </a:lnSpc>
                        <a:spcBef>
                          <a:spcPts val="0"/>
                        </a:spcBef>
                        <a:spcAft>
                          <a:spcPts val="0"/>
                        </a:spcAft>
                        <a:buClrTx/>
                        <a:buSzTx/>
                        <a:buFontTx/>
                        <a:buNone/>
                        <a:tabLst/>
                        <a:defRPr/>
                      </a:pPr>
                      <a:r>
                        <a:rPr lang="en-US" sz="2400" b="0" i="0" u="none" strike="noStrike" dirty="0">
                          <a:solidFill>
                            <a:schemeClr val="tx1"/>
                          </a:solidFill>
                          <a:effectLst/>
                          <a:latin typeface="+mn-lt"/>
                          <a:cs typeface="Arial"/>
                        </a:rPr>
                        <a:t>Minimize (↓)</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838768">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r>
                        <a:rPr lang="en-US" sz="2400" b="0" u="none" strike="noStrike" dirty="0">
                          <a:solidFill>
                            <a:schemeClr val="tx1"/>
                          </a:solidFill>
                          <a:effectLst/>
                          <a:latin typeface="+mn-lt"/>
                          <a:cs typeface="Arial" panose="020B0604020202020204" pitchFamily="34" charset="0"/>
                        </a:rPr>
                        <a:t>Maximize hunter satisfaction</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indent="0" algn="ctr" defTabSz="914400" rtl="0" eaLnBrk="1" fontAlgn="b" latinLnBrk="0" hangingPunct="1">
                        <a:lnSpc>
                          <a:spcPct val="100000"/>
                        </a:lnSpc>
                        <a:spcBef>
                          <a:spcPts val="0"/>
                        </a:spcBef>
                        <a:spcAft>
                          <a:spcPts val="0"/>
                        </a:spcAft>
                        <a:buClrTx/>
                        <a:buSzTx/>
                        <a:buFontTx/>
                        <a:buNone/>
                        <a:tabLst/>
                        <a:defRPr/>
                      </a:pPr>
                      <a:r>
                        <a:rPr lang="en-US" sz="2400" b="0" i="0" u="none" strike="noStrike" dirty="0">
                          <a:solidFill>
                            <a:schemeClr val="tx1"/>
                          </a:solidFill>
                          <a:effectLst/>
                          <a:latin typeface="+mn-lt"/>
                          <a:cs typeface="Arial"/>
                        </a:rPr>
                        <a:t>Maximize (↑)</a:t>
                      </a:r>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ctr" fontAlgn="b"/>
                      <a:endParaRPr lang="en-US" sz="2400" b="0" i="0" u="none" strike="noStrike" dirty="0">
                        <a:solidFill>
                          <a:schemeClr val="tx1"/>
                        </a:solidFill>
                        <a:effectLst/>
                        <a:latin typeface="+mn-lt"/>
                        <a:cs typeface="Arial" pitchFamily="34" charset="0"/>
                      </a:endParaRPr>
                    </a:p>
                  </a:txBody>
                  <a:tcPr marL="7257" marR="7257" marT="7144"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sp>
        <p:nvSpPr>
          <p:cNvPr id="6" name="TextBox 5">
            <a:extLst>
              <a:ext uri="{FF2B5EF4-FFF2-40B4-BE49-F238E27FC236}">
                <a16:creationId xmlns:a16="http://schemas.microsoft.com/office/drawing/2014/main" id="{37B25CA7-5698-7B6F-39EE-13C2457F3CB4}"/>
              </a:ext>
            </a:extLst>
          </p:cNvPr>
          <p:cNvSpPr txBox="1"/>
          <p:nvPr/>
        </p:nvSpPr>
        <p:spPr>
          <a:xfrm>
            <a:off x="7893558" y="2851819"/>
            <a:ext cx="2402586" cy="646331"/>
          </a:xfrm>
          <a:prstGeom prst="rect">
            <a:avLst/>
          </a:prstGeom>
          <a:noFill/>
        </p:spPr>
        <p:txBody>
          <a:bodyPr wrap="square">
            <a:spAutoFit/>
          </a:bodyPr>
          <a:lstStyle/>
          <a:p>
            <a:pPr algn="ctr" fontAlgn="b"/>
            <a:r>
              <a:rPr lang="en-US" sz="3600" b="0" i="0" u="none" strike="noStrike" dirty="0">
                <a:solidFill>
                  <a:schemeClr val="tx1"/>
                </a:solidFill>
                <a:effectLst/>
                <a:latin typeface="+mn-lt"/>
                <a:cs typeface="Arial" pitchFamily="34" charset="0"/>
              </a:rPr>
              <a:t>M$/yr</a:t>
            </a:r>
          </a:p>
        </p:txBody>
      </p:sp>
      <p:sp>
        <p:nvSpPr>
          <p:cNvPr id="7" name="TextBox 6">
            <a:extLst>
              <a:ext uri="{FF2B5EF4-FFF2-40B4-BE49-F238E27FC236}">
                <a16:creationId xmlns:a16="http://schemas.microsoft.com/office/drawing/2014/main" id="{B13F0C7B-9D44-0FFF-95B6-BDD170CDEAF8}"/>
              </a:ext>
            </a:extLst>
          </p:cNvPr>
          <p:cNvSpPr txBox="1"/>
          <p:nvPr/>
        </p:nvSpPr>
        <p:spPr>
          <a:xfrm>
            <a:off x="7510272" y="3681982"/>
            <a:ext cx="3169157" cy="646331"/>
          </a:xfrm>
          <a:prstGeom prst="rect">
            <a:avLst/>
          </a:prstGeom>
          <a:noFill/>
        </p:spPr>
        <p:txBody>
          <a:bodyPr wrap="square">
            <a:spAutoFit/>
          </a:bodyPr>
          <a:lstStyle/>
          <a:p>
            <a:pPr algn="ctr" fontAlgn="b"/>
            <a:r>
              <a:rPr lang="en-US" sz="3600" b="0" i="0" u="none" strike="noStrike" dirty="0">
                <a:solidFill>
                  <a:schemeClr val="tx1"/>
                </a:solidFill>
                <a:effectLst/>
                <a:latin typeface="+mn-lt"/>
                <a:cs typeface="Arial" pitchFamily="34" charset="0"/>
              </a:rPr>
              <a:t>Probability (0-1)</a:t>
            </a:r>
          </a:p>
        </p:txBody>
      </p:sp>
      <p:sp>
        <p:nvSpPr>
          <p:cNvPr id="8" name="TextBox 7">
            <a:extLst>
              <a:ext uri="{FF2B5EF4-FFF2-40B4-BE49-F238E27FC236}">
                <a16:creationId xmlns:a16="http://schemas.microsoft.com/office/drawing/2014/main" id="{69BEC99E-DC4F-0E55-B5B7-102C8889A443}"/>
              </a:ext>
            </a:extLst>
          </p:cNvPr>
          <p:cNvSpPr txBox="1"/>
          <p:nvPr/>
        </p:nvSpPr>
        <p:spPr>
          <a:xfrm>
            <a:off x="7510272" y="4512145"/>
            <a:ext cx="3169157" cy="646331"/>
          </a:xfrm>
          <a:prstGeom prst="rect">
            <a:avLst/>
          </a:prstGeom>
          <a:noFill/>
        </p:spPr>
        <p:txBody>
          <a:bodyPr wrap="square">
            <a:spAutoFit/>
          </a:bodyPr>
          <a:lstStyle/>
          <a:p>
            <a:pPr algn="ctr" fontAlgn="b"/>
            <a:r>
              <a:rPr lang="en-US" sz="3600" b="0" i="0" u="none" strike="noStrike" dirty="0">
                <a:solidFill>
                  <a:schemeClr val="tx1"/>
                </a:solidFill>
                <a:effectLst/>
                <a:latin typeface="+mn-lt"/>
                <a:cs typeface="Arial" pitchFamily="34" charset="0"/>
              </a:rPr>
              <a:t>Probability (0-1)</a:t>
            </a:r>
          </a:p>
        </p:txBody>
      </p:sp>
      <p:sp>
        <p:nvSpPr>
          <p:cNvPr id="10" name="TextBox 9">
            <a:extLst>
              <a:ext uri="{FF2B5EF4-FFF2-40B4-BE49-F238E27FC236}">
                <a16:creationId xmlns:a16="http://schemas.microsoft.com/office/drawing/2014/main" id="{B4EC0B94-2955-A074-95D4-D56256468C85}"/>
              </a:ext>
            </a:extLst>
          </p:cNvPr>
          <p:cNvSpPr txBox="1"/>
          <p:nvPr/>
        </p:nvSpPr>
        <p:spPr>
          <a:xfrm>
            <a:off x="7015351" y="5136380"/>
            <a:ext cx="4047364" cy="954107"/>
          </a:xfrm>
          <a:prstGeom prst="rect">
            <a:avLst/>
          </a:prstGeom>
          <a:noFill/>
        </p:spPr>
        <p:txBody>
          <a:bodyPr wrap="square">
            <a:spAutoFit/>
          </a:bodyPr>
          <a:lstStyle/>
          <a:p>
            <a:pPr algn="ctr" fontAlgn="b"/>
            <a:r>
              <a:rPr lang="en-US" sz="2800" b="0" u="none" strike="noStrike" dirty="0">
                <a:solidFill>
                  <a:schemeClr val="tx1"/>
                </a:solidFill>
                <a:effectLst/>
                <a:latin typeface="+mn-lt"/>
                <a:cs typeface="Arial" panose="020B0604020202020204" pitchFamily="34" charset="0"/>
              </a:rPr>
              <a:t>Harvest Success Rate </a:t>
            </a:r>
          </a:p>
          <a:p>
            <a:pPr algn="ctr" fontAlgn="b"/>
            <a:r>
              <a:rPr lang="en-US" sz="2800" b="0" u="none" strike="noStrike" dirty="0">
                <a:solidFill>
                  <a:schemeClr val="tx1"/>
                </a:solidFill>
                <a:effectLst/>
                <a:latin typeface="+mn-lt"/>
                <a:cs typeface="Arial" panose="020B0604020202020204" pitchFamily="34" charset="0"/>
              </a:rPr>
              <a:t>(# harvested/# permits)</a:t>
            </a:r>
            <a:endParaRPr lang="en-US" sz="2800" b="0" i="0" u="none" strike="noStrike" dirty="0">
              <a:solidFill>
                <a:schemeClr val="tx1"/>
              </a:solidFill>
              <a:effectLst/>
              <a:latin typeface="+mn-lt"/>
              <a:cs typeface="Arial" pitchFamily="34" charset="0"/>
            </a:endParaRPr>
          </a:p>
        </p:txBody>
      </p:sp>
      <p:sp>
        <p:nvSpPr>
          <p:cNvPr id="5" name="TextBox 4">
            <a:extLst>
              <a:ext uri="{FF2B5EF4-FFF2-40B4-BE49-F238E27FC236}">
                <a16:creationId xmlns:a16="http://schemas.microsoft.com/office/drawing/2014/main" id="{34846153-0C29-8339-1814-26255DD96B74}"/>
              </a:ext>
            </a:extLst>
          </p:cNvPr>
          <p:cNvSpPr txBox="1"/>
          <p:nvPr/>
        </p:nvSpPr>
        <p:spPr>
          <a:xfrm rot="5400000">
            <a:off x="10882285" y="3886372"/>
            <a:ext cx="1404694" cy="461665"/>
          </a:xfrm>
          <a:prstGeom prst="rect">
            <a:avLst/>
          </a:prstGeom>
          <a:noFill/>
        </p:spPr>
        <p:txBody>
          <a:bodyPr wrap="square">
            <a:spAutoFit/>
          </a:bodyPr>
          <a:lstStyle/>
          <a:p>
            <a:r>
              <a:rPr lang="en-US" sz="2400" b="0" i="0" u="none" strike="noStrike" dirty="0">
                <a:solidFill>
                  <a:schemeClr val="tx1"/>
                </a:solidFill>
                <a:effectLst/>
                <a:latin typeface="+mn-lt"/>
                <a:cs typeface="Arial"/>
              </a:rPr>
              <a:t>Natural</a:t>
            </a:r>
            <a:endParaRPr lang="en-US" sz="2400" dirty="0"/>
          </a:p>
        </p:txBody>
      </p:sp>
      <p:sp>
        <p:nvSpPr>
          <p:cNvPr id="9" name="TextBox 8">
            <a:extLst>
              <a:ext uri="{FF2B5EF4-FFF2-40B4-BE49-F238E27FC236}">
                <a16:creationId xmlns:a16="http://schemas.microsoft.com/office/drawing/2014/main" id="{54BB0729-BF83-EFBE-DBF4-AF1B95C6F66A}"/>
              </a:ext>
            </a:extLst>
          </p:cNvPr>
          <p:cNvSpPr txBox="1"/>
          <p:nvPr/>
        </p:nvSpPr>
        <p:spPr>
          <a:xfrm>
            <a:off x="11077234" y="5382600"/>
            <a:ext cx="1014795" cy="461665"/>
          </a:xfrm>
          <a:prstGeom prst="rect">
            <a:avLst/>
          </a:prstGeom>
          <a:noFill/>
        </p:spPr>
        <p:txBody>
          <a:bodyPr wrap="square">
            <a:spAutoFit/>
          </a:bodyPr>
          <a:lstStyle/>
          <a:p>
            <a:r>
              <a:rPr lang="en-US" sz="2400" b="0" i="0" u="none" strike="noStrike" dirty="0">
                <a:solidFill>
                  <a:schemeClr val="tx1"/>
                </a:solidFill>
                <a:effectLst/>
                <a:latin typeface="+mn-lt"/>
                <a:cs typeface="Arial"/>
              </a:rPr>
              <a:t>Proxy</a:t>
            </a:r>
            <a:endParaRPr lang="en-US" sz="2400" dirty="0"/>
          </a:p>
        </p:txBody>
      </p:sp>
      <p:sp>
        <p:nvSpPr>
          <p:cNvPr id="11" name="Right Bracket 10">
            <a:extLst>
              <a:ext uri="{FF2B5EF4-FFF2-40B4-BE49-F238E27FC236}">
                <a16:creationId xmlns:a16="http://schemas.microsoft.com/office/drawing/2014/main" id="{828F910D-8C44-E113-4C1D-87A4BFE437C7}"/>
              </a:ext>
            </a:extLst>
          </p:cNvPr>
          <p:cNvSpPr/>
          <p:nvPr/>
        </p:nvSpPr>
        <p:spPr>
          <a:xfrm>
            <a:off x="11174350" y="2851819"/>
            <a:ext cx="179450" cy="2121408"/>
          </a:xfrm>
          <a:prstGeom prst="rightBracket">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itle 1">
            <a:extLst>
              <a:ext uri="{FF2B5EF4-FFF2-40B4-BE49-F238E27FC236}">
                <a16:creationId xmlns:a16="http://schemas.microsoft.com/office/drawing/2014/main" id="{C4EA2A06-96D1-5854-EF2F-842EA8227DC2}"/>
              </a:ext>
            </a:extLst>
          </p:cNvPr>
          <p:cNvSpPr>
            <a:spLocks noGrp="1"/>
          </p:cNvSpPr>
          <p:nvPr>
            <p:ph type="title"/>
          </p:nvPr>
        </p:nvSpPr>
        <p:spPr>
          <a:xfrm>
            <a:off x="838200" y="465709"/>
            <a:ext cx="10515600" cy="1325563"/>
          </a:xfrm>
        </p:spPr>
        <p:txBody>
          <a:bodyPr/>
          <a:lstStyle/>
          <a:p>
            <a:r>
              <a:rPr lang="en-US" dirty="0"/>
              <a:t>4. Create measurable attributes (the units)</a:t>
            </a:r>
          </a:p>
        </p:txBody>
      </p:sp>
      <p:sp>
        <p:nvSpPr>
          <p:cNvPr id="14" name="TextBox 13">
            <a:extLst>
              <a:ext uri="{FF2B5EF4-FFF2-40B4-BE49-F238E27FC236}">
                <a16:creationId xmlns:a16="http://schemas.microsoft.com/office/drawing/2014/main" id="{71FF7A33-2C66-7FF1-1C6F-854EA8F9C186}"/>
              </a:ext>
            </a:extLst>
          </p:cNvPr>
          <p:cNvSpPr txBox="1"/>
          <p:nvPr/>
        </p:nvSpPr>
        <p:spPr>
          <a:xfrm>
            <a:off x="1129284" y="1493384"/>
            <a:ext cx="6643116" cy="707886"/>
          </a:xfrm>
          <a:prstGeom prst="rect">
            <a:avLst/>
          </a:prstGeom>
          <a:noFill/>
        </p:spPr>
        <p:txBody>
          <a:bodyPr wrap="square" rtlCol="0">
            <a:spAutoFit/>
          </a:bodyPr>
          <a:lstStyle/>
          <a:p>
            <a:r>
              <a:rPr lang="en-US" sz="4000" dirty="0">
                <a:solidFill>
                  <a:schemeClr val="accent1"/>
                </a:solidFill>
              </a:rPr>
              <a:t>Example</a:t>
            </a:r>
          </a:p>
        </p:txBody>
      </p:sp>
      <p:sp>
        <p:nvSpPr>
          <p:cNvPr id="2" name="TextBox 1">
            <a:extLst>
              <a:ext uri="{FF2B5EF4-FFF2-40B4-BE49-F238E27FC236}">
                <a16:creationId xmlns:a16="http://schemas.microsoft.com/office/drawing/2014/main" id="{7C54506D-C405-5A89-6C3B-CBB15E5BD6D3}"/>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Tree>
    <p:extLst>
      <p:ext uri="{BB962C8B-B14F-4D97-AF65-F5344CB8AC3E}">
        <p14:creationId xmlns:p14="http://schemas.microsoft.com/office/powerpoint/2010/main" val="2398906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5" grpId="0"/>
      <p:bldP spid="9" grpId="0"/>
      <p:bldP spid="11"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5F320-7964-BEB8-7ECA-12D2E83F36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6431B-29EA-A246-A6F7-DF77C71ED6EC}"/>
              </a:ext>
            </a:extLst>
          </p:cNvPr>
          <p:cNvSpPr>
            <a:spLocks noGrp="1"/>
          </p:cNvSpPr>
          <p:nvPr>
            <p:ph type="title"/>
          </p:nvPr>
        </p:nvSpPr>
        <p:spPr>
          <a:xfrm>
            <a:off x="838200" y="392557"/>
            <a:ext cx="10515600" cy="1325563"/>
          </a:xfrm>
        </p:spPr>
        <p:txBody>
          <a:bodyPr/>
          <a:lstStyle/>
          <a:p>
            <a:r>
              <a:rPr lang="en-US" dirty="0"/>
              <a:t>Example - What are the attribute types?</a:t>
            </a:r>
          </a:p>
        </p:txBody>
      </p:sp>
      <p:grpSp>
        <p:nvGrpSpPr>
          <p:cNvPr id="4" name="Google Shape;613;p54">
            <a:extLst>
              <a:ext uri="{FF2B5EF4-FFF2-40B4-BE49-F238E27FC236}">
                <a16:creationId xmlns:a16="http://schemas.microsoft.com/office/drawing/2014/main" id="{3A67DC99-A845-5D7D-6AC3-8D78B146BAB0}"/>
              </a:ext>
            </a:extLst>
          </p:cNvPr>
          <p:cNvGrpSpPr/>
          <p:nvPr/>
        </p:nvGrpSpPr>
        <p:grpSpPr>
          <a:xfrm>
            <a:off x="1720611" y="1505069"/>
            <a:ext cx="8476457" cy="4250207"/>
            <a:chOff x="292099" y="2353468"/>
            <a:chExt cx="8476457" cy="3921016"/>
          </a:xfrm>
        </p:grpSpPr>
        <p:sp>
          <p:nvSpPr>
            <p:cNvPr id="5" name="Google Shape;614;p54">
              <a:extLst>
                <a:ext uri="{FF2B5EF4-FFF2-40B4-BE49-F238E27FC236}">
                  <a16:creationId xmlns:a16="http://schemas.microsoft.com/office/drawing/2014/main" id="{798F56A3-24A4-724A-6B65-4E64C398864F}"/>
                </a:ext>
              </a:extLst>
            </p:cNvPr>
            <p:cNvSpPr txBox="1"/>
            <p:nvPr/>
          </p:nvSpPr>
          <p:spPr>
            <a:xfrm>
              <a:off x="2697163" y="2353468"/>
              <a:ext cx="3551237" cy="596271"/>
            </a:xfrm>
            <a:prstGeom prst="rect">
              <a:avLst/>
            </a:prstGeom>
            <a:solidFill>
              <a:schemeClr val="dk2"/>
            </a:solid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800" b="1" i="0" u="none" strike="noStrike" cap="none">
                  <a:solidFill>
                    <a:schemeClr val="lt1"/>
                  </a:solidFill>
                  <a:latin typeface="Arial Black"/>
                  <a:ea typeface="Arial Black"/>
                  <a:cs typeface="Arial Black"/>
                  <a:sym typeface="Arial Black"/>
                </a:rPr>
                <a:t>Protect and preserve hemlock</a:t>
              </a:r>
              <a:endParaRPr/>
            </a:p>
          </p:txBody>
        </p:sp>
        <p:sp>
          <p:nvSpPr>
            <p:cNvPr id="6" name="Google Shape;615;p54">
              <a:extLst>
                <a:ext uri="{FF2B5EF4-FFF2-40B4-BE49-F238E27FC236}">
                  <a16:creationId xmlns:a16="http://schemas.microsoft.com/office/drawing/2014/main" id="{FA726017-71B0-EC13-BFAB-21739C67F1C8}"/>
                </a:ext>
              </a:extLst>
            </p:cNvPr>
            <p:cNvSpPr txBox="1"/>
            <p:nvPr/>
          </p:nvSpPr>
          <p:spPr>
            <a:xfrm>
              <a:off x="292099" y="3352800"/>
              <a:ext cx="2106613" cy="646331"/>
            </a:xfrm>
            <a:prstGeom prst="rect">
              <a:avLst/>
            </a:prstGeom>
            <a:solidFill>
              <a:schemeClr val="accent1"/>
            </a:solid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800" b="1" i="0" u="none" strike="noStrike" cap="none">
                  <a:solidFill>
                    <a:schemeClr val="lt1"/>
                  </a:solidFill>
                  <a:latin typeface="Arial Black"/>
                  <a:ea typeface="Arial Black"/>
                  <a:cs typeface="Arial Black"/>
                  <a:sym typeface="Arial Black"/>
                </a:rPr>
                <a:t>Hemlock stand health</a:t>
              </a:r>
              <a:endParaRPr/>
            </a:p>
          </p:txBody>
        </p:sp>
        <p:sp>
          <p:nvSpPr>
            <p:cNvPr id="7" name="Google Shape;616;p54">
              <a:extLst>
                <a:ext uri="{FF2B5EF4-FFF2-40B4-BE49-F238E27FC236}">
                  <a16:creationId xmlns:a16="http://schemas.microsoft.com/office/drawing/2014/main" id="{65C06178-BF63-4CFA-8197-26C03676FFB6}"/>
                </a:ext>
              </a:extLst>
            </p:cNvPr>
            <p:cNvSpPr txBox="1"/>
            <p:nvPr/>
          </p:nvSpPr>
          <p:spPr>
            <a:xfrm>
              <a:off x="4254499" y="3352800"/>
              <a:ext cx="2139156" cy="923330"/>
            </a:xfrm>
            <a:prstGeom prst="rect">
              <a:avLst/>
            </a:prstGeom>
            <a:solidFill>
              <a:schemeClr val="accent1"/>
            </a:solid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800" b="1" i="0" u="none" strike="noStrike" cap="none" dirty="0">
                  <a:solidFill>
                    <a:schemeClr val="lt1"/>
                  </a:solidFill>
                  <a:latin typeface="Arial Black"/>
                  <a:ea typeface="Arial Black"/>
                  <a:cs typeface="Arial Black"/>
                  <a:sym typeface="Arial Black"/>
                </a:rPr>
                <a:t>Hemlock component of stand</a:t>
              </a:r>
              <a:endParaRPr dirty="0"/>
            </a:p>
          </p:txBody>
        </p:sp>
        <p:sp>
          <p:nvSpPr>
            <p:cNvPr id="8" name="Google Shape;617;p54">
              <a:extLst>
                <a:ext uri="{FF2B5EF4-FFF2-40B4-BE49-F238E27FC236}">
                  <a16:creationId xmlns:a16="http://schemas.microsoft.com/office/drawing/2014/main" id="{2EBB258A-DB01-BC6D-162F-1EE5E122D28A}"/>
                </a:ext>
              </a:extLst>
            </p:cNvPr>
            <p:cNvSpPr txBox="1"/>
            <p:nvPr/>
          </p:nvSpPr>
          <p:spPr>
            <a:xfrm>
              <a:off x="362926" y="4458602"/>
              <a:ext cx="1964958" cy="1815882"/>
            </a:xfrm>
            <a:prstGeom prst="rect">
              <a:avLst/>
            </a:prstGeom>
            <a:no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Minimize:</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 of mortality &amp; defoliation)</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1 = &lt;10  &amp; &lt;10 </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2 = &lt;10 &amp; 11-20</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3 = 11-25 &amp; 21-50</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4 = &gt;25 &amp; &gt;50</a:t>
              </a:r>
              <a:endParaRPr/>
            </a:p>
          </p:txBody>
        </p:sp>
        <p:sp>
          <p:nvSpPr>
            <p:cNvPr id="9" name="Google Shape;618;p54">
              <a:extLst>
                <a:ext uri="{FF2B5EF4-FFF2-40B4-BE49-F238E27FC236}">
                  <a16:creationId xmlns:a16="http://schemas.microsoft.com/office/drawing/2014/main" id="{3B9072E5-082D-005E-95B0-2040206C5AF2}"/>
                </a:ext>
              </a:extLst>
            </p:cNvPr>
            <p:cNvSpPr txBox="1"/>
            <p:nvPr/>
          </p:nvSpPr>
          <p:spPr>
            <a:xfrm>
              <a:off x="2602703" y="3352800"/>
              <a:ext cx="1446213" cy="596271"/>
            </a:xfrm>
            <a:prstGeom prst="rect">
              <a:avLst/>
            </a:prstGeom>
            <a:solidFill>
              <a:schemeClr val="accent1"/>
            </a:solid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800" b="1" i="0" u="none" strike="noStrike" cap="none">
                  <a:solidFill>
                    <a:schemeClr val="lt1"/>
                  </a:solidFill>
                  <a:latin typeface="Arial Black"/>
                  <a:ea typeface="Arial Black"/>
                  <a:cs typeface="Arial Black"/>
                  <a:sym typeface="Arial Black"/>
                </a:rPr>
                <a:t>Stand size</a:t>
              </a:r>
              <a:endParaRPr/>
            </a:p>
          </p:txBody>
        </p:sp>
        <p:sp>
          <p:nvSpPr>
            <p:cNvPr id="10" name="Google Shape;619;p54">
              <a:extLst>
                <a:ext uri="{FF2B5EF4-FFF2-40B4-BE49-F238E27FC236}">
                  <a16:creationId xmlns:a16="http://schemas.microsoft.com/office/drawing/2014/main" id="{DA9D667F-C216-0B19-3F18-D02CE8B8E339}"/>
                </a:ext>
              </a:extLst>
            </p:cNvPr>
            <p:cNvSpPr txBox="1"/>
            <p:nvPr/>
          </p:nvSpPr>
          <p:spPr>
            <a:xfrm>
              <a:off x="6629400" y="3352800"/>
              <a:ext cx="2139156" cy="596233"/>
            </a:xfrm>
            <a:prstGeom prst="rect">
              <a:avLst/>
            </a:prstGeom>
            <a:solidFill>
              <a:schemeClr val="accent1"/>
            </a:solid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800" b="1" i="0" u="none" strike="noStrike" cap="none" dirty="0">
                  <a:solidFill>
                    <a:schemeClr val="lt1"/>
                  </a:solidFill>
                  <a:latin typeface="Arial Black"/>
                  <a:ea typeface="Arial Black"/>
                  <a:cs typeface="Arial Black"/>
                  <a:sym typeface="Arial Black"/>
                </a:rPr>
                <a:t>Stand structure</a:t>
              </a:r>
              <a:endParaRPr dirty="0"/>
            </a:p>
          </p:txBody>
        </p:sp>
        <p:sp>
          <p:nvSpPr>
            <p:cNvPr id="11" name="Google Shape;620;p54">
              <a:extLst>
                <a:ext uri="{FF2B5EF4-FFF2-40B4-BE49-F238E27FC236}">
                  <a16:creationId xmlns:a16="http://schemas.microsoft.com/office/drawing/2014/main" id="{1CC724F6-28E6-D976-ECE0-127CA94AA89F}"/>
                </a:ext>
              </a:extLst>
            </p:cNvPr>
            <p:cNvSpPr txBox="1"/>
            <p:nvPr/>
          </p:nvSpPr>
          <p:spPr>
            <a:xfrm>
              <a:off x="2602704" y="4807168"/>
              <a:ext cx="1446213" cy="766635"/>
            </a:xfrm>
            <a:prstGeom prst="rect">
              <a:avLst/>
            </a:prstGeom>
            <a:no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Maximize:</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Stand acres</a:t>
              </a:r>
              <a:endParaRPr/>
            </a:p>
          </p:txBody>
        </p:sp>
        <p:sp>
          <p:nvSpPr>
            <p:cNvPr id="12" name="Google Shape;621;p54">
              <a:extLst>
                <a:ext uri="{FF2B5EF4-FFF2-40B4-BE49-F238E27FC236}">
                  <a16:creationId xmlns:a16="http://schemas.microsoft.com/office/drawing/2014/main" id="{B1AC5C44-61FF-02A3-5D23-F1ADBABB315F}"/>
                </a:ext>
              </a:extLst>
            </p:cNvPr>
            <p:cNvSpPr txBox="1"/>
            <p:nvPr/>
          </p:nvSpPr>
          <p:spPr>
            <a:xfrm>
              <a:off x="4600970" y="4790280"/>
              <a:ext cx="1446213" cy="1077218"/>
            </a:xfrm>
            <a:prstGeom prst="rect">
              <a:avLst/>
            </a:prstGeom>
            <a:no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Maximize:</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 of hemlock overstory</a:t>
              </a:r>
              <a:endParaRPr sz="1600" b="0" i="0" u="none" strike="noStrike" cap="none">
                <a:solidFill>
                  <a:srgbClr val="2F5897"/>
                </a:solidFill>
                <a:latin typeface="Arial Black"/>
                <a:ea typeface="Arial Black"/>
                <a:cs typeface="Arial Black"/>
                <a:sym typeface="Arial Black"/>
              </a:endParaRPr>
            </a:p>
          </p:txBody>
        </p:sp>
        <p:sp>
          <p:nvSpPr>
            <p:cNvPr id="13" name="Google Shape;622;p54">
              <a:extLst>
                <a:ext uri="{FF2B5EF4-FFF2-40B4-BE49-F238E27FC236}">
                  <a16:creationId xmlns:a16="http://schemas.microsoft.com/office/drawing/2014/main" id="{97D79E6E-63DE-3318-97BF-07A92CCF5894}"/>
                </a:ext>
              </a:extLst>
            </p:cNvPr>
            <p:cNvSpPr txBox="1"/>
            <p:nvPr/>
          </p:nvSpPr>
          <p:spPr>
            <a:xfrm>
              <a:off x="6975871" y="4825425"/>
              <a:ext cx="1446213" cy="830997"/>
            </a:xfrm>
            <a:prstGeom prst="rect">
              <a:avLst/>
            </a:prstGeom>
            <a:noFill/>
            <a:ln w="38100" cap="flat" cmpd="sng">
              <a:solidFill>
                <a:schemeClr val="dk1"/>
              </a:solidFill>
              <a:prstDash val="solid"/>
              <a:miter lim="800000"/>
              <a:headEnd type="none" w="sm" len="sm"/>
              <a:tailEnd type="none" w="sm" len="sm"/>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Minimize:</a:t>
              </a:r>
              <a:endParaRPr/>
            </a:p>
            <a:p>
              <a:pPr marL="0" marR="0" lvl="0" indent="0" algn="ctr" rtl="0">
                <a:lnSpc>
                  <a:spcPct val="100000"/>
                </a:lnSpc>
                <a:spcBef>
                  <a:spcPts val="0"/>
                </a:spcBef>
                <a:spcAft>
                  <a:spcPts val="0"/>
                </a:spcAft>
                <a:buNone/>
              </a:pPr>
              <a:r>
                <a:rPr lang="en-US" sz="1600" b="0" i="0" u="none" strike="noStrike" cap="none">
                  <a:solidFill>
                    <a:srgbClr val="2F5897"/>
                  </a:solidFill>
                  <a:latin typeface="Arial Black"/>
                  <a:ea typeface="Arial Black"/>
                  <a:cs typeface="Arial Black"/>
                  <a:sym typeface="Arial Black"/>
                </a:rPr>
                <a:t>% of understory</a:t>
              </a:r>
              <a:endParaRPr/>
            </a:p>
          </p:txBody>
        </p:sp>
        <p:cxnSp>
          <p:nvCxnSpPr>
            <p:cNvPr id="14" name="Google Shape;623;p54">
              <a:extLst>
                <a:ext uri="{FF2B5EF4-FFF2-40B4-BE49-F238E27FC236}">
                  <a16:creationId xmlns:a16="http://schemas.microsoft.com/office/drawing/2014/main" id="{DDE5F456-4413-3AB8-22F1-41BAB3773F7A}"/>
                </a:ext>
              </a:extLst>
            </p:cNvPr>
            <p:cNvCxnSpPr>
              <a:stCxn id="6" idx="2"/>
              <a:endCxn id="8" idx="0"/>
            </p:cNvCxnSpPr>
            <p:nvPr/>
          </p:nvCxnSpPr>
          <p:spPr>
            <a:xfrm>
              <a:off x="1345406" y="3999131"/>
              <a:ext cx="0" cy="459600"/>
            </a:xfrm>
            <a:prstGeom prst="straightConnector1">
              <a:avLst/>
            </a:prstGeom>
            <a:noFill/>
            <a:ln w="38100" cap="flat" cmpd="sng">
              <a:solidFill>
                <a:srgbClr val="0076A1"/>
              </a:solidFill>
              <a:prstDash val="solid"/>
              <a:round/>
              <a:headEnd type="none" w="sm" len="sm"/>
              <a:tailEnd type="stealth" w="med" len="med"/>
            </a:ln>
          </p:spPr>
        </p:cxnSp>
        <p:cxnSp>
          <p:nvCxnSpPr>
            <p:cNvPr id="15" name="Google Shape;624;p54">
              <a:extLst>
                <a:ext uri="{FF2B5EF4-FFF2-40B4-BE49-F238E27FC236}">
                  <a16:creationId xmlns:a16="http://schemas.microsoft.com/office/drawing/2014/main" id="{7615CF89-7A41-99EB-F7E4-836E227160F9}"/>
                </a:ext>
              </a:extLst>
            </p:cNvPr>
            <p:cNvCxnSpPr>
              <a:stCxn id="9" idx="2"/>
            </p:cNvCxnSpPr>
            <p:nvPr/>
          </p:nvCxnSpPr>
          <p:spPr>
            <a:xfrm>
              <a:off x="3325810" y="3949071"/>
              <a:ext cx="0" cy="858000"/>
            </a:xfrm>
            <a:prstGeom prst="straightConnector1">
              <a:avLst/>
            </a:prstGeom>
            <a:noFill/>
            <a:ln w="38100" cap="flat" cmpd="sng">
              <a:solidFill>
                <a:srgbClr val="0076A1"/>
              </a:solidFill>
              <a:prstDash val="solid"/>
              <a:round/>
              <a:headEnd type="none" w="sm" len="sm"/>
              <a:tailEnd type="stealth" w="med" len="med"/>
            </a:ln>
          </p:spPr>
        </p:cxnSp>
        <p:cxnSp>
          <p:nvCxnSpPr>
            <p:cNvPr id="16" name="Google Shape;625;p54">
              <a:extLst>
                <a:ext uri="{FF2B5EF4-FFF2-40B4-BE49-F238E27FC236}">
                  <a16:creationId xmlns:a16="http://schemas.microsoft.com/office/drawing/2014/main" id="{C83EC309-110A-C195-36E9-27355F84194F}"/>
                </a:ext>
              </a:extLst>
            </p:cNvPr>
            <p:cNvCxnSpPr>
              <a:stCxn id="7" idx="2"/>
              <a:endCxn id="12" idx="0"/>
            </p:cNvCxnSpPr>
            <p:nvPr/>
          </p:nvCxnSpPr>
          <p:spPr>
            <a:xfrm>
              <a:off x="5324077" y="4276130"/>
              <a:ext cx="0" cy="514200"/>
            </a:xfrm>
            <a:prstGeom prst="straightConnector1">
              <a:avLst/>
            </a:prstGeom>
            <a:noFill/>
            <a:ln w="38100" cap="flat" cmpd="sng">
              <a:solidFill>
                <a:srgbClr val="0076A1"/>
              </a:solidFill>
              <a:prstDash val="solid"/>
              <a:round/>
              <a:headEnd type="none" w="sm" len="sm"/>
              <a:tailEnd type="stealth" w="med" len="med"/>
            </a:ln>
          </p:spPr>
        </p:cxnSp>
        <p:cxnSp>
          <p:nvCxnSpPr>
            <p:cNvPr id="17" name="Google Shape;626;p54">
              <a:extLst>
                <a:ext uri="{FF2B5EF4-FFF2-40B4-BE49-F238E27FC236}">
                  <a16:creationId xmlns:a16="http://schemas.microsoft.com/office/drawing/2014/main" id="{7E82EFE2-468D-23DF-1AC0-D08264C1503F}"/>
                </a:ext>
              </a:extLst>
            </p:cNvPr>
            <p:cNvCxnSpPr>
              <a:cxnSpLocks/>
              <a:stCxn id="10" idx="2"/>
              <a:endCxn id="13" idx="0"/>
            </p:cNvCxnSpPr>
            <p:nvPr/>
          </p:nvCxnSpPr>
          <p:spPr>
            <a:xfrm>
              <a:off x="7698978" y="3949033"/>
              <a:ext cx="0" cy="876392"/>
            </a:xfrm>
            <a:prstGeom prst="straightConnector1">
              <a:avLst/>
            </a:prstGeom>
            <a:noFill/>
            <a:ln w="38100" cap="flat" cmpd="sng">
              <a:solidFill>
                <a:srgbClr val="0076A1"/>
              </a:solidFill>
              <a:prstDash val="solid"/>
              <a:round/>
              <a:headEnd type="none" w="sm" len="sm"/>
              <a:tailEnd type="stealth" w="med" len="med"/>
            </a:ln>
          </p:spPr>
        </p:cxnSp>
        <p:cxnSp>
          <p:nvCxnSpPr>
            <p:cNvPr id="18" name="Google Shape;627;p54">
              <a:extLst>
                <a:ext uri="{FF2B5EF4-FFF2-40B4-BE49-F238E27FC236}">
                  <a16:creationId xmlns:a16="http://schemas.microsoft.com/office/drawing/2014/main" id="{157527D5-CA9E-3E72-8648-A0270C5D520E}"/>
                </a:ext>
              </a:extLst>
            </p:cNvPr>
            <p:cNvCxnSpPr>
              <a:stCxn id="5" idx="2"/>
              <a:endCxn id="6" idx="0"/>
            </p:cNvCxnSpPr>
            <p:nvPr/>
          </p:nvCxnSpPr>
          <p:spPr>
            <a:xfrm rot="5400000">
              <a:off x="2707432" y="1587589"/>
              <a:ext cx="403200" cy="3127500"/>
            </a:xfrm>
            <a:prstGeom prst="bentConnector3">
              <a:avLst>
                <a:gd name="adj1" fmla="val 50000"/>
              </a:avLst>
            </a:prstGeom>
            <a:noFill/>
            <a:ln w="38100" cap="flat" cmpd="sng">
              <a:solidFill>
                <a:srgbClr val="0076A1"/>
              </a:solidFill>
              <a:prstDash val="solid"/>
              <a:round/>
              <a:headEnd type="none" w="sm" len="sm"/>
              <a:tailEnd type="stealth" w="med" len="med"/>
            </a:ln>
          </p:spPr>
        </p:cxnSp>
        <p:cxnSp>
          <p:nvCxnSpPr>
            <p:cNvPr id="19" name="Google Shape;628;p54">
              <a:extLst>
                <a:ext uri="{FF2B5EF4-FFF2-40B4-BE49-F238E27FC236}">
                  <a16:creationId xmlns:a16="http://schemas.microsoft.com/office/drawing/2014/main" id="{9E99B2EB-BFE4-91BB-F7BE-F55BA7F86D52}"/>
                </a:ext>
              </a:extLst>
            </p:cNvPr>
            <p:cNvCxnSpPr>
              <a:cxnSpLocks/>
              <a:stCxn id="5" idx="2"/>
              <a:endCxn id="10" idx="0"/>
            </p:cNvCxnSpPr>
            <p:nvPr/>
          </p:nvCxnSpPr>
          <p:spPr>
            <a:xfrm rot="16200000" flipH="1">
              <a:off x="5884350" y="1538171"/>
              <a:ext cx="403061" cy="3226196"/>
            </a:xfrm>
            <a:prstGeom prst="bentConnector3">
              <a:avLst>
                <a:gd name="adj1" fmla="val 50000"/>
              </a:avLst>
            </a:prstGeom>
            <a:noFill/>
            <a:ln w="38100" cap="flat" cmpd="sng">
              <a:solidFill>
                <a:srgbClr val="0076A1"/>
              </a:solidFill>
              <a:prstDash val="solid"/>
              <a:round/>
              <a:headEnd type="none" w="sm" len="sm"/>
              <a:tailEnd type="stealth" w="med" len="med"/>
            </a:ln>
          </p:spPr>
        </p:cxnSp>
        <p:cxnSp>
          <p:nvCxnSpPr>
            <p:cNvPr id="20" name="Google Shape;629;p54">
              <a:extLst>
                <a:ext uri="{FF2B5EF4-FFF2-40B4-BE49-F238E27FC236}">
                  <a16:creationId xmlns:a16="http://schemas.microsoft.com/office/drawing/2014/main" id="{E6B6133D-64F3-0E6C-3EF3-5322022C898E}"/>
                </a:ext>
              </a:extLst>
            </p:cNvPr>
            <p:cNvCxnSpPr>
              <a:stCxn id="5" idx="2"/>
              <a:endCxn id="9" idx="0"/>
            </p:cNvCxnSpPr>
            <p:nvPr/>
          </p:nvCxnSpPr>
          <p:spPr>
            <a:xfrm rot="5400000">
              <a:off x="3697732" y="2577889"/>
              <a:ext cx="403200" cy="1146900"/>
            </a:xfrm>
            <a:prstGeom prst="bentConnector3">
              <a:avLst>
                <a:gd name="adj1" fmla="val 49926"/>
              </a:avLst>
            </a:prstGeom>
            <a:noFill/>
            <a:ln w="38100" cap="flat" cmpd="sng">
              <a:solidFill>
                <a:srgbClr val="0076A1"/>
              </a:solidFill>
              <a:prstDash val="solid"/>
              <a:round/>
              <a:headEnd type="none" w="sm" len="sm"/>
              <a:tailEnd type="stealth" w="med" len="med"/>
            </a:ln>
          </p:spPr>
        </p:cxnSp>
        <p:cxnSp>
          <p:nvCxnSpPr>
            <p:cNvPr id="21" name="Google Shape;630;p54">
              <a:extLst>
                <a:ext uri="{FF2B5EF4-FFF2-40B4-BE49-F238E27FC236}">
                  <a16:creationId xmlns:a16="http://schemas.microsoft.com/office/drawing/2014/main" id="{854ED076-BAEF-1846-DA39-32F1A7C54F3B}"/>
                </a:ext>
              </a:extLst>
            </p:cNvPr>
            <p:cNvCxnSpPr>
              <a:stCxn id="5" idx="2"/>
              <a:endCxn id="7" idx="0"/>
            </p:cNvCxnSpPr>
            <p:nvPr/>
          </p:nvCxnSpPr>
          <p:spPr>
            <a:xfrm rot="-5400000" flipH="1">
              <a:off x="4696882" y="2725639"/>
              <a:ext cx="403200" cy="851400"/>
            </a:xfrm>
            <a:prstGeom prst="bentConnector3">
              <a:avLst>
                <a:gd name="adj1" fmla="val 49926"/>
              </a:avLst>
            </a:prstGeom>
            <a:noFill/>
            <a:ln w="38100" cap="flat" cmpd="sng">
              <a:solidFill>
                <a:srgbClr val="0076A1"/>
              </a:solidFill>
              <a:prstDash val="solid"/>
              <a:round/>
              <a:headEnd type="none" w="sm" len="sm"/>
              <a:tailEnd type="stealth" w="med" len="med"/>
            </a:ln>
          </p:spPr>
        </p:cxnSp>
      </p:grpSp>
      <p:sp>
        <p:nvSpPr>
          <p:cNvPr id="22" name="Google Shape;631;p54">
            <a:extLst>
              <a:ext uri="{FF2B5EF4-FFF2-40B4-BE49-F238E27FC236}">
                <a16:creationId xmlns:a16="http://schemas.microsoft.com/office/drawing/2014/main" id="{37BDBB84-091D-9296-B3F4-2F06874B10F4}"/>
              </a:ext>
            </a:extLst>
          </p:cNvPr>
          <p:cNvSpPr/>
          <p:nvPr/>
        </p:nvSpPr>
        <p:spPr>
          <a:xfrm>
            <a:off x="8940104" y="5973508"/>
            <a:ext cx="3324168" cy="307736"/>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lnSpc>
                <a:spcPct val="100000"/>
              </a:lnSpc>
              <a:spcBef>
                <a:spcPts val="0"/>
              </a:spcBef>
              <a:spcAft>
                <a:spcPts val="0"/>
              </a:spcAft>
              <a:buNone/>
            </a:pPr>
            <a:r>
              <a:rPr lang="en-US" sz="1400" b="0" i="0" u="none" strike="noStrike" cap="none">
                <a:solidFill>
                  <a:srgbClr val="000000"/>
                </a:solidFill>
                <a:latin typeface="+mn-lt"/>
                <a:ea typeface="Arial"/>
                <a:cs typeface="Arial"/>
                <a:sym typeface="Arial"/>
              </a:rPr>
              <a:t>Adapted from Blomquist et al. (2010)</a:t>
            </a:r>
            <a:endParaRPr>
              <a:latin typeface="+mn-lt"/>
            </a:endParaRPr>
          </a:p>
        </p:txBody>
      </p:sp>
      <p:sp>
        <p:nvSpPr>
          <p:cNvPr id="23" name="Google Shape;656;p55">
            <a:extLst>
              <a:ext uri="{FF2B5EF4-FFF2-40B4-BE49-F238E27FC236}">
                <a16:creationId xmlns:a16="http://schemas.microsoft.com/office/drawing/2014/main" id="{C1337B67-64C9-D2E2-335A-114615170D3C}"/>
              </a:ext>
            </a:extLst>
          </p:cNvPr>
          <p:cNvSpPr txBox="1"/>
          <p:nvPr/>
        </p:nvSpPr>
        <p:spPr>
          <a:xfrm>
            <a:off x="8529192" y="5130764"/>
            <a:ext cx="1371600" cy="36671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1800" b="1" i="1" u="none" strike="noStrike" cap="none" dirty="0">
                <a:solidFill>
                  <a:srgbClr val="FF0000"/>
                </a:solidFill>
                <a:latin typeface="Arial Black"/>
                <a:ea typeface="Arial Black"/>
                <a:cs typeface="Arial Black"/>
                <a:sym typeface="Arial Black"/>
              </a:rPr>
              <a:t>Proxy</a:t>
            </a:r>
            <a:endParaRPr dirty="0"/>
          </a:p>
        </p:txBody>
      </p:sp>
      <p:sp>
        <p:nvSpPr>
          <p:cNvPr id="24" name="Google Shape;657;p55">
            <a:extLst>
              <a:ext uri="{FF2B5EF4-FFF2-40B4-BE49-F238E27FC236}">
                <a16:creationId xmlns:a16="http://schemas.microsoft.com/office/drawing/2014/main" id="{2DB9FABB-5415-5560-CD26-54250B591FCF}"/>
              </a:ext>
            </a:extLst>
          </p:cNvPr>
          <p:cNvSpPr txBox="1"/>
          <p:nvPr/>
        </p:nvSpPr>
        <p:spPr>
          <a:xfrm>
            <a:off x="4122047" y="4997862"/>
            <a:ext cx="1371600" cy="36671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1800" b="1" i="1" u="none" strike="noStrike" cap="none">
                <a:solidFill>
                  <a:srgbClr val="FF0000"/>
                </a:solidFill>
                <a:latin typeface="Arial Black"/>
                <a:ea typeface="Arial Black"/>
                <a:cs typeface="Arial Black"/>
                <a:sym typeface="Arial Black"/>
              </a:rPr>
              <a:t>Natural</a:t>
            </a:r>
            <a:endParaRPr/>
          </a:p>
        </p:txBody>
      </p:sp>
      <p:sp>
        <p:nvSpPr>
          <p:cNvPr id="25" name="Google Shape;658;p55">
            <a:extLst>
              <a:ext uri="{FF2B5EF4-FFF2-40B4-BE49-F238E27FC236}">
                <a16:creationId xmlns:a16="http://schemas.microsoft.com/office/drawing/2014/main" id="{DA4714C1-7DA8-3135-32F8-F58D901F52C2}"/>
              </a:ext>
            </a:extLst>
          </p:cNvPr>
          <p:cNvSpPr txBox="1"/>
          <p:nvPr/>
        </p:nvSpPr>
        <p:spPr>
          <a:xfrm>
            <a:off x="1950648" y="5790151"/>
            <a:ext cx="1820678"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800" b="1" i="1" u="none" strike="noStrike" cap="none" dirty="0">
                <a:solidFill>
                  <a:srgbClr val="FF0000"/>
                </a:solidFill>
                <a:latin typeface="Arial Black"/>
                <a:ea typeface="Arial Black"/>
                <a:cs typeface="Arial Black"/>
                <a:sym typeface="Arial Black"/>
              </a:rPr>
              <a:t>Constructed</a:t>
            </a:r>
            <a:endParaRPr dirty="0"/>
          </a:p>
        </p:txBody>
      </p:sp>
      <p:sp>
        <p:nvSpPr>
          <p:cNvPr id="26" name="Google Shape;659;p55">
            <a:extLst>
              <a:ext uri="{FF2B5EF4-FFF2-40B4-BE49-F238E27FC236}">
                <a16:creationId xmlns:a16="http://schemas.microsoft.com/office/drawing/2014/main" id="{D5F04EAE-EB31-14A8-020D-FCDB324C0622}"/>
              </a:ext>
            </a:extLst>
          </p:cNvPr>
          <p:cNvSpPr txBox="1"/>
          <p:nvPr/>
        </p:nvSpPr>
        <p:spPr>
          <a:xfrm>
            <a:off x="6142794" y="5314121"/>
            <a:ext cx="1371600" cy="36671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1800" b="1" i="1" u="none" strike="noStrike" cap="none" dirty="0">
                <a:solidFill>
                  <a:srgbClr val="FF0000"/>
                </a:solidFill>
                <a:latin typeface="Arial Black"/>
                <a:ea typeface="Arial Black"/>
                <a:cs typeface="Arial Black"/>
                <a:sym typeface="Arial Black"/>
              </a:rPr>
              <a:t>Natural</a:t>
            </a:r>
            <a:endParaRPr dirty="0"/>
          </a:p>
        </p:txBody>
      </p:sp>
      <p:sp>
        <p:nvSpPr>
          <p:cNvPr id="3" name="TextBox 2">
            <a:extLst>
              <a:ext uri="{FF2B5EF4-FFF2-40B4-BE49-F238E27FC236}">
                <a16:creationId xmlns:a16="http://schemas.microsoft.com/office/drawing/2014/main" id="{504B745C-BDE9-41CA-4439-EB400054803C}"/>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Tree>
    <p:extLst>
      <p:ext uri="{BB962C8B-B14F-4D97-AF65-F5344CB8AC3E}">
        <p14:creationId xmlns:p14="http://schemas.microsoft.com/office/powerpoint/2010/main" val="606874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453DB-7D8E-3C1F-420C-6CC681E7203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80AD292-6EFA-4D36-BB83-DCF55B8AE861}"/>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Title 1">
            <a:extLst>
              <a:ext uri="{FF2B5EF4-FFF2-40B4-BE49-F238E27FC236}">
                <a16:creationId xmlns:a16="http://schemas.microsoft.com/office/drawing/2014/main" id="{128C1BEF-82EC-C38A-F907-7A4E21EDF9DC}"/>
              </a:ext>
            </a:extLst>
          </p:cNvPr>
          <p:cNvSpPr txBox="1">
            <a:spLocks/>
          </p:cNvSpPr>
          <p:nvPr/>
        </p:nvSpPr>
        <p:spPr>
          <a:xfrm>
            <a:off x="0" y="386671"/>
            <a:ext cx="12192000" cy="734352"/>
          </a:xfrm>
          <a:prstGeom prst="rect">
            <a:avLst/>
          </a:prstGeom>
          <a:solidFill>
            <a:schemeClr val="accent5">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Skills Check Task 3-4</a:t>
            </a:r>
          </a:p>
        </p:txBody>
      </p:sp>
      <p:sp>
        <p:nvSpPr>
          <p:cNvPr id="4" name="Google Shape;225;p18">
            <a:extLst>
              <a:ext uri="{FF2B5EF4-FFF2-40B4-BE49-F238E27FC236}">
                <a16:creationId xmlns:a16="http://schemas.microsoft.com/office/drawing/2014/main" id="{9B9B1E2E-89F1-FF15-5EB3-801CB605AC1A}"/>
              </a:ext>
            </a:extLst>
          </p:cNvPr>
          <p:cNvSpPr txBox="1">
            <a:spLocks/>
          </p:cNvSpPr>
          <p:nvPr/>
        </p:nvSpPr>
        <p:spPr>
          <a:xfrm>
            <a:off x="689941" y="1885363"/>
            <a:ext cx="11325596" cy="4387100"/>
          </a:xfrm>
          <a:prstGeom prst="rect">
            <a:avLst/>
          </a:prstGeom>
          <a:noFill/>
          <a:ln>
            <a:noFill/>
          </a:ln>
        </p:spPr>
        <p:txBody>
          <a:bodyPr spcFirstLastPara="1" vert="horz" wrap="square" lIns="91425" tIns="45700" rIns="91425" bIns="45700" rtlCol="0" anchor="t" anchorCtr="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640"/>
              </a:spcBef>
              <a:buSzPts val="3200"/>
              <a:buFont typeface="Arial"/>
              <a:buNone/>
            </a:pPr>
            <a:r>
              <a:rPr lang="en-US" sz="4000" b="1" dirty="0">
                <a:solidFill>
                  <a:schemeClr val="dk1"/>
                </a:solidFill>
                <a:sym typeface="Century Gothic"/>
              </a:rPr>
              <a:t>TASK 3: Measurable attributes</a:t>
            </a:r>
          </a:p>
          <a:p>
            <a:pPr marL="400050" marR="0" lvl="0" indent="-400050" algn="l" defTabSz="914400" rtl="0" eaLnBrk="1" fontAlgn="auto" latinLnBrk="0" hangingPunct="1">
              <a:lnSpc>
                <a:spcPct val="100000"/>
              </a:lnSpc>
              <a:spcBef>
                <a:spcPts val="640"/>
              </a:spcBef>
              <a:spcAft>
                <a:spcPts val="0"/>
              </a:spcAft>
              <a:buClr>
                <a:srgbClr val="000000"/>
              </a:buClr>
              <a:buSzPts val="3200"/>
              <a:buFont typeface="Arial"/>
              <a:buChar char="•"/>
              <a:tabLst/>
              <a:defRPr/>
            </a:pPr>
            <a:r>
              <a:rPr kumimoji="0" lang="en-US" sz="3200" b="0" i="0" u="none" strike="noStrike" kern="0" cap="none" spc="0" normalizeH="0" baseline="0" noProof="0" dirty="0">
                <a:ln>
                  <a:noFill/>
                </a:ln>
                <a:solidFill>
                  <a:srgbClr val="000000"/>
                </a:solidFill>
                <a:effectLst/>
                <a:uLnTx/>
                <a:uFillTx/>
                <a:ea typeface="MS PGothic" charset="0"/>
                <a:cs typeface="Arial"/>
                <a:sym typeface="Arial"/>
              </a:rPr>
              <a:t>Describe measurable attributes for your fundamental objectives and determine attribute type.</a:t>
            </a:r>
          </a:p>
          <a:p>
            <a:pPr marL="0" indent="0">
              <a:lnSpc>
                <a:spcPct val="100000"/>
              </a:lnSpc>
              <a:spcBef>
                <a:spcPts val="640"/>
              </a:spcBef>
              <a:buSzPts val="3200"/>
              <a:buFont typeface="Arial"/>
              <a:buNone/>
            </a:pPr>
            <a:endParaRPr lang="en-US" sz="4400" b="1" dirty="0"/>
          </a:p>
          <a:p>
            <a:pPr marL="0" indent="0">
              <a:lnSpc>
                <a:spcPct val="100000"/>
              </a:lnSpc>
              <a:spcBef>
                <a:spcPts val="640"/>
              </a:spcBef>
              <a:buSzPts val="3200"/>
              <a:buFont typeface="Arial"/>
              <a:buNone/>
            </a:pPr>
            <a:r>
              <a:rPr lang="en-US" sz="4000" b="1" dirty="0">
                <a:solidFill>
                  <a:schemeClr val="dk1"/>
                </a:solidFill>
                <a:sym typeface="Century Gothic"/>
              </a:rPr>
              <a:t>TASK 4: Share objectives</a:t>
            </a:r>
          </a:p>
          <a:p>
            <a:pPr marL="400050" lvl="0" indent="-400050">
              <a:lnSpc>
                <a:spcPct val="100000"/>
              </a:lnSpc>
              <a:spcBef>
                <a:spcPts val="640"/>
              </a:spcBef>
              <a:buClr>
                <a:srgbClr val="000000"/>
              </a:buClr>
              <a:buSzPts val="3200"/>
              <a:buFont typeface="Arial"/>
              <a:buChar char="•"/>
              <a:defRPr/>
            </a:pPr>
            <a:r>
              <a:rPr lang="en-US" sz="3200" kern="0" dirty="0">
                <a:solidFill>
                  <a:srgbClr val="000000"/>
                </a:solidFill>
                <a:ea typeface="MS PGothic" charset="0"/>
                <a:cs typeface="Arial"/>
                <a:sym typeface="Arial"/>
              </a:rPr>
              <a:t>Each group will share your objectives (fundamental/means/strategic/process) and your attributes</a:t>
            </a:r>
          </a:p>
          <a:p>
            <a:pPr marL="0" indent="0">
              <a:lnSpc>
                <a:spcPct val="100000"/>
              </a:lnSpc>
              <a:spcBef>
                <a:spcPts val="640"/>
              </a:spcBef>
              <a:buSzPts val="3200"/>
              <a:buFont typeface="Arial"/>
              <a:buNone/>
            </a:pPr>
            <a:endParaRPr lang="en-US" sz="4400" b="1" dirty="0"/>
          </a:p>
        </p:txBody>
      </p:sp>
      <p:sp>
        <p:nvSpPr>
          <p:cNvPr id="10" name="TextBox 9">
            <a:extLst>
              <a:ext uri="{FF2B5EF4-FFF2-40B4-BE49-F238E27FC236}">
                <a16:creationId xmlns:a16="http://schemas.microsoft.com/office/drawing/2014/main" id="{7BC1593E-3002-7B0C-B35A-18DCB5CD53AB}"/>
              </a:ext>
            </a:extLst>
          </p:cNvPr>
          <p:cNvSpPr txBox="1"/>
          <p:nvPr/>
        </p:nvSpPr>
        <p:spPr>
          <a:xfrm>
            <a:off x="63169" y="1213673"/>
            <a:ext cx="12192000" cy="734352"/>
          </a:xfrm>
          <a:prstGeom prst="rect">
            <a:avLst/>
          </a:prstGeom>
          <a:noFill/>
        </p:spPr>
        <p:txBody>
          <a:bodyPr wrap="square">
            <a:spAutoFit/>
          </a:bodyPr>
          <a:lstStyle/>
          <a:p>
            <a:pPr marL="0" indent="0" algn="ctr">
              <a:lnSpc>
                <a:spcPct val="100000"/>
              </a:lnSpc>
              <a:spcBef>
                <a:spcPts val="600"/>
              </a:spcBef>
              <a:buSzPts val="3200"/>
              <a:buNone/>
            </a:pPr>
            <a:r>
              <a:rPr lang="en-US" sz="4000" b="1" dirty="0">
                <a:solidFill>
                  <a:schemeClr val="dk1"/>
                </a:solidFill>
                <a:sym typeface="Century Gothic"/>
              </a:rPr>
              <a:t>Lizard example</a:t>
            </a:r>
            <a:endParaRPr lang="en-US" sz="4800" b="1" dirty="0"/>
          </a:p>
        </p:txBody>
      </p:sp>
    </p:spTree>
    <p:extLst>
      <p:ext uri="{BB962C8B-B14F-4D97-AF65-F5344CB8AC3E}">
        <p14:creationId xmlns:p14="http://schemas.microsoft.com/office/powerpoint/2010/main" val="9778690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3F9EC-F18D-0D97-18AE-6C02A8E04B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6F93C8-BFBF-89CA-9C75-E844CA4538EC}"/>
              </a:ext>
            </a:extLst>
          </p:cNvPr>
          <p:cNvSpPr>
            <a:spLocks noGrp="1"/>
          </p:cNvSpPr>
          <p:nvPr>
            <p:ph type="title"/>
          </p:nvPr>
        </p:nvSpPr>
        <p:spPr>
          <a:xfrm>
            <a:off x="1598655" y="1732171"/>
            <a:ext cx="10644368" cy="4283901"/>
          </a:xfrm>
        </p:spPr>
        <p:txBody>
          <a:bodyPr>
            <a:normAutofit/>
          </a:bodyPr>
          <a:lstStyle/>
          <a:p>
            <a:pPr lvl="0">
              <a:lnSpc>
                <a:spcPct val="100000"/>
              </a:lnSpc>
              <a:spcBef>
                <a:spcPts val="640"/>
              </a:spcBef>
              <a:buSzPts val="3200"/>
            </a:pPr>
            <a:r>
              <a:rPr lang="en-US" sz="4000" dirty="0"/>
              <a:t>1. Articulate goals &amp; concerns</a:t>
            </a:r>
            <a:br>
              <a:rPr lang="en-US" sz="4000" dirty="0"/>
            </a:br>
            <a:r>
              <a:rPr lang="en-US" sz="4000" dirty="0"/>
              <a:t>2. </a:t>
            </a:r>
            <a:r>
              <a:rPr lang="en-US" sz="4000" dirty="0">
                <a:solidFill>
                  <a:schemeClr val="dk1"/>
                </a:solidFill>
              </a:rPr>
              <a:t>Convert goals &amp; concerns to objectives</a:t>
            </a:r>
            <a:br>
              <a:rPr lang="en-US" sz="4000" dirty="0"/>
            </a:br>
            <a:r>
              <a:rPr lang="en-US" sz="4000" dirty="0"/>
              <a:t>3. </a:t>
            </a:r>
            <a:r>
              <a:rPr lang="en-US" sz="4000" dirty="0">
                <a:solidFill>
                  <a:schemeClr val="dk1"/>
                </a:solidFill>
              </a:rPr>
              <a:t>Structure objectives</a:t>
            </a:r>
            <a:br>
              <a:rPr lang="en-US" sz="4000" dirty="0"/>
            </a:br>
            <a:r>
              <a:rPr lang="en-US" sz="4000" dirty="0"/>
              <a:t>4. </a:t>
            </a:r>
            <a:r>
              <a:rPr lang="en-US" sz="4000" dirty="0">
                <a:solidFill>
                  <a:schemeClr val="dk1"/>
                </a:solidFill>
              </a:rPr>
              <a:t>Create measurable attributes for each objective</a:t>
            </a:r>
            <a:br>
              <a:rPr lang="en-US" sz="4000" dirty="0"/>
            </a:br>
            <a:r>
              <a:rPr lang="en-US" sz="4000" b="1" i="1" u="sng" dirty="0">
                <a:solidFill>
                  <a:schemeClr val="dk1"/>
                </a:solidFill>
              </a:rPr>
              <a:t>Repeat as needed</a:t>
            </a:r>
            <a:br>
              <a:rPr lang="en-US" sz="4000" dirty="0"/>
            </a:br>
            <a:endParaRPr lang="en-US" sz="4000" dirty="0"/>
          </a:p>
        </p:txBody>
      </p:sp>
      <p:sp>
        <p:nvSpPr>
          <p:cNvPr id="4" name="Title 1">
            <a:extLst>
              <a:ext uri="{FF2B5EF4-FFF2-40B4-BE49-F238E27FC236}">
                <a16:creationId xmlns:a16="http://schemas.microsoft.com/office/drawing/2014/main" id="{F22DA2D4-A515-40DB-C44B-FB5B6CCB2843}"/>
              </a:ext>
            </a:extLst>
          </p:cNvPr>
          <p:cNvSpPr txBox="1">
            <a:spLocks/>
          </p:cNvSpPr>
          <p:nvPr/>
        </p:nvSpPr>
        <p:spPr>
          <a:xfrm>
            <a:off x="933022" y="59366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Process for identifying objectives:</a:t>
            </a:r>
          </a:p>
        </p:txBody>
      </p:sp>
      <p:sp>
        <p:nvSpPr>
          <p:cNvPr id="5" name="TextBox 4">
            <a:extLst>
              <a:ext uri="{FF2B5EF4-FFF2-40B4-BE49-F238E27FC236}">
                <a16:creationId xmlns:a16="http://schemas.microsoft.com/office/drawing/2014/main" id="{5294C13E-D812-0910-1085-6866F7F61E76}"/>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8" name="Left Brace 7">
            <a:extLst>
              <a:ext uri="{FF2B5EF4-FFF2-40B4-BE49-F238E27FC236}">
                <a16:creationId xmlns:a16="http://schemas.microsoft.com/office/drawing/2014/main" id="{3A1A2E1C-573D-86BE-5BD1-712FC60851ED}"/>
              </a:ext>
            </a:extLst>
          </p:cNvPr>
          <p:cNvSpPr/>
          <p:nvPr/>
        </p:nvSpPr>
        <p:spPr>
          <a:xfrm>
            <a:off x="1046948" y="2287439"/>
            <a:ext cx="601449" cy="867077"/>
          </a:xfrm>
          <a:prstGeom prst="leftBrace">
            <a:avLst/>
          </a:prstGeom>
          <a:ln w="381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0901F56-7150-11C2-DDFB-9F854F0487CC}"/>
              </a:ext>
            </a:extLst>
          </p:cNvPr>
          <p:cNvSpPr txBox="1"/>
          <p:nvPr/>
        </p:nvSpPr>
        <p:spPr>
          <a:xfrm>
            <a:off x="110153" y="2299159"/>
            <a:ext cx="936795" cy="707886"/>
          </a:xfrm>
          <a:prstGeom prst="rect">
            <a:avLst/>
          </a:prstGeom>
          <a:noFill/>
        </p:spPr>
        <p:txBody>
          <a:bodyPr wrap="none" rtlCol="0">
            <a:spAutoFit/>
          </a:bodyPr>
          <a:lstStyle/>
          <a:p>
            <a:pPr algn="ctr"/>
            <a:r>
              <a:rPr lang="en-US" sz="2000" b="1" dirty="0">
                <a:solidFill>
                  <a:schemeClr val="accent1"/>
                </a:solidFill>
              </a:rPr>
              <a:t>Big</a:t>
            </a:r>
          </a:p>
          <a:p>
            <a:pPr algn="ctr"/>
            <a:r>
              <a:rPr lang="en-US" sz="2000" b="1" dirty="0">
                <a:solidFill>
                  <a:schemeClr val="accent1"/>
                </a:solidFill>
              </a:rPr>
              <a:t>picture</a:t>
            </a:r>
          </a:p>
        </p:txBody>
      </p:sp>
      <p:sp>
        <p:nvSpPr>
          <p:cNvPr id="10" name="Left Brace 9">
            <a:extLst>
              <a:ext uri="{FF2B5EF4-FFF2-40B4-BE49-F238E27FC236}">
                <a16:creationId xmlns:a16="http://schemas.microsoft.com/office/drawing/2014/main" id="{8885E5AA-2BFE-2C7F-E5F0-4208152DB4E7}"/>
              </a:ext>
            </a:extLst>
          </p:cNvPr>
          <p:cNvSpPr/>
          <p:nvPr/>
        </p:nvSpPr>
        <p:spPr>
          <a:xfrm>
            <a:off x="976696" y="3423739"/>
            <a:ext cx="567559" cy="867077"/>
          </a:xfrm>
          <a:prstGeom prst="leftBrace">
            <a:avLst/>
          </a:prstGeom>
          <a:ln w="3810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BDF29BD0-D96A-E640-6229-5A0F43E4F322}"/>
              </a:ext>
            </a:extLst>
          </p:cNvPr>
          <p:cNvSpPr txBox="1"/>
          <p:nvPr/>
        </p:nvSpPr>
        <p:spPr>
          <a:xfrm>
            <a:off x="80657" y="3497013"/>
            <a:ext cx="995785" cy="707886"/>
          </a:xfrm>
          <a:prstGeom prst="rect">
            <a:avLst/>
          </a:prstGeom>
          <a:noFill/>
        </p:spPr>
        <p:txBody>
          <a:bodyPr wrap="none" rtlCol="0">
            <a:spAutoFit/>
          </a:bodyPr>
          <a:lstStyle/>
          <a:p>
            <a:pPr algn="ctr"/>
            <a:r>
              <a:rPr lang="en-US" sz="2000" b="1" dirty="0">
                <a:solidFill>
                  <a:schemeClr val="accent6"/>
                </a:solidFill>
              </a:rPr>
              <a:t>Specific</a:t>
            </a:r>
          </a:p>
          <a:p>
            <a:pPr algn="ctr"/>
            <a:r>
              <a:rPr lang="en-US" sz="2000" b="1" dirty="0">
                <a:solidFill>
                  <a:schemeClr val="accent6"/>
                </a:solidFill>
              </a:rPr>
              <a:t>Steps</a:t>
            </a:r>
          </a:p>
        </p:txBody>
      </p:sp>
    </p:spTree>
    <p:extLst>
      <p:ext uri="{BB962C8B-B14F-4D97-AF65-F5344CB8AC3E}">
        <p14:creationId xmlns:p14="http://schemas.microsoft.com/office/powerpoint/2010/main" val="31172048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CBB25-0890-8D80-E5B5-D4CEF9D2D6DE}"/>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ECF5C02-B233-DC82-31EF-D46497A552EB}"/>
              </a:ext>
            </a:extLst>
          </p:cNvPr>
          <p:cNvSpPr txBox="1">
            <a:spLocks/>
          </p:cNvSpPr>
          <p:nvPr/>
        </p:nvSpPr>
        <p:spPr>
          <a:xfrm>
            <a:off x="561333" y="42302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Repeat as needed:</a:t>
            </a:r>
          </a:p>
        </p:txBody>
      </p:sp>
      <p:sp>
        <p:nvSpPr>
          <p:cNvPr id="5" name="TextBox 4">
            <a:extLst>
              <a:ext uri="{FF2B5EF4-FFF2-40B4-BE49-F238E27FC236}">
                <a16:creationId xmlns:a16="http://schemas.microsoft.com/office/drawing/2014/main" id="{08B493BA-7095-C979-ADE3-C17EB3D6184B}"/>
              </a:ext>
            </a:extLst>
          </p:cNvPr>
          <p:cNvSpPr txBox="1"/>
          <p:nvPr/>
        </p:nvSpPr>
        <p:spPr>
          <a:xfrm>
            <a:off x="0" y="6581001"/>
            <a:ext cx="8918089" cy="276999"/>
          </a:xfrm>
          <a:prstGeom prst="rect">
            <a:avLst/>
          </a:prstGeom>
          <a:noFill/>
        </p:spPr>
        <p:txBody>
          <a:bodyPr wrap="square">
            <a:spAutoFit/>
          </a:bodyPr>
          <a:lstStyle/>
          <a:p>
            <a:r>
              <a:rPr lang="en-US" sz="1200" dirty="0"/>
              <a:t>Developed by Alex McInturff, Jean Fitts Cochrane, Angela Matz, Jennifer A. Szymanski, James E. Lyons, Sarah J. Converse, &amp; Michael C. Runge</a:t>
            </a:r>
          </a:p>
        </p:txBody>
      </p:sp>
      <p:sp>
        <p:nvSpPr>
          <p:cNvPr id="12" name="TextBox 11">
            <a:extLst>
              <a:ext uri="{FF2B5EF4-FFF2-40B4-BE49-F238E27FC236}">
                <a16:creationId xmlns:a16="http://schemas.microsoft.com/office/drawing/2014/main" id="{9BE5F49D-F5A2-7BAB-1F57-2B700D51C74D}"/>
              </a:ext>
            </a:extLst>
          </p:cNvPr>
          <p:cNvSpPr txBox="1"/>
          <p:nvPr/>
        </p:nvSpPr>
        <p:spPr>
          <a:xfrm>
            <a:off x="561333" y="1627503"/>
            <a:ext cx="11258978" cy="4807470"/>
          </a:xfrm>
          <a:prstGeom prst="rect">
            <a:avLst/>
          </a:prstGeom>
          <a:noFill/>
        </p:spPr>
        <p:txBody>
          <a:bodyPr wrap="square">
            <a:spAutoFit/>
          </a:bodyPr>
          <a:lstStyle/>
          <a:p>
            <a:pPr marL="0" indent="0">
              <a:lnSpc>
                <a:spcPct val="110000"/>
              </a:lnSpc>
              <a:buNone/>
              <a:defRPr/>
            </a:pPr>
            <a:r>
              <a:rPr lang="en-US" sz="3200" dirty="0">
                <a:solidFill>
                  <a:schemeClr val="tx1"/>
                </a:solidFill>
                <a:latin typeface="+mn-lt"/>
                <a:ea typeface="MS PGothic" charset="0"/>
              </a:rPr>
              <a:t>You may have to go around the SDM track before the objectives are fully understood</a:t>
            </a:r>
          </a:p>
          <a:p>
            <a:pPr marL="0" indent="0">
              <a:buNone/>
              <a:defRPr/>
            </a:pPr>
            <a:r>
              <a:rPr lang="en-US" sz="3200" dirty="0">
                <a:solidFill>
                  <a:schemeClr val="tx1"/>
                </a:solidFill>
                <a:latin typeface="+mn-lt"/>
                <a:ea typeface="MS PGothic" charset="0"/>
              </a:rPr>
              <a:t> </a:t>
            </a:r>
          </a:p>
          <a:p>
            <a:pPr eaLnBrk="1" hangingPunct="1">
              <a:defRPr/>
            </a:pPr>
            <a:r>
              <a:rPr lang="en-US" sz="3200" dirty="0">
                <a:solidFill>
                  <a:schemeClr val="tx1"/>
                </a:solidFill>
                <a:latin typeface="+mn-lt"/>
                <a:ea typeface="MS PGothic" charset="0"/>
              </a:rPr>
              <a:t>Experiment with your objectives in a tentative decision process, asking:</a:t>
            </a:r>
          </a:p>
          <a:p>
            <a:pPr lvl="1" eaLnBrk="1" hangingPunct="1">
              <a:defRPr/>
            </a:pPr>
            <a:r>
              <a:rPr lang="en-US" sz="2800" dirty="0">
                <a:solidFill>
                  <a:srgbClr val="002060"/>
                </a:solidFill>
                <a:ea typeface="MS PGothic" charset="0"/>
              </a:rPr>
              <a:t>Can these distinguish among alternatives?</a:t>
            </a:r>
          </a:p>
          <a:p>
            <a:pPr lvl="1" eaLnBrk="1" hangingPunct="1">
              <a:defRPr/>
            </a:pPr>
            <a:r>
              <a:rPr lang="en-US" sz="2800" dirty="0">
                <a:solidFill>
                  <a:srgbClr val="002060"/>
                </a:solidFill>
                <a:ea typeface="MS PGothic" charset="0"/>
              </a:rPr>
              <a:t>Are they really distinct and independent?  </a:t>
            </a:r>
          </a:p>
          <a:p>
            <a:pPr lvl="1" eaLnBrk="1" hangingPunct="1">
              <a:defRPr/>
            </a:pPr>
            <a:r>
              <a:rPr lang="en-US" sz="2800" dirty="0">
                <a:solidFill>
                  <a:srgbClr val="002060"/>
                </a:solidFill>
                <a:ea typeface="MS PGothic" charset="0"/>
              </a:rPr>
              <a:t>Could you be comfortable with a decision reached with these objectives?</a:t>
            </a:r>
          </a:p>
          <a:p>
            <a:pPr lvl="1" eaLnBrk="1" hangingPunct="1">
              <a:defRPr/>
            </a:pPr>
            <a:r>
              <a:rPr lang="en-US" sz="2800" dirty="0">
                <a:solidFill>
                  <a:srgbClr val="002060"/>
                </a:solidFill>
                <a:ea typeface="MS PGothic" charset="0"/>
              </a:rPr>
              <a:t>Could you explain your choice to others &amp; the public? </a:t>
            </a:r>
          </a:p>
          <a:p>
            <a:pPr lvl="1" eaLnBrk="1" hangingPunct="1">
              <a:defRPr/>
            </a:pPr>
            <a:r>
              <a:rPr lang="en-US" sz="2800" dirty="0">
                <a:solidFill>
                  <a:srgbClr val="002060"/>
                </a:solidFill>
                <a:ea typeface="MS PGothic" charset="0"/>
              </a:rPr>
              <a:t>If not, what’s missing? </a:t>
            </a:r>
          </a:p>
        </p:txBody>
      </p:sp>
    </p:spTree>
    <p:extLst>
      <p:ext uri="{BB962C8B-B14F-4D97-AF65-F5344CB8AC3E}">
        <p14:creationId xmlns:p14="http://schemas.microsoft.com/office/powerpoint/2010/main" val="226276408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01EF1-132C-3300-3EA1-6656F6C74F0B}"/>
              </a:ext>
            </a:extLst>
          </p:cNvPr>
          <p:cNvSpPr>
            <a:spLocks noGrp="1"/>
          </p:cNvSpPr>
          <p:nvPr>
            <p:ph type="title"/>
          </p:nvPr>
        </p:nvSpPr>
        <p:spPr>
          <a:xfrm>
            <a:off x="0" y="365126"/>
            <a:ext cx="12192000" cy="882762"/>
          </a:xfrm>
          <a:solidFill>
            <a:schemeClr val="accent6">
              <a:lumMod val="20000"/>
              <a:lumOff val="80000"/>
            </a:schemeClr>
          </a:solidFill>
        </p:spPr>
        <p:txBody>
          <a:bodyPr/>
          <a:lstStyle/>
          <a:p>
            <a:pPr algn="ctr"/>
            <a:r>
              <a:rPr lang="en-US" dirty="0"/>
              <a:t>Activity: think about your decision problem</a:t>
            </a:r>
          </a:p>
        </p:txBody>
      </p:sp>
      <p:sp>
        <p:nvSpPr>
          <p:cNvPr id="3" name="Content Placeholder 2">
            <a:extLst>
              <a:ext uri="{FF2B5EF4-FFF2-40B4-BE49-F238E27FC236}">
                <a16:creationId xmlns:a16="http://schemas.microsoft.com/office/drawing/2014/main" id="{7261D06F-3E23-2161-20A9-95CC0CC852C4}"/>
              </a:ext>
            </a:extLst>
          </p:cNvPr>
          <p:cNvSpPr>
            <a:spLocks noGrp="1"/>
          </p:cNvSpPr>
          <p:nvPr>
            <p:ph idx="1"/>
          </p:nvPr>
        </p:nvSpPr>
        <p:spPr>
          <a:xfrm>
            <a:off x="1496657" y="1690494"/>
            <a:ext cx="9198685" cy="4006463"/>
          </a:xfrm>
        </p:spPr>
        <p:txBody>
          <a:bodyPr>
            <a:normAutofit/>
          </a:bodyPr>
          <a:lstStyle/>
          <a:p>
            <a:r>
              <a:rPr lang="en-US" dirty="0"/>
              <a:t>For your final project presentation, you will provide a slide of your objectives</a:t>
            </a:r>
            <a:endParaRPr lang="en-US" dirty="0">
              <a:ea typeface="ＭＳ Ｐゴシック" charset="0"/>
              <a:cs typeface="ＭＳ Ｐゴシック" charset="0"/>
            </a:endParaRPr>
          </a:p>
          <a:p>
            <a:pPr lvl="1">
              <a:spcBef>
                <a:spcPts val="1200"/>
              </a:spcBef>
              <a:defRPr/>
            </a:pPr>
            <a:r>
              <a:rPr lang="en-US" dirty="0">
                <a:ea typeface="ＭＳ Ｐゴシック" charset="0"/>
                <a:cs typeface="ＭＳ Ｐゴシック" charset="0"/>
              </a:rPr>
              <a:t>Can you define some objectives?</a:t>
            </a:r>
          </a:p>
          <a:p>
            <a:pPr lvl="1">
              <a:spcBef>
                <a:spcPts val="1200"/>
              </a:spcBef>
              <a:defRPr/>
            </a:pPr>
            <a:r>
              <a:rPr lang="en-US" dirty="0">
                <a:ea typeface="ＭＳ Ｐゴシック" charset="0"/>
                <a:cs typeface="ＭＳ Ｐゴシック" charset="0"/>
              </a:rPr>
              <a:t>Can you distinguish fundamental from means?</a:t>
            </a:r>
          </a:p>
          <a:p>
            <a:pPr lvl="1">
              <a:spcBef>
                <a:spcPts val="1200"/>
              </a:spcBef>
              <a:defRPr/>
            </a:pPr>
            <a:r>
              <a:rPr lang="en-US" dirty="0">
                <a:ea typeface="ＭＳ Ｐゴシック" charset="0"/>
                <a:cs typeface="ＭＳ Ｐゴシック" charset="0"/>
              </a:rPr>
              <a:t>Create a hierarchy?</a:t>
            </a:r>
          </a:p>
          <a:p>
            <a:pPr lvl="1">
              <a:spcBef>
                <a:spcPts val="1200"/>
              </a:spcBef>
              <a:defRPr/>
            </a:pPr>
            <a:r>
              <a:rPr lang="en-US" dirty="0">
                <a:ea typeface="ＭＳ Ｐゴシック" charset="0"/>
                <a:cs typeface="ＭＳ Ｐゴシック" charset="0"/>
              </a:rPr>
              <a:t>Can you develop measurable attributes?</a:t>
            </a:r>
          </a:p>
          <a:p>
            <a:pPr marL="457200" lvl="1" indent="0">
              <a:buNone/>
            </a:pPr>
            <a:endParaRPr lang="en-US" b="1" dirty="0"/>
          </a:p>
          <a:p>
            <a:r>
              <a:rPr lang="en-US" b="1" dirty="0"/>
              <a:t>Feel free to go back to your problem framing step!</a:t>
            </a:r>
          </a:p>
        </p:txBody>
      </p:sp>
      <p:sp>
        <p:nvSpPr>
          <p:cNvPr id="4" name="TextBox 3">
            <a:extLst>
              <a:ext uri="{FF2B5EF4-FFF2-40B4-BE49-F238E27FC236}">
                <a16:creationId xmlns:a16="http://schemas.microsoft.com/office/drawing/2014/main" id="{B50900BC-2036-C727-9DD8-46CD3EE84031}"/>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31907654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A6F5A-257E-97E6-83AA-4696B79EF0C5}"/>
              </a:ext>
            </a:extLst>
          </p:cNvPr>
          <p:cNvSpPr>
            <a:spLocks noGrp="1"/>
          </p:cNvSpPr>
          <p:nvPr>
            <p:ph type="title"/>
          </p:nvPr>
        </p:nvSpPr>
        <p:spPr>
          <a:xfrm>
            <a:off x="838200" y="365125"/>
            <a:ext cx="10515600" cy="1325563"/>
          </a:xfrm>
        </p:spPr>
        <p:txBody>
          <a:bodyPr anchor="ctr">
            <a:normAutofit/>
          </a:bodyPr>
          <a:lstStyle/>
          <a:p>
            <a:r>
              <a:rPr lang="en-US" dirty="0"/>
              <a:t>Looking ahead:</a:t>
            </a:r>
          </a:p>
        </p:txBody>
      </p:sp>
      <p:graphicFrame>
        <p:nvGraphicFramePr>
          <p:cNvPr id="5" name="Content Placeholder 2">
            <a:extLst>
              <a:ext uri="{FF2B5EF4-FFF2-40B4-BE49-F238E27FC236}">
                <a16:creationId xmlns:a16="http://schemas.microsoft.com/office/drawing/2014/main" id="{F064ADAB-75C7-5015-D427-2B0C35D721B5}"/>
              </a:ext>
            </a:extLst>
          </p:cNvPr>
          <p:cNvGraphicFramePr>
            <a:graphicFrameLocks noGrp="1"/>
          </p:cNvGraphicFramePr>
          <p:nvPr>
            <p:ph idx="1"/>
            <p:extLst>
              <p:ext uri="{D42A27DB-BD31-4B8C-83A1-F6EECF244321}">
                <p14:modId xmlns:p14="http://schemas.microsoft.com/office/powerpoint/2010/main" val="30594489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B345E01A-AEC6-B3DB-F5CB-086D84BA8E7A}"/>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19720887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1DB82-1DE0-B78B-AB52-6E66ADCAD0EF}"/>
              </a:ext>
            </a:extLst>
          </p:cNvPr>
          <p:cNvSpPr>
            <a:spLocks noGrp="1"/>
          </p:cNvSpPr>
          <p:nvPr>
            <p:ph type="title"/>
          </p:nvPr>
        </p:nvSpPr>
        <p:spPr>
          <a:xfrm>
            <a:off x="838200" y="365125"/>
            <a:ext cx="10515600" cy="1325563"/>
          </a:xfrm>
        </p:spPr>
        <p:txBody>
          <a:bodyPr anchor="ctr">
            <a:normAutofit/>
          </a:bodyPr>
          <a:lstStyle/>
          <a:p>
            <a:r>
              <a:rPr lang="en-US" dirty="0"/>
              <a:t>Extra time activities:</a:t>
            </a:r>
            <a:endParaRPr lang="en-US"/>
          </a:p>
        </p:txBody>
      </p:sp>
      <p:pic>
        <p:nvPicPr>
          <p:cNvPr id="4" name="Picture 3" descr="Alarm clocks in a line">
            <a:extLst>
              <a:ext uri="{FF2B5EF4-FFF2-40B4-BE49-F238E27FC236}">
                <a16:creationId xmlns:a16="http://schemas.microsoft.com/office/drawing/2014/main" id="{893D1E89-BB04-80A9-9C6C-90FFCF680AC5}"/>
              </a:ext>
            </a:extLst>
          </p:cNvPr>
          <p:cNvPicPr>
            <a:picLocks noChangeAspect="1"/>
          </p:cNvPicPr>
          <p:nvPr/>
        </p:nvPicPr>
        <p:blipFill>
          <a:blip r:embed="rId2"/>
          <a:srcRect t="26436"/>
          <a:stretch>
            <a:fillRect/>
          </a:stretch>
        </p:blipFill>
        <p:spPr>
          <a:xfrm>
            <a:off x="838200" y="1825625"/>
            <a:ext cx="10515600" cy="4351338"/>
          </a:xfrm>
          <a:prstGeom prst="rect">
            <a:avLst/>
          </a:prstGeom>
          <a:noFill/>
        </p:spPr>
      </p:pic>
    </p:spTree>
    <p:extLst>
      <p:ext uri="{BB962C8B-B14F-4D97-AF65-F5344CB8AC3E}">
        <p14:creationId xmlns:p14="http://schemas.microsoft.com/office/powerpoint/2010/main" val="31854182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ED602-EC27-67AB-41A7-EA2E6E2F1A3F}"/>
              </a:ext>
            </a:extLst>
          </p:cNvPr>
          <p:cNvSpPr>
            <a:spLocks noGrp="1"/>
          </p:cNvSpPr>
          <p:nvPr>
            <p:ph type="title"/>
          </p:nvPr>
        </p:nvSpPr>
        <p:spPr>
          <a:xfrm>
            <a:off x="838200" y="365126"/>
            <a:ext cx="10515600" cy="560426"/>
          </a:xfrm>
        </p:spPr>
        <p:txBody>
          <a:bodyPr>
            <a:normAutofit fontScale="90000"/>
          </a:bodyPr>
          <a:lstStyle/>
          <a:p>
            <a:r>
              <a:rPr lang="en-US" dirty="0"/>
              <a:t>Reading discussion questions </a:t>
            </a:r>
            <a:r>
              <a:rPr lang="en-US" sz="2700" dirty="0"/>
              <a:t>(Gregory et al. 2012 Chapter 4)</a:t>
            </a:r>
            <a:endParaRPr lang="en-US" dirty="0"/>
          </a:p>
        </p:txBody>
      </p:sp>
      <p:sp>
        <p:nvSpPr>
          <p:cNvPr id="3" name="Content Placeholder 2">
            <a:extLst>
              <a:ext uri="{FF2B5EF4-FFF2-40B4-BE49-F238E27FC236}">
                <a16:creationId xmlns:a16="http://schemas.microsoft.com/office/drawing/2014/main" id="{532F6CCB-9497-D52A-E563-EA564D079580}"/>
              </a:ext>
            </a:extLst>
          </p:cNvPr>
          <p:cNvSpPr>
            <a:spLocks noGrp="1"/>
          </p:cNvSpPr>
          <p:nvPr>
            <p:ph idx="1"/>
          </p:nvPr>
        </p:nvSpPr>
        <p:spPr>
          <a:xfrm>
            <a:off x="838200" y="1083384"/>
            <a:ext cx="10515600" cy="5032244"/>
          </a:xfrm>
        </p:spPr>
        <p:txBody>
          <a:bodyPr>
            <a:normAutofit lnSpcReduction="10000"/>
          </a:bodyPr>
          <a:lstStyle/>
          <a:p>
            <a:r>
              <a:rPr lang="en-US" dirty="0"/>
              <a:t>What distinguishes a well-defined objective from a vague or ineffective one in SDM?</a:t>
            </a:r>
          </a:p>
          <a:p>
            <a:r>
              <a:rPr lang="en-US" dirty="0"/>
              <a:t>Why is it important to separate means objectives from fundamental objectives?</a:t>
            </a:r>
          </a:p>
          <a:p>
            <a:r>
              <a:rPr lang="en-US" dirty="0"/>
              <a:t>Why do Gregory et al. caution against setting targets during the objective-setting stage?</a:t>
            </a:r>
          </a:p>
          <a:p>
            <a:r>
              <a:rPr lang="en-US" dirty="0"/>
              <a:t>What role do process and strategic objectives play in environmental decision-making?</a:t>
            </a:r>
          </a:p>
          <a:p>
            <a:r>
              <a:rPr lang="en-US" dirty="0"/>
              <a:t>Why is it problematic to use ambiguous terms like “naturalness” or “sustainability” as objectives?</a:t>
            </a:r>
          </a:p>
          <a:p>
            <a:r>
              <a:rPr lang="en-US" dirty="0"/>
              <a:t>Why do decision makers often struggle to articulate what they want, and how can SDM processes help?</a:t>
            </a:r>
          </a:p>
        </p:txBody>
      </p:sp>
    </p:spTree>
    <p:extLst>
      <p:ext uri="{BB962C8B-B14F-4D97-AF65-F5344CB8AC3E}">
        <p14:creationId xmlns:p14="http://schemas.microsoft.com/office/powerpoint/2010/main" val="30199330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112BA-4D3C-A18A-34FC-81590254E2D6}"/>
              </a:ext>
            </a:extLst>
          </p:cNvPr>
          <p:cNvSpPr>
            <a:spLocks noGrp="1"/>
          </p:cNvSpPr>
          <p:nvPr>
            <p:ph type="title"/>
          </p:nvPr>
        </p:nvSpPr>
        <p:spPr/>
        <p:txBody>
          <a:bodyPr/>
          <a:lstStyle/>
          <a:p>
            <a:pPr algn="ctr"/>
            <a:r>
              <a:rPr lang="en-US" dirty="0"/>
              <a:t>Activity: Brainstorm </a:t>
            </a:r>
            <a:r>
              <a:rPr lang="en-US" b="1" dirty="0"/>
              <a:t>constructed scale</a:t>
            </a:r>
            <a:r>
              <a:rPr lang="en-US" dirty="0"/>
              <a:t> attribute types </a:t>
            </a:r>
          </a:p>
        </p:txBody>
      </p:sp>
      <p:sp>
        <p:nvSpPr>
          <p:cNvPr id="3" name="Content Placeholder 2">
            <a:extLst>
              <a:ext uri="{FF2B5EF4-FFF2-40B4-BE49-F238E27FC236}">
                <a16:creationId xmlns:a16="http://schemas.microsoft.com/office/drawing/2014/main" id="{5916745D-A10B-0161-9475-F41157ABFD12}"/>
              </a:ext>
            </a:extLst>
          </p:cNvPr>
          <p:cNvSpPr>
            <a:spLocks noGrp="1"/>
          </p:cNvSpPr>
          <p:nvPr>
            <p:ph idx="1"/>
          </p:nvPr>
        </p:nvSpPr>
        <p:spPr/>
        <p:txBody>
          <a:bodyPr/>
          <a:lstStyle/>
          <a:p>
            <a:pPr marL="0" indent="0">
              <a:buNone/>
            </a:pPr>
            <a:r>
              <a:rPr lang="en-US" sz="3200" dirty="0"/>
              <a:t>For each objective below, brainstorm </a:t>
            </a:r>
            <a:r>
              <a:rPr lang="en-US" sz="3200" b="1" dirty="0"/>
              <a:t>a constructed scale attribute</a:t>
            </a:r>
            <a:r>
              <a:rPr lang="en-US" sz="3200" dirty="0"/>
              <a:t> that could be used to measure it:</a:t>
            </a:r>
          </a:p>
          <a:p>
            <a:pPr lvl="1"/>
            <a:r>
              <a:rPr lang="en-US" sz="2800" dirty="0"/>
              <a:t>Minimize stakeholder conflict</a:t>
            </a:r>
          </a:p>
          <a:p>
            <a:pPr lvl="1"/>
            <a:r>
              <a:rPr lang="en-US" sz="2800" dirty="0"/>
              <a:t>Maximize ecosystem resilience</a:t>
            </a:r>
          </a:p>
          <a:p>
            <a:pPr lvl="1"/>
            <a:r>
              <a:rPr lang="en-US" sz="2800" dirty="0"/>
              <a:t>Maximize recreational satisfaction</a:t>
            </a:r>
          </a:p>
          <a:p>
            <a:pPr lvl="1"/>
            <a:r>
              <a:rPr lang="en-US" sz="2800" dirty="0"/>
              <a:t>Maximize species persistence</a:t>
            </a:r>
          </a:p>
          <a:p>
            <a:pPr lvl="1"/>
            <a:r>
              <a:rPr lang="en-US" sz="2800" dirty="0"/>
              <a:t>Maximize student engagement </a:t>
            </a:r>
            <a:r>
              <a:rPr lang="en-US" sz="2800" dirty="0">
                <a:sym typeface="Wingdings" panose="05000000000000000000" pitchFamily="2" charset="2"/>
              </a:rPr>
              <a:t> </a:t>
            </a:r>
          </a:p>
          <a:p>
            <a:pPr marL="0" indent="0">
              <a:buNone/>
            </a:pPr>
            <a:endParaRPr lang="en-US" sz="3200" dirty="0">
              <a:sym typeface="Wingdings" panose="05000000000000000000" pitchFamily="2" charset="2"/>
            </a:endParaRPr>
          </a:p>
          <a:p>
            <a:pPr marL="0" indent="0">
              <a:buNone/>
            </a:pPr>
            <a:r>
              <a:rPr lang="en-US" sz="3200" dirty="0">
                <a:sym typeface="Wingdings" panose="05000000000000000000" pitchFamily="2" charset="2"/>
              </a:rPr>
              <a:t>What are the limitations of your constructed scale attribute?</a:t>
            </a:r>
            <a:endParaRPr lang="en-US" sz="3200" dirty="0"/>
          </a:p>
          <a:p>
            <a:pPr lvl="1"/>
            <a:endParaRPr lang="en-US" sz="2800" dirty="0"/>
          </a:p>
          <a:p>
            <a:endParaRPr lang="en-US" sz="3200" dirty="0"/>
          </a:p>
          <a:p>
            <a:endParaRPr lang="en-US" dirty="0"/>
          </a:p>
        </p:txBody>
      </p:sp>
    </p:spTree>
    <p:extLst>
      <p:ext uri="{BB962C8B-B14F-4D97-AF65-F5344CB8AC3E}">
        <p14:creationId xmlns:p14="http://schemas.microsoft.com/office/powerpoint/2010/main" val="41275978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2FE19-B2EB-F26E-58E0-36EBA90A3C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6359EE-47A5-0919-A6B9-0A41693E484D}"/>
              </a:ext>
            </a:extLst>
          </p:cNvPr>
          <p:cNvSpPr>
            <a:spLocks noGrp="1"/>
          </p:cNvSpPr>
          <p:nvPr>
            <p:ph type="title"/>
          </p:nvPr>
        </p:nvSpPr>
        <p:spPr/>
        <p:txBody>
          <a:bodyPr/>
          <a:lstStyle/>
          <a:p>
            <a:pPr algn="ctr"/>
            <a:r>
              <a:rPr lang="en-US" dirty="0"/>
              <a:t>Activity: Brainstorm </a:t>
            </a:r>
            <a:r>
              <a:rPr lang="en-US" b="1" dirty="0"/>
              <a:t>proxy</a:t>
            </a:r>
            <a:r>
              <a:rPr lang="en-US" dirty="0"/>
              <a:t> scale attribute types </a:t>
            </a:r>
          </a:p>
        </p:txBody>
      </p:sp>
      <p:sp>
        <p:nvSpPr>
          <p:cNvPr id="3" name="Content Placeholder 2">
            <a:extLst>
              <a:ext uri="{FF2B5EF4-FFF2-40B4-BE49-F238E27FC236}">
                <a16:creationId xmlns:a16="http://schemas.microsoft.com/office/drawing/2014/main" id="{5CC7CC99-CE58-13B4-7E98-A4808353429D}"/>
              </a:ext>
            </a:extLst>
          </p:cNvPr>
          <p:cNvSpPr>
            <a:spLocks noGrp="1"/>
          </p:cNvSpPr>
          <p:nvPr>
            <p:ph idx="1"/>
          </p:nvPr>
        </p:nvSpPr>
        <p:spPr/>
        <p:txBody>
          <a:bodyPr>
            <a:normAutofit fontScale="92500" lnSpcReduction="10000"/>
          </a:bodyPr>
          <a:lstStyle/>
          <a:p>
            <a:pPr marL="0" indent="0">
              <a:buNone/>
            </a:pPr>
            <a:r>
              <a:rPr lang="en-US" sz="3200" dirty="0"/>
              <a:t>Now for these same objectives brainstorm </a:t>
            </a:r>
            <a:r>
              <a:rPr lang="en-US" sz="3200" b="1" dirty="0"/>
              <a:t>two proxy attributes</a:t>
            </a:r>
            <a:r>
              <a:rPr lang="en-US" sz="3200" dirty="0"/>
              <a:t> that could be used to measure it:</a:t>
            </a:r>
          </a:p>
          <a:p>
            <a:pPr lvl="1"/>
            <a:r>
              <a:rPr lang="en-US" sz="2800" dirty="0"/>
              <a:t>Minimize stakeholder conflict</a:t>
            </a:r>
          </a:p>
          <a:p>
            <a:pPr lvl="1"/>
            <a:r>
              <a:rPr lang="en-US" sz="2800" dirty="0"/>
              <a:t>Maximize ecosystem resilience</a:t>
            </a:r>
          </a:p>
          <a:p>
            <a:pPr lvl="1"/>
            <a:r>
              <a:rPr lang="en-US" sz="2800" dirty="0"/>
              <a:t>Maximize recreational satisfaction</a:t>
            </a:r>
          </a:p>
          <a:p>
            <a:pPr lvl="1"/>
            <a:r>
              <a:rPr lang="en-US" sz="2800" dirty="0"/>
              <a:t>Maximize species persistence</a:t>
            </a:r>
          </a:p>
          <a:p>
            <a:pPr lvl="1"/>
            <a:r>
              <a:rPr lang="en-US" sz="2800" dirty="0"/>
              <a:t>Maximize student engagement </a:t>
            </a:r>
            <a:r>
              <a:rPr lang="en-US" sz="2800" dirty="0">
                <a:sym typeface="Wingdings" panose="05000000000000000000" pitchFamily="2" charset="2"/>
              </a:rPr>
              <a:t> </a:t>
            </a:r>
          </a:p>
          <a:p>
            <a:pPr marL="0" indent="0">
              <a:buNone/>
            </a:pPr>
            <a:endParaRPr lang="en-US" sz="3200" dirty="0">
              <a:sym typeface="Wingdings" panose="05000000000000000000" pitchFamily="2" charset="2"/>
            </a:endParaRPr>
          </a:p>
          <a:p>
            <a:pPr marL="0" indent="0">
              <a:buNone/>
            </a:pPr>
            <a:r>
              <a:rPr lang="en-US" sz="3200" dirty="0">
                <a:sym typeface="Wingdings" panose="05000000000000000000" pitchFamily="2" charset="2"/>
              </a:rPr>
              <a:t>What are the limitations of your proxy attribute?</a:t>
            </a:r>
          </a:p>
          <a:p>
            <a:pPr marL="0" indent="0">
              <a:buNone/>
            </a:pPr>
            <a:r>
              <a:rPr lang="en-US" sz="3200" dirty="0">
                <a:sym typeface="Wingdings" panose="05000000000000000000" pitchFamily="2" charset="2"/>
              </a:rPr>
              <a:t>What attribute type fits the objectives above better?</a:t>
            </a:r>
            <a:endParaRPr lang="en-US" sz="3200" dirty="0"/>
          </a:p>
          <a:p>
            <a:pPr lvl="1"/>
            <a:endParaRPr lang="en-US" sz="2800" dirty="0"/>
          </a:p>
          <a:p>
            <a:endParaRPr lang="en-US" sz="3200" dirty="0"/>
          </a:p>
          <a:p>
            <a:endParaRPr lang="en-US" dirty="0"/>
          </a:p>
        </p:txBody>
      </p:sp>
    </p:spTree>
    <p:extLst>
      <p:ext uri="{BB962C8B-B14F-4D97-AF65-F5344CB8AC3E}">
        <p14:creationId xmlns:p14="http://schemas.microsoft.com/office/powerpoint/2010/main" val="17904689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786D1-37AB-2977-EE97-C26D358B2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6F5731-F6FE-3ED3-69ED-94CA2ACE9233}"/>
              </a:ext>
            </a:extLst>
          </p:cNvPr>
          <p:cNvSpPr>
            <a:spLocks noGrp="1"/>
          </p:cNvSpPr>
          <p:nvPr>
            <p:ph type="title"/>
          </p:nvPr>
        </p:nvSpPr>
        <p:spPr/>
        <p:txBody>
          <a:bodyPr/>
          <a:lstStyle/>
          <a:p>
            <a:pPr algn="ctr"/>
            <a:r>
              <a:rPr lang="en-US" dirty="0"/>
              <a:t>Activity: Fundamental vs Means sorting</a:t>
            </a:r>
          </a:p>
        </p:txBody>
      </p:sp>
      <p:sp>
        <p:nvSpPr>
          <p:cNvPr id="3" name="Content Placeholder 2">
            <a:extLst>
              <a:ext uri="{FF2B5EF4-FFF2-40B4-BE49-F238E27FC236}">
                <a16:creationId xmlns:a16="http://schemas.microsoft.com/office/drawing/2014/main" id="{63D864B0-28DE-A01E-9984-1997F8F753A3}"/>
              </a:ext>
            </a:extLst>
          </p:cNvPr>
          <p:cNvSpPr>
            <a:spLocks noGrp="1"/>
          </p:cNvSpPr>
          <p:nvPr>
            <p:ph idx="1"/>
          </p:nvPr>
        </p:nvSpPr>
        <p:spPr>
          <a:xfrm>
            <a:off x="838200" y="1395663"/>
            <a:ext cx="10515600" cy="4781300"/>
          </a:xfrm>
        </p:spPr>
        <p:txBody>
          <a:bodyPr>
            <a:normAutofit lnSpcReduction="10000"/>
          </a:bodyPr>
          <a:lstStyle/>
          <a:p>
            <a:pPr marL="0" indent="0" algn="ctr">
              <a:buNone/>
            </a:pPr>
            <a:r>
              <a:rPr lang="en-US" sz="3600" b="1" dirty="0"/>
              <a:t>In groups identify whether the objective below is Fundamental</a:t>
            </a:r>
            <a:r>
              <a:rPr lang="en-US" sz="3600" dirty="0"/>
              <a:t> or </a:t>
            </a:r>
            <a:r>
              <a:rPr lang="en-US" sz="3600" b="1" dirty="0"/>
              <a:t>Means</a:t>
            </a:r>
            <a:endParaRPr lang="en-US" sz="3600" dirty="0"/>
          </a:p>
          <a:p>
            <a:r>
              <a:rPr lang="en-US" dirty="0"/>
              <a:t>Maximize species persistence</a:t>
            </a:r>
          </a:p>
          <a:p>
            <a:r>
              <a:rPr lang="en-US" dirty="0"/>
              <a:t>Improve habitat quality</a:t>
            </a:r>
          </a:p>
          <a:p>
            <a:r>
              <a:rPr lang="en-US" dirty="0"/>
              <a:t>Reduce road mortality</a:t>
            </a:r>
          </a:p>
          <a:p>
            <a:r>
              <a:rPr lang="en-US" dirty="0"/>
              <a:t>Increase stakeholder engagement</a:t>
            </a:r>
          </a:p>
          <a:p>
            <a:r>
              <a:rPr lang="en-US" dirty="0"/>
              <a:t>Maximize public trust</a:t>
            </a:r>
          </a:p>
          <a:p>
            <a:r>
              <a:rPr lang="en-US" dirty="0"/>
              <a:t>Enhance monitoring efforts</a:t>
            </a:r>
          </a:p>
          <a:p>
            <a:r>
              <a:rPr lang="en-US" dirty="0"/>
              <a:t>Minimize cost</a:t>
            </a:r>
          </a:p>
          <a:p>
            <a:r>
              <a:rPr lang="en-US" dirty="0"/>
              <a:t>Maximize recreational access</a:t>
            </a:r>
            <a:endParaRPr lang="en-US" sz="3200" dirty="0"/>
          </a:p>
          <a:p>
            <a:endParaRPr lang="en-US" dirty="0"/>
          </a:p>
        </p:txBody>
      </p:sp>
    </p:spTree>
    <p:extLst>
      <p:ext uri="{BB962C8B-B14F-4D97-AF65-F5344CB8AC3E}">
        <p14:creationId xmlns:p14="http://schemas.microsoft.com/office/powerpoint/2010/main" val="8826192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304C3-9BA8-EB80-D6E3-B9CF44A639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727006-93D1-B397-4D3B-9FB1BFB50A09}"/>
              </a:ext>
            </a:extLst>
          </p:cNvPr>
          <p:cNvSpPr>
            <a:spLocks noGrp="1"/>
          </p:cNvSpPr>
          <p:nvPr>
            <p:ph type="title"/>
          </p:nvPr>
        </p:nvSpPr>
        <p:spPr/>
        <p:txBody>
          <a:bodyPr/>
          <a:lstStyle/>
          <a:p>
            <a:pPr algn="ctr"/>
            <a:r>
              <a:rPr lang="en-US" dirty="0"/>
              <a:t>Activity: Fundamental vs Means sorting</a:t>
            </a:r>
          </a:p>
        </p:txBody>
      </p:sp>
      <p:sp>
        <p:nvSpPr>
          <p:cNvPr id="3" name="Content Placeholder 2">
            <a:extLst>
              <a:ext uri="{FF2B5EF4-FFF2-40B4-BE49-F238E27FC236}">
                <a16:creationId xmlns:a16="http://schemas.microsoft.com/office/drawing/2014/main" id="{BB68C857-2206-20A4-A9EF-FBB118FF5B93}"/>
              </a:ext>
            </a:extLst>
          </p:cNvPr>
          <p:cNvSpPr>
            <a:spLocks noGrp="1"/>
          </p:cNvSpPr>
          <p:nvPr>
            <p:ph idx="1"/>
          </p:nvPr>
        </p:nvSpPr>
        <p:spPr>
          <a:xfrm>
            <a:off x="838200" y="1395663"/>
            <a:ext cx="10515600" cy="4781300"/>
          </a:xfrm>
        </p:spPr>
        <p:txBody>
          <a:bodyPr>
            <a:normAutofit lnSpcReduction="10000"/>
          </a:bodyPr>
          <a:lstStyle/>
          <a:p>
            <a:pPr marL="0" indent="0" algn="ctr">
              <a:buNone/>
            </a:pPr>
            <a:r>
              <a:rPr lang="en-US" sz="3600" b="1" dirty="0"/>
              <a:t>In groups identify whether the objective below is Fundamental</a:t>
            </a:r>
            <a:r>
              <a:rPr lang="en-US" sz="3600" dirty="0"/>
              <a:t> or </a:t>
            </a:r>
            <a:r>
              <a:rPr lang="en-US" sz="3600" b="1" dirty="0"/>
              <a:t>Means</a:t>
            </a:r>
            <a:endParaRPr lang="en-US" sz="3600" dirty="0"/>
          </a:p>
          <a:p>
            <a:r>
              <a:rPr lang="en-US" dirty="0"/>
              <a:t>Improve water quality</a:t>
            </a:r>
          </a:p>
          <a:p>
            <a:r>
              <a:rPr lang="en-US" dirty="0"/>
              <a:t>Maximize biodiversity</a:t>
            </a:r>
          </a:p>
          <a:p>
            <a:r>
              <a:rPr lang="en-US" dirty="0"/>
              <a:t>Increase enforcement of fishing regulations</a:t>
            </a:r>
          </a:p>
          <a:p>
            <a:r>
              <a:rPr lang="en-US" dirty="0"/>
              <a:t>Enhance public education about conservation</a:t>
            </a:r>
          </a:p>
          <a:p>
            <a:r>
              <a:rPr lang="en-US" dirty="0"/>
              <a:t>Maximize species persistence</a:t>
            </a:r>
          </a:p>
          <a:p>
            <a:r>
              <a:rPr lang="en-US" dirty="0"/>
              <a:t>Restore native vegetation</a:t>
            </a:r>
          </a:p>
          <a:p>
            <a:r>
              <a:rPr lang="en-US" dirty="0"/>
              <a:t>Reduce poaching incidents</a:t>
            </a:r>
          </a:p>
          <a:p>
            <a:r>
              <a:rPr lang="en-US" dirty="0"/>
              <a:t>Increase stakeholder participation</a:t>
            </a:r>
          </a:p>
        </p:txBody>
      </p:sp>
    </p:spTree>
    <p:extLst>
      <p:ext uri="{BB962C8B-B14F-4D97-AF65-F5344CB8AC3E}">
        <p14:creationId xmlns:p14="http://schemas.microsoft.com/office/powerpoint/2010/main" val="35532819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106EBAA-0570-C401-E020-6608718B3820}"/>
              </a:ext>
            </a:extLst>
          </p:cNvPr>
          <p:cNvPicPr>
            <a:picLocks noChangeAspect="1"/>
          </p:cNvPicPr>
          <p:nvPr/>
        </p:nvPicPr>
        <p:blipFill>
          <a:blip r:embed="rId2"/>
          <a:stretch>
            <a:fillRect/>
          </a:stretch>
        </p:blipFill>
        <p:spPr>
          <a:xfrm>
            <a:off x="565771" y="850232"/>
            <a:ext cx="11060458" cy="4588041"/>
          </a:xfrm>
          <a:prstGeom prst="rect">
            <a:avLst/>
          </a:prstGeom>
        </p:spPr>
      </p:pic>
      <p:sp>
        <p:nvSpPr>
          <p:cNvPr id="3" name="TextBox 2">
            <a:extLst>
              <a:ext uri="{FF2B5EF4-FFF2-40B4-BE49-F238E27FC236}">
                <a16:creationId xmlns:a16="http://schemas.microsoft.com/office/drawing/2014/main" id="{C8A118F7-5447-E6FF-2019-B7976571F66A}"/>
              </a:ext>
            </a:extLst>
          </p:cNvPr>
          <p:cNvSpPr txBox="1"/>
          <p:nvPr/>
        </p:nvSpPr>
        <p:spPr>
          <a:xfrm>
            <a:off x="737937" y="5438273"/>
            <a:ext cx="6096000" cy="369332"/>
          </a:xfrm>
          <a:prstGeom prst="rect">
            <a:avLst/>
          </a:prstGeom>
          <a:noFill/>
        </p:spPr>
        <p:txBody>
          <a:bodyPr wrap="square">
            <a:spAutoFit/>
          </a:bodyPr>
          <a:lstStyle/>
          <a:p>
            <a:r>
              <a:rPr lang="en-US" sz="1800" dirty="0"/>
              <a:t>Gregory et al. 2012 Chapter 4</a:t>
            </a:r>
            <a:endParaRPr lang="en-US" dirty="0"/>
          </a:p>
        </p:txBody>
      </p:sp>
    </p:spTree>
    <p:extLst>
      <p:ext uri="{BB962C8B-B14F-4D97-AF65-F5344CB8AC3E}">
        <p14:creationId xmlns:p14="http://schemas.microsoft.com/office/powerpoint/2010/main" val="34238059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205C470770B0D4ABF8826612BE84D5C" ma:contentTypeVersion="11" ma:contentTypeDescription="Create a new document." ma:contentTypeScope="" ma:versionID="d7fafb7966f5382a7b5f49eb7fca42a7">
  <xsd:schema xmlns:xsd="http://www.w3.org/2001/XMLSchema" xmlns:xs="http://www.w3.org/2001/XMLSchema" xmlns:p="http://schemas.microsoft.com/office/2006/metadata/properties" xmlns:ns2="050c1e3a-3f2f-46e4-a7ea-a86e3cc5eb79" xmlns:ns3="46a3c90f-7163-42dd-89ea-fb04cd484268" targetNamespace="http://schemas.microsoft.com/office/2006/metadata/properties" ma:root="true" ma:fieldsID="9d965f3a61d4a60a0bcdf4e7f4aceea8" ns2:_="" ns3:_="">
    <xsd:import namespace="050c1e3a-3f2f-46e4-a7ea-a86e3cc5eb79"/>
    <xsd:import namespace="46a3c90f-7163-42dd-89ea-fb04cd4842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0c1e3a-3f2f-46e4-a7ea-a86e3cc5eb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c5df3ad-b4e5-45d1-88c9-23db5f1fe61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a3c90f-7163-42dd-89ea-fb04cd48426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2362f2d-49b2-4aec-879b-1d5b4696d909}" ma:internalName="TaxCatchAll" ma:showField="CatchAllData" ma:web="46a3c90f-7163-42dd-89ea-fb04cd48426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6a3c90f-7163-42dd-89ea-fb04cd484268" xsi:nil="true"/>
    <lcf76f155ced4ddcb4097134ff3c332f xmlns="050c1e3a-3f2f-46e4-a7ea-a86e3cc5eb79">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CFB6C1-0DFB-464F-A4E0-4B9110FCE372}">
  <ds:schemaRefs>
    <ds:schemaRef ds:uri="050c1e3a-3f2f-46e4-a7ea-a86e3cc5eb79"/>
    <ds:schemaRef ds:uri="46a3c90f-7163-42dd-89ea-fb04cd48426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EA6358A4-AB2B-46A6-8A66-ED7466D63DD5}">
  <ds:schemaRefs>
    <ds:schemaRef ds:uri="http://schemas.microsoft.com/office/2006/documentManagement/types"/>
    <ds:schemaRef ds:uri="http://schemas.microsoft.com/office/2006/metadata/properties"/>
    <ds:schemaRef ds:uri="http://schemas.microsoft.com/office/infopath/2007/PartnerControls"/>
    <ds:schemaRef ds:uri="http://www.w3.org/XML/1998/namespace"/>
    <ds:schemaRef ds:uri="http://schemas.openxmlformats.org/package/2006/metadata/core-properties"/>
    <ds:schemaRef ds:uri="http://purl.org/dc/terms/"/>
    <ds:schemaRef ds:uri="http://purl.org/dc/elements/1.1/"/>
    <ds:schemaRef ds:uri="46a3c90f-7163-42dd-89ea-fb04cd484268"/>
    <ds:schemaRef ds:uri="050c1e3a-3f2f-46e4-a7ea-a86e3cc5eb79"/>
    <ds:schemaRef ds:uri="http://purl.org/dc/dcmitype/"/>
  </ds:schemaRefs>
</ds:datastoreItem>
</file>

<file path=customXml/itemProps3.xml><?xml version="1.0" encoding="utf-8"?>
<ds:datastoreItem xmlns:ds="http://schemas.openxmlformats.org/officeDocument/2006/customXml" ds:itemID="{BB6C8A5A-3C6E-4AD9-AAB6-4593C0D0103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1223</TotalTime>
  <Words>5572</Words>
  <Application>Microsoft Office PowerPoint</Application>
  <PresentationFormat>Widescreen</PresentationFormat>
  <Paragraphs>695</Paragraphs>
  <Slides>59</Slides>
  <Notes>24</Notes>
  <HiddenSlides>0</HiddenSlides>
  <MMClips>1</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59</vt:i4>
      </vt:variant>
    </vt:vector>
  </HeadingPairs>
  <TitlesOfParts>
    <vt:vector size="74" baseType="lpstr">
      <vt:lpstr>MS PGothic</vt:lpstr>
      <vt:lpstr>MS PGothic</vt:lpstr>
      <vt:lpstr>Aptos</vt:lpstr>
      <vt:lpstr>Arial</vt:lpstr>
      <vt:lpstr>Arial Black</vt:lpstr>
      <vt:lpstr>Calibri</vt:lpstr>
      <vt:lpstr>Calibri Light</vt:lpstr>
      <vt:lpstr>Cambria Math</vt:lpstr>
      <vt:lpstr>Century Gothic</vt:lpstr>
      <vt:lpstr>Courier New</vt:lpstr>
      <vt:lpstr>Noto Sans Symbols</vt:lpstr>
      <vt:lpstr>Rockwell</vt:lpstr>
      <vt:lpstr>Wingdings</vt:lpstr>
      <vt:lpstr>Wingdings 2</vt:lpstr>
      <vt:lpstr>Office 2013 - 2022 Theme</vt:lpstr>
      <vt:lpstr>Week 3:  Objectives Step of PrOACT</vt:lpstr>
      <vt:lpstr>Review of last week</vt:lpstr>
      <vt:lpstr>PowerPoint Presentation</vt:lpstr>
      <vt:lpstr>Recall: Values focused vs Alternatives focused thinking:</vt:lpstr>
      <vt:lpstr>Recall: Values focused vs Alternatives focused thinking:</vt:lpstr>
      <vt:lpstr>Management Objectives vs Research Objectives</vt:lpstr>
      <vt:lpstr>Management objectives ≠ Alternatives</vt:lpstr>
      <vt:lpstr>What are objectives, and why are they important? </vt:lpstr>
      <vt:lpstr>What are objectives, and why are they important? </vt:lpstr>
      <vt:lpstr>What are objectives, and why are they important? </vt:lpstr>
      <vt:lpstr>We are surprisingly poor at identifying objectives</vt:lpstr>
      <vt:lpstr>We are surprisingly poor at identifying objectives</vt:lpstr>
      <vt:lpstr>Pieces of an objective:</vt:lpstr>
      <vt:lpstr>Objectives ≠ Targets</vt:lpstr>
      <vt:lpstr>Objectives ≠ Targets</vt:lpstr>
      <vt:lpstr>1. Articulate goals &amp; concerns 2. Convert goals &amp; concerns to objectives 3. Structure objectives 4. Create measurable attributes for each objective Repeat as needed </vt:lpstr>
      <vt:lpstr>1. Articulate goals &amp; concerns</vt:lpstr>
      <vt:lpstr>1. Articulate goals &amp; concerns</vt:lpstr>
      <vt:lpstr>1. Articulate goals &amp; concerns 2. Convert goals &amp; concerns to objectives  </vt:lpstr>
      <vt:lpstr>PowerPoint Presentation</vt:lpstr>
      <vt:lpstr>PowerPoint Presentation</vt:lpstr>
      <vt:lpstr>PowerPoint Presentation</vt:lpstr>
      <vt:lpstr>1. Articulate goals &amp; concerns</vt:lpstr>
      <vt:lpstr>3a. Distinguish types of objectives</vt:lpstr>
      <vt:lpstr>3a. Distinguish types of objectives</vt:lpstr>
      <vt:lpstr>3a. Distinguish types of objectives</vt:lpstr>
      <vt:lpstr>3a. Distinguish types of objectives</vt:lpstr>
      <vt:lpstr>3a. Distinguish types of objectives</vt:lpstr>
      <vt:lpstr>3a. Distinguish types of objectives</vt:lpstr>
      <vt:lpstr>3a. Distinguish types of objectives</vt:lpstr>
      <vt:lpstr>3a. Distinguish types of objectives</vt:lpstr>
      <vt:lpstr>3b. Create an objective hierarchy</vt:lpstr>
      <vt:lpstr>3b. Create an objective hierarchy</vt:lpstr>
      <vt:lpstr>3b. Create an objective hierarchy</vt:lpstr>
      <vt:lpstr>3b. Create an objective hierarchy</vt:lpstr>
      <vt:lpstr>EXAMPLE:</vt:lpstr>
      <vt:lpstr>PowerPoint Presentation</vt:lpstr>
      <vt:lpstr>1. Articulate goals &amp; concerns 2. Convert goals &amp; concerns to objectives 3. Structure objectives 4. Create measurable attributes for each objective Repeat as needed </vt:lpstr>
      <vt:lpstr>JARGON!!</vt:lpstr>
      <vt:lpstr>Recall Pieces of an objective:</vt:lpstr>
      <vt:lpstr>4. Create measurable attributes (the units)</vt:lpstr>
      <vt:lpstr>4. Create measurable attributes (the units)</vt:lpstr>
      <vt:lpstr>4. Create measurable attributes (the units)</vt:lpstr>
      <vt:lpstr>4. Create measurable attributes (the units)</vt:lpstr>
      <vt:lpstr>4. Create measurable attributes (the units)</vt:lpstr>
      <vt:lpstr>4. Create measurable attributes (the units)</vt:lpstr>
      <vt:lpstr>Example - What are the attribute types?</vt:lpstr>
      <vt:lpstr>PowerPoint Presentation</vt:lpstr>
      <vt:lpstr>1. Articulate goals &amp; concerns 2. Convert goals &amp; concerns to objectives 3. Structure objectives 4. Create measurable attributes for each objective Repeat as needed </vt:lpstr>
      <vt:lpstr>PowerPoint Presentation</vt:lpstr>
      <vt:lpstr>Activity: think about your decision problem</vt:lpstr>
      <vt:lpstr>Looking ahead:</vt:lpstr>
      <vt:lpstr>Extra time activities:</vt:lpstr>
      <vt:lpstr>Reading discussion questions (Gregory et al. 2012 Chapter 4)</vt:lpstr>
      <vt:lpstr>Activity: Brainstorm constructed scale attribute types </vt:lpstr>
      <vt:lpstr>Activity: Brainstorm proxy scale attribute types </vt:lpstr>
      <vt:lpstr>Activity: Fundamental vs Means sorting</vt:lpstr>
      <vt:lpstr>Activity: Fundamental vs Means sorting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Motivation for Structured Decision Making</dc:title>
  <dc:creator>Thompson, Brielle</dc:creator>
  <cp:lastModifiedBy>Thompson, Brielle</cp:lastModifiedBy>
  <cp:revision>54</cp:revision>
  <dcterms:created xsi:type="dcterms:W3CDTF">2024-12-30T15:57:04Z</dcterms:created>
  <dcterms:modified xsi:type="dcterms:W3CDTF">2025-08-27T21:17:05Z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0x010100D205C470770B0D4ABF8826612BE84D5C</vt:lpwstr>
  </property>
  <property fmtid="{D5CDD505-2E9C-101B-9397-08002B2CF9AE}" pid="3" name="MediaServiceImageTags">
    <vt:lpwstr/>
  </property>
</Properties>
</file>