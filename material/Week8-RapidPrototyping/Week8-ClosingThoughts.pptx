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34" r:id="rId2"/>
    <p:sldId id="565" r:id="rId3"/>
    <p:sldId id="566" r:id="rId4"/>
    <p:sldId id="567" r:id="rId5"/>
    <p:sldId id="518" r:id="rId6"/>
    <p:sldId id="568" r:id="rId7"/>
    <p:sldId id="562" r:id="rId8"/>
    <p:sldId id="563" r:id="rId9"/>
    <p:sldId id="564" r:id="rId10"/>
    <p:sldId id="5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2BC27-AE0A-404D-B62A-8E3F0AE0D32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DF3F2-55ED-4908-8848-CD39A0AB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6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30 minutes = intro</a:t>
            </a:r>
          </a:p>
          <a:p>
            <a:r>
              <a:rPr lang="en-US" dirty="0"/>
              <a:t>Next 60 = slides</a:t>
            </a:r>
          </a:p>
          <a:p>
            <a:r>
              <a:rPr lang="en-US" dirty="0"/>
              <a:t>Final 30 =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9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1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6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A8BA-F017-99CF-D685-7602EC108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55A08-8A13-4802-7DBC-A3210142B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DD6A-4F92-B5FD-BC7E-5727BB5F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A1995-1824-9964-DEFD-DE9CE8E4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CC7E9-2891-7D6F-7992-493B09D2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8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9E10-F9A0-7656-B0C6-8DF2ED27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347E-16A4-817A-30CB-251C8717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C6999-767A-8527-21B5-5103DCBB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4197C-73AA-3981-D9EF-9FD026D3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CE2E7-195A-DBE6-1995-39482A94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8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0FCB-2515-D5D8-A6CC-A2ACB4DE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98119-74D1-584F-BB6F-FA0E6F42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F3AAF-F54F-EF5B-C1DF-38C6C2F1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9CCB-3AC9-4458-9185-400F481E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63D0-DAC5-7609-2C55-99F481FB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5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4E46-1696-99E3-45C7-1CF79C76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43FC-9CA0-FBF1-63C5-1507828C6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04BC9-A098-9888-D2C5-AFC512710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6462A-72C5-01F1-F96A-F740AAE0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7ECA9-8100-6F87-CCA9-857FCB4C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1613B-7484-872C-3247-F01A2735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8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424B-EC7E-2EE9-B369-BF0CBD39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CA649-D08D-53B3-52BD-67E515BC5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8CE35-CC36-4E52-4162-F0FA2CCA9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A9912-95B2-1E8F-AC17-19551396E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2ECF3-91B8-2708-93E8-8DA9135A4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9163D-D4CF-5E9B-D378-A30C4BE7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B0D19-3A76-C6EA-E2B7-21DEEB07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6A37D-E10E-A9A0-CA01-764FEA6E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8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62E4-E093-6C1A-DC1C-23C658D6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0BBB9-C25B-E50A-DB98-9040F471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899B3-E1DD-D19F-41E1-08951A32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11E79-B1F1-1DF3-A169-35283503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7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9398F-05C4-976C-8731-F48409E0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BE984-2499-7679-7D10-09583C7E6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5038A-4FC4-2CC8-73CF-FA225802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7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F43E-F1F4-785B-C217-02BDF860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7540-443E-935F-A3A0-D1AD78D6F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FA2DC-1A39-BF59-9F48-FBF0B64DF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8F74-3DB8-308C-CA5C-FF662FF7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E16D1-F0B2-97B6-4595-1206FD43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6F3CC-EBD3-0201-BD80-1FA8D41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1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8BD-2999-8A36-F9EA-0FB0217B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49EE37-D6FE-F09C-329D-0F5E699A0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CF8A9-2B3E-9DD2-7995-54B37FC84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1CE42-6140-8A47-D7F0-745ABFFA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2B10A-D848-5756-1743-895E784A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8A776-FF0A-B9C4-0E15-2B97DC48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2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1B8E-4305-756F-2958-AAE45E9A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0F4E5-0558-66BD-60A6-FDC0AA1D4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DA288-0631-0A31-906F-6C2905D1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78693-39A3-E1AD-8D0E-D4BE646F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288F0-7899-5E68-3399-C85D333A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6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BF1AC-5799-871E-48A3-22F1EF52F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33585-FAB4-AB06-274B-1B0EEC5AD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07283-8CAA-83CD-C981-0CEFFBE1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DED02-6C79-5F9F-3543-6EF11B43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EB28A-2E2E-97AA-C1E5-902C9C6A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9772C-A0B0-9ED7-22B1-86B1635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B5C1B-04E9-E017-F8F2-3FE3DC3F3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D99C-88D1-5574-BCB0-C95F2449E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1037E-8513-486A-AAA4-B6DF62FD231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966D8-7DC9-F672-2284-9D0EDBD3D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8584-DB91-79AE-E14D-41513B201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4D9EE-0FBA-4F65-9C13-CBEFA047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3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3848-0866-067B-5C85-225EDB126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554" y="1481908"/>
            <a:ext cx="9718260" cy="2516776"/>
          </a:xfrm>
        </p:spPr>
        <p:txBody>
          <a:bodyPr anchor="ctr">
            <a:normAutofit/>
          </a:bodyPr>
          <a:lstStyle/>
          <a:p>
            <a:r>
              <a:rPr lang="en-US" sz="9600" b="1" dirty="0"/>
              <a:t>Week 8: </a:t>
            </a:r>
            <a:br>
              <a:rPr lang="en-US" sz="9600" b="1" dirty="0"/>
            </a:br>
            <a:r>
              <a:rPr lang="en-US" sz="4900" dirty="0">
                <a:solidFill>
                  <a:srgbClr val="ED7D31"/>
                </a:solidFill>
              </a:rPr>
              <a:t>Final presentations + closing thoughts</a:t>
            </a:r>
            <a:endParaRPr lang="en-US" sz="4700" dirty="0">
              <a:solidFill>
                <a:srgbClr val="ED7D31"/>
              </a:solidFill>
              <a:latin typeface="+mn-lt"/>
            </a:endParaRP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A4DEB4C-A3E6-F636-2C42-D54CB20D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005" y="451522"/>
            <a:ext cx="4832857" cy="94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D1B4F1-CD55-C0FF-1797-AD87F89108F7}"/>
              </a:ext>
            </a:extLst>
          </p:cNvPr>
          <p:cNvSpPr txBox="1"/>
          <p:nvPr/>
        </p:nvSpPr>
        <p:spPr>
          <a:xfrm>
            <a:off x="2383104" y="4111882"/>
            <a:ext cx="74257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Instructor: </a:t>
            </a:r>
            <a:r>
              <a:rPr lang="en-US" sz="2400" dirty="0"/>
              <a:t>Brielle K Thompson</a:t>
            </a:r>
          </a:p>
          <a:p>
            <a:pPr algn="ctr"/>
            <a:endParaRPr lang="en-US" sz="1200" dirty="0"/>
          </a:p>
          <a:p>
            <a:pPr algn="ctr"/>
            <a:r>
              <a:rPr lang="en-US" sz="2400" b="1" dirty="0"/>
              <a:t>Course: </a:t>
            </a:r>
            <a:r>
              <a:rPr lang="en-US" sz="2400" dirty="0"/>
              <a:t>NAT_R 8001 Decision Analysis for Research and Management of Natural Resources</a:t>
            </a:r>
          </a:p>
        </p:txBody>
      </p:sp>
    </p:spTree>
    <p:extLst>
      <p:ext uri="{BB962C8B-B14F-4D97-AF65-F5344CB8AC3E}">
        <p14:creationId xmlns:p14="http://schemas.microsoft.com/office/powerpoint/2010/main" val="247230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AFB0-BB48-9C1F-5485-00DD79AD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Finish up with final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5398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6C334-E4EF-F475-77A6-D90270DB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62" y="339795"/>
            <a:ext cx="4977976" cy="1454051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2"/>
                </a:solidFill>
              </a:rPr>
              <a:t>Discussion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70FD9097-0508-C80F-3785-8FE041F4D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88821-834B-8D32-1527-9D28932CD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793846"/>
            <a:ext cx="5558501" cy="456889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What did you learn about your project by going through a </a:t>
            </a:r>
            <a:r>
              <a:rPr lang="en-US" sz="4000" dirty="0" err="1">
                <a:solidFill>
                  <a:schemeClr val="tx2"/>
                </a:solidFill>
              </a:rPr>
              <a:t>PrOACT</a:t>
            </a:r>
            <a:r>
              <a:rPr lang="en-US" sz="4000" dirty="0">
                <a:solidFill>
                  <a:schemeClr val="tx2"/>
                </a:solidFill>
              </a:rPr>
              <a:t> rapid prototype?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4000" dirty="0">
                <a:solidFill>
                  <a:schemeClr val="tx2"/>
                </a:solidFill>
              </a:rPr>
              <a:t>How useful was this process?</a:t>
            </a: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878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A20C1A-4914-2FAF-8554-DBB34247A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5649"/>
            <a:ext cx="10515600" cy="807459"/>
          </a:xfrm>
        </p:spPr>
        <p:txBody>
          <a:bodyPr/>
          <a:lstStyle/>
          <a:p>
            <a:pPr algn="ctr"/>
            <a:r>
              <a:rPr lang="en-US" dirty="0"/>
              <a:t>Closing thoughts – what </a:t>
            </a:r>
            <a:r>
              <a:rPr lang="en-US" b="1" dirty="0"/>
              <a:t>did</a:t>
            </a:r>
            <a:r>
              <a:rPr lang="en-US" dirty="0"/>
              <a:t> you learn?</a:t>
            </a:r>
          </a:p>
        </p:txBody>
      </p:sp>
    </p:spTree>
    <p:extLst>
      <p:ext uri="{BB962C8B-B14F-4D97-AF65-F5344CB8AC3E}">
        <p14:creationId xmlns:p14="http://schemas.microsoft.com/office/powerpoint/2010/main" val="107511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6BEE49-F3E9-135C-E475-245529FE6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70"/>
          <a:stretch/>
        </p:blipFill>
        <p:spPr>
          <a:xfrm>
            <a:off x="6015748" y="1513531"/>
            <a:ext cx="6095025" cy="438858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335A69E-B00D-6F92-3BE5-CD38F21DFE4B}"/>
              </a:ext>
            </a:extLst>
          </p:cNvPr>
          <p:cNvSpPr txBox="1">
            <a:spLocks/>
          </p:cNvSpPr>
          <p:nvPr/>
        </p:nvSpPr>
        <p:spPr>
          <a:xfrm>
            <a:off x="540290" y="305509"/>
            <a:ext cx="10444910" cy="118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Two key elements of Structured Decision Making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70E734-E07B-A136-45D3-E1D0300A5651}"/>
              </a:ext>
            </a:extLst>
          </p:cNvPr>
          <p:cNvSpPr txBox="1">
            <a:spLocks/>
          </p:cNvSpPr>
          <p:nvPr/>
        </p:nvSpPr>
        <p:spPr>
          <a:xfrm>
            <a:off x="1293353" y="1690889"/>
            <a:ext cx="4685819" cy="1664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1. Values-focused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Objectives are discussed first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Contrasts with alternative-focused methods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pic>
        <p:nvPicPr>
          <p:cNvPr id="8" name="Graphic 7" descr="Comment Heart with solid fill">
            <a:extLst>
              <a:ext uri="{FF2B5EF4-FFF2-40B4-BE49-F238E27FC236}">
                <a16:creationId xmlns:a16="http://schemas.microsoft.com/office/drawing/2014/main" id="{6A5EB302-E8CF-2793-A870-9CB5871D6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714" y="1612548"/>
            <a:ext cx="914400" cy="914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0BF7BDD-1401-3C91-0736-615A4D548160}"/>
              </a:ext>
            </a:extLst>
          </p:cNvPr>
          <p:cNvSpPr txBox="1">
            <a:spLocks/>
          </p:cNvSpPr>
          <p:nvPr/>
        </p:nvSpPr>
        <p:spPr>
          <a:xfrm>
            <a:off x="1159332" y="3241348"/>
            <a:ext cx="5422750" cy="2781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2. Problem decomposition (</a:t>
            </a:r>
            <a:r>
              <a:rPr lang="en-US" sz="2400" b="1" dirty="0" err="1"/>
              <a:t>PrOACT</a:t>
            </a:r>
            <a:r>
              <a:rPr lang="en-US" sz="2400" b="1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Break problem into components, separating science from values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Complete relevant analysis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Recompose the parts to make a decision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u="sng" dirty="0"/>
              <a:t>Additional considerations</a:t>
            </a:r>
            <a:r>
              <a:rPr lang="en-US" sz="2400" dirty="0"/>
              <a:t>: risk, uncertainty, adaptive management</a:t>
            </a:r>
          </a:p>
        </p:txBody>
      </p:sp>
      <p:pic>
        <p:nvPicPr>
          <p:cNvPr id="10" name="Graphic 9" descr="Puzzle pieces with solid fill">
            <a:extLst>
              <a:ext uri="{FF2B5EF4-FFF2-40B4-BE49-F238E27FC236}">
                <a16:creationId xmlns:a16="http://schemas.microsoft.com/office/drawing/2014/main" id="{C3DC2100-1404-B74B-8817-94D1DC9D2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953" y="313188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D6A36E-5CC3-7A3C-8AAE-BC39EB46115B}"/>
              </a:ext>
            </a:extLst>
          </p:cNvPr>
          <p:cNvSpPr txBox="1"/>
          <p:nvPr/>
        </p:nvSpPr>
        <p:spPr>
          <a:xfrm>
            <a:off x="0" y="6581001"/>
            <a:ext cx="80164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Ashley Fortune Isham, Jim Lyons, Sarah J Converse,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271557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5A4355-A5FE-A893-0907-D720633C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3207"/>
            <a:ext cx="10515600" cy="925793"/>
          </a:xfrm>
        </p:spPr>
        <p:txBody>
          <a:bodyPr/>
          <a:lstStyle/>
          <a:p>
            <a:r>
              <a:rPr lang="en-US" dirty="0"/>
              <a:t>Closing thoughts – what </a:t>
            </a:r>
            <a:r>
              <a:rPr lang="en-US" b="1" dirty="0"/>
              <a:t>didn’t</a:t>
            </a:r>
            <a:r>
              <a:rPr lang="en-US" dirty="0"/>
              <a:t> you learn?</a:t>
            </a:r>
          </a:p>
        </p:txBody>
      </p:sp>
    </p:spTree>
    <p:extLst>
      <p:ext uri="{BB962C8B-B14F-4D97-AF65-F5344CB8AC3E}">
        <p14:creationId xmlns:p14="http://schemas.microsoft.com/office/powerpoint/2010/main" val="281598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8F94-FB33-5210-B483-39F4BB1B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CAB0-5C67-4865-D647-F2F453B2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793"/>
          </a:xfrm>
        </p:spPr>
        <p:txBody>
          <a:bodyPr/>
          <a:lstStyle/>
          <a:p>
            <a:r>
              <a:rPr lang="en-US" dirty="0"/>
              <a:t>Closing thoughts – what </a:t>
            </a:r>
            <a:r>
              <a:rPr lang="en-US" b="1" dirty="0"/>
              <a:t>didn’t</a:t>
            </a:r>
            <a:r>
              <a:rPr lang="en-US" dirty="0"/>
              <a:t> you learn?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BCA15A-6291-EB8A-5CDE-D9858C8D8674}"/>
              </a:ext>
            </a:extLst>
          </p:cNvPr>
          <p:cNvSpPr txBox="1">
            <a:spLocks/>
          </p:cNvSpPr>
          <p:nvPr/>
        </p:nvSpPr>
        <p:spPr>
          <a:xfrm>
            <a:off x="963641" y="1215615"/>
            <a:ext cx="7734300" cy="52395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What we didn’t cover:</a:t>
            </a:r>
          </a:p>
          <a:p>
            <a:pPr lvl="1"/>
            <a:r>
              <a:rPr lang="en-US" sz="3200" b="1" dirty="0"/>
              <a:t>Variety of quantitative tools</a:t>
            </a:r>
            <a:endParaRPr lang="en-US" sz="2800" dirty="0"/>
          </a:p>
          <a:p>
            <a:pPr lvl="2"/>
            <a:r>
              <a:rPr lang="en-US" sz="2800" dirty="0"/>
              <a:t>Other types of value of information analysis</a:t>
            </a:r>
          </a:p>
          <a:p>
            <a:pPr lvl="2"/>
            <a:r>
              <a:rPr lang="en-US" sz="2800" dirty="0"/>
              <a:t>Multi-Criteria Decision analysis tools</a:t>
            </a:r>
          </a:p>
          <a:p>
            <a:pPr lvl="2"/>
            <a:r>
              <a:rPr lang="en-US" sz="2800" dirty="0"/>
              <a:t>Bayesian Belief Networks</a:t>
            </a:r>
          </a:p>
          <a:p>
            <a:pPr lvl="2"/>
            <a:r>
              <a:rPr lang="en-US" sz="2800" dirty="0"/>
              <a:t>Adaptive management modeling techniques</a:t>
            </a:r>
          </a:p>
          <a:p>
            <a:pPr lvl="2"/>
            <a:r>
              <a:rPr lang="en-US" sz="2800" dirty="0"/>
              <a:t>Projection modeling</a:t>
            </a:r>
          </a:p>
          <a:p>
            <a:pPr lvl="2"/>
            <a:r>
              <a:rPr lang="en-US" sz="2800" dirty="0"/>
              <a:t>Optimization modeling</a:t>
            </a:r>
          </a:p>
          <a:p>
            <a:pPr lvl="1"/>
            <a:r>
              <a:rPr lang="en-US" sz="3200" b="1" dirty="0"/>
              <a:t>Dealing with people</a:t>
            </a:r>
          </a:p>
          <a:p>
            <a:pPr lvl="2"/>
            <a:r>
              <a:rPr lang="en-US" sz="2800" dirty="0"/>
              <a:t>Stakeholder analysis, forming a team</a:t>
            </a:r>
          </a:p>
          <a:p>
            <a:pPr lvl="2"/>
            <a:r>
              <a:rPr lang="en-US" sz="2800" dirty="0"/>
              <a:t>Facilitation</a:t>
            </a:r>
          </a:p>
          <a:p>
            <a:pPr lvl="2"/>
            <a:r>
              <a:rPr lang="en-US" sz="2800" dirty="0"/>
              <a:t>Expert elicitation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Graphic 7" descr="Programmer female with solid fill">
            <a:extLst>
              <a:ext uri="{FF2B5EF4-FFF2-40B4-BE49-F238E27FC236}">
                <a16:creationId xmlns:a16="http://schemas.microsoft.com/office/drawing/2014/main" id="{AF6AB866-276B-9538-582A-8E73FD098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057" y="1417772"/>
            <a:ext cx="2290743" cy="2290743"/>
          </a:xfrm>
          <a:prstGeom prst="rect">
            <a:avLst/>
          </a:prstGeom>
        </p:spPr>
      </p:pic>
      <p:pic>
        <p:nvPicPr>
          <p:cNvPr id="9" name="Graphic 8" descr="Cycle with people with solid fill">
            <a:extLst>
              <a:ext uri="{FF2B5EF4-FFF2-40B4-BE49-F238E27FC236}">
                <a16:creationId xmlns:a16="http://schemas.microsoft.com/office/drawing/2014/main" id="{CA1C6E53-9B82-9E3B-740C-47014461C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4571" y="3566428"/>
            <a:ext cx="2781300" cy="2781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45C87-3E06-9056-609B-72E09C90E763}"/>
              </a:ext>
            </a:extLst>
          </p:cNvPr>
          <p:cNvSpPr txBox="1"/>
          <p:nvPr/>
        </p:nvSpPr>
        <p:spPr>
          <a:xfrm>
            <a:off x="0" y="6581001"/>
            <a:ext cx="80164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Ashley Fortune Isham, Jim Lyons, Sarah J Converse,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153409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8E07-0CBD-4B16-EC22-A3974ECA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442FB79-7C16-A40A-1600-6478F246C306}"/>
              </a:ext>
            </a:extLst>
          </p:cNvPr>
          <p:cNvSpPr/>
          <p:nvPr/>
        </p:nvSpPr>
        <p:spPr>
          <a:xfrm>
            <a:off x="7355593" y="1594006"/>
            <a:ext cx="4550208" cy="46513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BA144-6049-A0BE-2E28-095FE863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27814" cy="646331"/>
          </a:xfrm>
        </p:spPr>
        <p:txBody>
          <a:bodyPr>
            <a:normAutofit fontScale="90000"/>
          </a:bodyPr>
          <a:lstStyle/>
          <a:p>
            <a:r>
              <a:rPr lang="en-US" dirty="0"/>
              <a:t>Closing thoughts – What can SDM be used for?</a:t>
            </a:r>
          </a:p>
        </p:txBody>
      </p:sp>
      <p:pic>
        <p:nvPicPr>
          <p:cNvPr id="4" name="Picture 3" descr="A group of white birds standing on the ground&#10;&#10;Description automatically generated">
            <a:extLst>
              <a:ext uri="{FF2B5EF4-FFF2-40B4-BE49-F238E27FC236}">
                <a16:creationId xmlns:a16="http://schemas.microsoft.com/office/drawing/2014/main" id="{DB194074-5C3F-0D20-665B-50327C494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85" y="3611298"/>
            <a:ext cx="1700575" cy="1132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4AB0D-EEB6-23A6-496A-CFA4B1917B81}"/>
              </a:ext>
            </a:extLst>
          </p:cNvPr>
          <p:cNvSpPr txBox="1"/>
          <p:nvPr/>
        </p:nvSpPr>
        <p:spPr>
          <a:xfrm>
            <a:off x="442235" y="2953050"/>
            <a:ext cx="3355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Whooping crane management</a:t>
            </a:r>
          </a:p>
          <a:p>
            <a:pPr algn="ctr"/>
            <a:r>
              <a:rPr lang="en-US" dirty="0"/>
              <a:t>(Moore et al. 2008)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DA22C-A193-C785-EDB1-FCF40D2F0448}"/>
              </a:ext>
            </a:extLst>
          </p:cNvPr>
          <p:cNvSpPr txBox="1"/>
          <p:nvPr/>
        </p:nvSpPr>
        <p:spPr>
          <a:xfrm>
            <a:off x="442235" y="1173383"/>
            <a:ext cx="301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Waterfowl harvests</a:t>
            </a:r>
          </a:p>
          <a:p>
            <a:pPr algn="ctr"/>
            <a:r>
              <a:rPr lang="en-US" dirty="0"/>
              <a:t>(Williams and Johnson 1995)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19360-9993-B38A-7AE9-402B251E87AF}"/>
              </a:ext>
            </a:extLst>
          </p:cNvPr>
          <p:cNvSpPr txBox="1"/>
          <p:nvPr/>
        </p:nvSpPr>
        <p:spPr>
          <a:xfrm>
            <a:off x="3500378" y="1173382"/>
            <a:ext cx="3490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Bighorn Sheep disease mitigation</a:t>
            </a:r>
          </a:p>
          <a:p>
            <a:pPr algn="ctr"/>
            <a:r>
              <a:rPr lang="en-US" dirty="0"/>
              <a:t>(Sells et al. 2016)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324DB0-83C0-3FF7-EB6D-4CCB91CCD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52" y="1819713"/>
            <a:ext cx="1513748" cy="1009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0FDC75-722D-47D0-54C7-4AE626541D6A}"/>
              </a:ext>
            </a:extLst>
          </p:cNvPr>
          <p:cNvSpPr txBox="1"/>
          <p:nvPr/>
        </p:nvSpPr>
        <p:spPr>
          <a:xfrm>
            <a:off x="372940" y="4743314"/>
            <a:ext cx="308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Bull trout reintroduction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Brignon</a:t>
            </a:r>
            <a:r>
              <a:rPr lang="en-US" dirty="0"/>
              <a:t> et al. 2017)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75CA23-80DB-632A-BFEB-EE54FB3DD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69" y="5330819"/>
            <a:ext cx="1700239" cy="1273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F8E0AF-F591-9A23-0CE1-5A32D68BD067}"/>
              </a:ext>
            </a:extLst>
          </p:cNvPr>
          <p:cNvSpPr txBox="1"/>
          <p:nvPr/>
        </p:nvSpPr>
        <p:spPr>
          <a:xfrm>
            <a:off x="3644168" y="2962738"/>
            <a:ext cx="3599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Dreissenid</a:t>
            </a:r>
            <a:r>
              <a:rPr lang="en-US" dirty="0"/>
              <a:t> mussel management</a:t>
            </a:r>
          </a:p>
          <a:p>
            <a:pPr algn="ctr"/>
            <a:r>
              <a:rPr lang="en-US" dirty="0"/>
              <a:t>(Sepulveda et al. 2022)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5E18BA-3E4E-E569-2056-D71BE541C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614" y="3588772"/>
            <a:ext cx="1619024" cy="983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37425C-CB67-1FF4-BF7C-9A122C03D3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999" y="1859923"/>
            <a:ext cx="1513748" cy="10389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0E4482-B84F-9E82-8371-7AC4F0962525}"/>
              </a:ext>
            </a:extLst>
          </p:cNvPr>
          <p:cNvSpPr txBox="1"/>
          <p:nvPr/>
        </p:nvSpPr>
        <p:spPr>
          <a:xfrm>
            <a:off x="-14056" y="6628191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Developed by Brielle Thompson, Michael C. Runge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2C43E8-45C2-63D1-515F-13DEC92079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8399" y="5353011"/>
            <a:ext cx="1700239" cy="12751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AD116E-C2F2-960A-99A9-1AC76C1FCC11}"/>
              </a:ext>
            </a:extLst>
          </p:cNvPr>
          <p:cNvSpPr txBox="1"/>
          <p:nvPr/>
        </p:nvSpPr>
        <p:spPr>
          <a:xfrm>
            <a:off x="3338561" y="4706680"/>
            <a:ext cx="4010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Prairie Pothole wetland management</a:t>
            </a:r>
          </a:p>
          <a:p>
            <a:pPr algn="ctr"/>
            <a:r>
              <a:rPr lang="en-US" dirty="0"/>
              <a:t>(Hunt et al. 2020)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CB5E701-BD7A-EF53-234A-5B866503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360" y="2216587"/>
            <a:ext cx="4582081" cy="427628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Routine: one decision maker</a:t>
            </a:r>
          </a:p>
          <a:p>
            <a:pPr lvl="0"/>
            <a:r>
              <a:rPr lang="en-US" dirty="0"/>
              <a:t>Small‐scale: one decision maker or closely collaborating decision makers, few stakeholders</a:t>
            </a:r>
          </a:p>
          <a:p>
            <a:pPr lvl="0"/>
            <a:r>
              <a:rPr lang="en-US" dirty="0"/>
              <a:t>Medium‐scale: multiple collaborative decision makers, many stakeholders</a:t>
            </a:r>
          </a:p>
          <a:p>
            <a:pPr lvl="0"/>
            <a:r>
              <a:rPr lang="en-US" dirty="0"/>
              <a:t>Large‐scale: multiple collaborative decision makers, many stakeholders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6FD63-9ADB-0B38-6A05-1D1530968C73}"/>
              </a:ext>
            </a:extLst>
          </p:cNvPr>
          <p:cNvSpPr txBox="1"/>
          <p:nvPr/>
        </p:nvSpPr>
        <p:spPr>
          <a:xfrm>
            <a:off x="6869955" y="1502401"/>
            <a:ext cx="55668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Across many scales</a:t>
            </a:r>
          </a:p>
        </p:txBody>
      </p:sp>
    </p:spTree>
    <p:extLst>
      <p:ext uri="{BB962C8B-B14F-4D97-AF65-F5344CB8AC3E}">
        <p14:creationId xmlns:p14="http://schemas.microsoft.com/office/powerpoint/2010/main" val="25879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uiExpand="1" build="p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78E7-DFE5-6923-0FCB-81ABE047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0BD3-C2DD-F65F-847F-7FA25D426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17" y="322311"/>
            <a:ext cx="10640209" cy="1325563"/>
          </a:xfrm>
        </p:spPr>
        <p:txBody>
          <a:bodyPr/>
          <a:lstStyle/>
          <a:p>
            <a:pPr algn="ctr"/>
            <a:r>
              <a:rPr lang="en-US" dirty="0"/>
              <a:t>Closing thoughts – What can SDM be used for</a:t>
            </a:r>
            <a:br>
              <a:rPr lang="en-US" dirty="0"/>
            </a:br>
            <a:r>
              <a:rPr lang="en-US" b="1" dirty="0"/>
              <a:t>beyond natural resources</a:t>
            </a:r>
            <a:r>
              <a:rPr lang="en-US" dirty="0"/>
              <a:t>?</a:t>
            </a:r>
          </a:p>
        </p:txBody>
      </p:sp>
      <p:pic>
        <p:nvPicPr>
          <p:cNvPr id="3" name="Graphic 2" descr="Car with solid fill">
            <a:extLst>
              <a:ext uri="{FF2B5EF4-FFF2-40B4-BE49-F238E27FC236}">
                <a16:creationId xmlns:a16="http://schemas.microsoft.com/office/drawing/2014/main" id="{C6DEAD00-1FD6-CDEF-4EE0-8FDC6BF57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0047" y="1695994"/>
            <a:ext cx="1664822" cy="1664822"/>
          </a:xfrm>
          <a:prstGeom prst="rect">
            <a:avLst/>
          </a:prstGeom>
        </p:spPr>
      </p:pic>
      <p:pic>
        <p:nvPicPr>
          <p:cNvPr id="4" name="Graphic 3" descr="Schoolhouse with solid fill">
            <a:extLst>
              <a:ext uri="{FF2B5EF4-FFF2-40B4-BE49-F238E27FC236}">
                <a16:creationId xmlns:a16="http://schemas.microsoft.com/office/drawing/2014/main" id="{68AD51D5-2FFD-9569-E09E-5A08ED442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8825" y="1572415"/>
            <a:ext cx="1664822" cy="1664822"/>
          </a:xfrm>
          <a:prstGeom prst="rect">
            <a:avLst/>
          </a:prstGeom>
        </p:spPr>
      </p:pic>
      <p:pic>
        <p:nvPicPr>
          <p:cNvPr id="5" name="Graphic 4" descr="Briefcase with solid fill">
            <a:extLst>
              <a:ext uri="{FF2B5EF4-FFF2-40B4-BE49-F238E27FC236}">
                <a16:creationId xmlns:a16="http://schemas.microsoft.com/office/drawing/2014/main" id="{236D832A-4D97-21C2-1D2F-6D798E77AE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1617" y="1641813"/>
            <a:ext cx="1551011" cy="1551011"/>
          </a:xfrm>
          <a:prstGeom prst="rect">
            <a:avLst/>
          </a:prstGeom>
        </p:spPr>
      </p:pic>
      <p:pic>
        <p:nvPicPr>
          <p:cNvPr id="7" name="Graphic 6" descr="House with solid fill">
            <a:extLst>
              <a:ext uri="{FF2B5EF4-FFF2-40B4-BE49-F238E27FC236}">
                <a16:creationId xmlns:a16="http://schemas.microsoft.com/office/drawing/2014/main" id="{C9A47595-8534-393D-5BD2-E5B96A157D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6630" y="3887598"/>
            <a:ext cx="1645920" cy="1645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DCE010-3AFC-5EC6-97AE-ABDB079E8AB4}"/>
              </a:ext>
            </a:extLst>
          </p:cNvPr>
          <p:cNvSpPr txBox="1"/>
          <p:nvPr/>
        </p:nvSpPr>
        <p:spPr>
          <a:xfrm>
            <a:off x="4686471" y="2933491"/>
            <a:ext cx="214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Choosing a college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6A906-ACC4-94AF-36AE-45BDE66826DE}"/>
              </a:ext>
            </a:extLst>
          </p:cNvPr>
          <p:cNvSpPr txBox="1"/>
          <p:nvPr/>
        </p:nvSpPr>
        <p:spPr>
          <a:xfrm>
            <a:off x="2419634" y="2928692"/>
            <a:ext cx="1387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Buying a car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554CD-8737-3F26-C946-AECC8734EDDA}"/>
              </a:ext>
            </a:extLst>
          </p:cNvPr>
          <p:cNvSpPr txBox="1"/>
          <p:nvPr/>
        </p:nvSpPr>
        <p:spPr>
          <a:xfrm>
            <a:off x="7323095" y="2928692"/>
            <a:ext cx="214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Career decisions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3ADE9-0356-9684-D53B-448F13978E5A}"/>
              </a:ext>
            </a:extLst>
          </p:cNvPr>
          <p:cNvSpPr txBox="1"/>
          <p:nvPr/>
        </p:nvSpPr>
        <p:spPr>
          <a:xfrm>
            <a:off x="4626889" y="5474050"/>
            <a:ext cx="21254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Buying a house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4E003-DCBE-64A5-734A-49D44DD9F4D7}"/>
              </a:ext>
            </a:extLst>
          </p:cNvPr>
          <p:cNvSpPr txBox="1"/>
          <p:nvPr/>
        </p:nvSpPr>
        <p:spPr>
          <a:xfrm>
            <a:off x="1524" y="6596390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Developed by Brielle Thompson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E6140-1AC9-8F05-D6C8-92F8B1097BBD}"/>
              </a:ext>
            </a:extLst>
          </p:cNvPr>
          <p:cNvSpPr txBox="1"/>
          <p:nvPr/>
        </p:nvSpPr>
        <p:spPr>
          <a:xfrm>
            <a:off x="1852790" y="5474050"/>
            <a:ext cx="22235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Deciding dinner plans</a:t>
            </a:r>
          </a:p>
        </p:txBody>
      </p:sp>
      <p:pic>
        <p:nvPicPr>
          <p:cNvPr id="14" name="Graphic 13" descr="Fork and knife with solid fill">
            <a:extLst>
              <a:ext uri="{FF2B5EF4-FFF2-40B4-BE49-F238E27FC236}">
                <a16:creationId xmlns:a16="http://schemas.microsoft.com/office/drawing/2014/main" id="{469A2D47-0035-ABEF-106D-6048B79922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187303" y="3979038"/>
            <a:ext cx="1554480" cy="1554480"/>
          </a:xfrm>
          <a:prstGeom prst="rect">
            <a:avLst/>
          </a:prstGeom>
        </p:spPr>
      </p:pic>
      <p:pic>
        <p:nvPicPr>
          <p:cNvPr id="15" name="Graphic 14" descr="Travel with solid fill">
            <a:extLst>
              <a:ext uri="{FF2B5EF4-FFF2-40B4-BE49-F238E27FC236}">
                <a16:creationId xmlns:a16="http://schemas.microsoft.com/office/drawing/2014/main" id="{33A02C97-E923-96AE-4B85-A1D7266D97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637397" y="3887598"/>
            <a:ext cx="1645920" cy="16459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31E185-C1CE-DDDD-0ECB-DA4D89496F84}"/>
              </a:ext>
            </a:extLst>
          </p:cNvPr>
          <p:cNvSpPr txBox="1"/>
          <p:nvPr/>
        </p:nvSpPr>
        <p:spPr>
          <a:xfrm>
            <a:off x="7157915" y="5474050"/>
            <a:ext cx="21254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Making travel plans</a:t>
            </a:r>
          </a:p>
        </p:txBody>
      </p:sp>
    </p:spTree>
    <p:extLst>
      <p:ext uri="{BB962C8B-B14F-4D97-AF65-F5344CB8AC3E}">
        <p14:creationId xmlns:p14="http://schemas.microsoft.com/office/powerpoint/2010/main" val="95040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B3D1-2D42-9CD6-BAAF-0177F5FE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920"/>
            <a:ext cx="10515600" cy="576707"/>
          </a:xfrm>
        </p:spPr>
        <p:txBody>
          <a:bodyPr>
            <a:normAutofit fontScale="90000"/>
          </a:bodyPr>
          <a:lstStyle/>
          <a:p>
            <a:r>
              <a:rPr lang="en-US" dirty="0"/>
              <a:t>Books to read: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DDA63-FDED-F4C7-E2CC-8601F370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593" y="1785639"/>
            <a:ext cx="1716638" cy="2235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C7872-BA4C-1C25-B40C-F97BA5B57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3" y="4274854"/>
            <a:ext cx="1564646" cy="2235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76434-31B0-A863-BFC7-4C0E80A66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05" y="1601495"/>
            <a:ext cx="1616127" cy="2419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AB7BE8-F68A-5235-7FD5-EFC231DF4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715" y="4260469"/>
            <a:ext cx="1463508" cy="2301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1FDEEC-E8A3-733B-DE76-A5F9EF88F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3219" y="1745861"/>
            <a:ext cx="1418749" cy="2143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A7F39-C115-D331-2B42-50C8D1FCB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7975" y="4260468"/>
            <a:ext cx="1463993" cy="2301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3949E3-F9F4-C9C1-AF8A-68CA3E5B8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2492" y="1693568"/>
            <a:ext cx="1463508" cy="22477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6FB747-5D99-6FD3-CCEC-4388FE891D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492" y="4261492"/>
            <a:ext cx="1534668" cy="2300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14C13C-274A-9561-1138-454C094F5A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4235" y="1816769"/>
            <a:ext cx="1463507" cy="2204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61C264-4B04-A67E-BC4D-F0D918B03F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7623" y="4305985"/>
            <a:ext cx="1470119" cy="22040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9A5E3D-95E4-1274-7CC7-0C2418C867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1009" y="1834878"/>
            <a:ext cx="1463507" cy="21859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000571-FF2F-A093-3914-9C40D13631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4941" y="4391190"/>
            <a:ext cx="1295641" cy="2002536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9D1DD26-931B-0E8E-3B8E-F7CC5AA531A8}"/>
              </a:ext>
            </a:extLst>
          </p:cNvPr>
          <p:cNvSpPr txBox="1">
            <a:spLocks/>
          </p:cNvSpPr>
          <p:nvPr/>
        </p:nvSpPr>
        <p:spPr>
          <a:xfrm>
            <a:off x="1005714" y="728827"/>
            <a:ext cx="10808801" cy="9862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Increasing rigor</a:t>
            </a:r>
          </a:p>
        </p:txBody>
      </p:sp>
    </p:spTree>
    <p:extLst>
      <p:ext uri="{BB962C8B-B14F-4D97-AF65-F5344CB8AC3E}">
        <p14:creationId xmlns:p14="http://schemas.microsoft.com/office/powerpoint/2010/main" val="136066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387</Words>
  <Application>Microsoft Office PowerPoint</Application>
  <PresentationFormat>Widescreen</PresentationFormat>
  <Paragraphs>70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Week 8:  Final presentations + closing thoughts</vt:lpstr>
      <vt:lpstr>Finish up with final presentations</vt:lpstr>
      <vt:lpstr>Discussion</vt:lpstr>
      <vt:lpstr>Closing thoughts – what did you learn?</vt:lpstr>
      <vt:lpstr>PowerPoint Presentation</vt:lpstr>
      <vt:lpstr>Closing thoughts – what didn’t you learn?</vt:lpstr>
      <vt:lpstr>Closing thoughts – what didn’t you learn?</vt:lpstr>
      <vt:lpstr>Closing thoughts – What can SDM be used for?</vt:lpstr>
      <vt:lpstr>Closing thoughts – What can SDM be used for beyond natural resources?</vt:lpstr>
      <vt:lpstr>Books to read: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Brielle</dc:creator>
  <cp:lastModifiedBy>Thompson, Brielle</cp:lastModifiedBy>
  <cp:revision>1</cp:revision>
  <dcterms:created xsi:type="dcterms:W3CDTF">2025-10-15T15:36:35Z</dcterms:created>
  <dcterms:modified xsi:type="dcterms:W3CDTF">2025-10-15T15:57:38Z</dcterms:modified>
</cp:coreProperties>
</file>