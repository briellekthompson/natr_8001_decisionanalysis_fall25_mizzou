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434" r:id="rId2"/>
    <p:sldId id="565" r:id="rId3"/>
    <p:sldId id="566" r:id="rId4"/>
    <p:sldId id="567" r:id="rId5"/>
    <p:sldId id="518" r:id="rId6"/>
    <p:sldId id="568" r:id="rId7"/>
    <p:sldId id="562" r:id="rId8"/>
    <p:sldId id="563" r:id="rId9"/>
    <p:sldId id="564" r:id="rId10"/>
    <p:sldId id="569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76FB310-E67A-4D5B-BFCA-E0861AFF3A59}" v="1" dt="2025-10-17T15:18:04.80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hompson, Brielle" userId="f0ea580a-03ee-4a63-bd84-436803179175" providerId="ADAL" clId="{C76FB310-E67A-4D5B-BFCA-E0861AFF3A59}"/>
    <pc:docChg chg="custSel modSld">
      <pc:chgData name="Thompson, Brielle" userId="f0ea580a-03ee-4a63-bd84-436803179175" providerId="ADAL" clId="{C76FB310-E67A-4D5B-BFCA-E0861AFF3A59}" dt="2025-10-17T15:19:19.177" v="25" actId="1076"/>
      <pc:docMkLst>
        <pc:docMk/>
      </pc:docMkLst>
      <pc:sldChg chg="addSp delSp modSp mod">
        <pc:chgData name="Thompson, Brielle" userId="f0ea580a-03ee-4a63-bd84-436803179175" providerId="ADAL" clId="{C76FB310-E67A-4D5B-BFCA-E0861AFF3A59}" dt="2025-10-17T15:19:19.177" v="25" actId="1076"/>
        <pc:sldMkLst>
          <pc:docMk/>
          <pc:sldMk cId="1360666413" sldId="569"/>
        </pc:sldMkLst>
        <pc:picChg chg="add mod">
          <ac:chgData name="Thompson, Brielle" userId="f0ea580a-03ee-4a63-bd84-436803179175" providerId="ADAL" clId="{C76FB310-E67A-4D5B-BFCA-E0861AFF3A59}" dt="2025-10-17T15:19:17.738" v="24" actId="1076"/>
          <ac:picMkLst>
            <pc:docMk/>
            <pc:sldMk cId="1360666413" sldId="569"/>
            <ac:picMk id="3" creationId="{402BFED4-BF74-BCA7-C48E-B4AD1335BFC2}"/>
          </ac:picMkLst>
        </pc:picChg>
        <pc:picChg chg="mod">
          <ac:chgData name="Thompson, Brielle" userId="f0ea580a-03ee-4a63-bd84-436803179175" providerId="ADAL" clId="{C76FB310-E67A-4D5B-BFCA-E0861AFF3A59}" dt="2025-10-17T15:19:04.590" v="19" actId="1076"/>
          <ac:picMkLst>
            <pc:docMk/>
            <pc:sldMk cId="1360666413" sldId="569"/>
            <ac:picMk id="4" creationId="{457DDA63-FDED-F4C7-E2CC-8601F3702B24}"/>
          </ac:picMkLst>
        </pc:picChg>
        <pc:picChg chg="mod">
          <ac:chgData name="Thompson, Brielle" userId="f0ea580a-03ee-4a63-bd84-436803179175" providerId="ADAL" clId="{C76FB310-E67A-4D5B-BFCA-E0861AFF3A59}" dt="2025-10-17T15:19:06.538" v="20" actId="1076"/>
          <ac:picMkLst>
            <pc:docMk/>
            <pc:sldMk cId="1360666413" sldId="569"/>
            <ac:picMk id="5" creationId="{FEFC7872-BA4C-1C25-B40C-F97BA5B57407}"/>
          </ac:picMkLst>
        </pc:picChg>
        <pc:picChg chg="mod">
          <ac:chgData name="Thompson, Brielle" userId="f0ea580a-03ee-4a63-bd84-436803179175" providerId="ADAL" clId="{C76FB310-E67A-4D5B-BFCA-E0861AFF3A59}" dt="2025-10-17T15:18:18.927" v="8" actId="1076"/>
          <ac:picMkLst>
            <pc:docMk/>
            <pc:sldMk cId="1360666413" sldId="569"/>
            <ac:picMk id="6" creationId="{F8F76434-31B0-A863-BFC7-4C0E80A66C04}"/>
          </ac:picMkLst>
        </pc:picChg>
        <pc:picChg chg="mod">
          <ac:chgData name="Thompson, Brielle" userId="f0ea580a-03ee-4a63-bd84-436803179175" providerId="ADAL" clId="{C76FB310-E67A-4D5B-BFCA-E0861AFF3A59}" dt="2025-10-17T15:19:00.955" v="17" actId="1076"/>
          <ac:picMkLst>
            <pc:docMk/>
            <pc:sldMk cId="1360666413" sldId="569"/>
            <ac:picMk id="8" creationId="{E91FDEEC-E8A3-733B-DE76-A5F9EF88F3F0}"/>
          </ac:picMkLst>
        </pc:picChg>
        <pc:picChg chg="mod">
          <ac:chgData name="Thompson, Brielle" userId="f0ea580a-03ee-4a63-bd84-436803179175" providerId="ADAL" clId="{C76FB310-E67A-4D5B-BFCA-E0861AFF3A59}" dt="2025-10-17T15:18:59.761" v="16" actId="1076"/>
          <ac:picMkLst>
            <pc:docMk/>
            <pc:sldMk cId="1360666413" sldId="569"/>
            <ac:picMk id="9" creationId="{D9EA7F39-C115-D331-2B42-50C8D1FCBAE5}"/>
          </ac:picMkLst>
        </pc:picChg>
        <pc:picChg chg="mod">
          <ac:chgData name="Thompson, Brielle" userId="f0ea580a-03ee-4a63-bd84-436803179175" providerId="ADAL" clId="{C76FB310-E67A-4D5B-BFCA-E0861AFF3A59}" dt="2025-10-17T15:19:02.544" v="18" actId="1076"/>
          <ac:picMkLst>
            <pc:docMk/>
            <pc:sldMk cId="1360666413" sldId="569"/>
            <ac:picMk id="10" creationId="{E53949E3-F9F4-C9C1-AF8A-68CA3E5B8463}"/>
          </ac:picMkLst>
        </pc:picChg>
        <pc:picChg chg="mod">
          <ac:chgData name="Thompson, Brielle" userId="f0ea580a-03ee-4a63-bd84-436803179175" providerId="ADAL" clId="{C76FB310-E67A-4D5B-BFCA-E0861AFF3A59}" dt="2025-10-17T15:19:11.618" v="22" actId="1076"/>
          <ac:picMkLst>
            <pc:docMk/>
            <pc:sldMk cId="1360666413" sldId="569"/>
            <ac:picMk id="14" creationId="{A914C13C-274A-9561-1138-454C094F5AA4}"/>
          </ac:picMkLst>
        </pc:picChg>
        <pc:picChg chg="mod">
          <ac:chgData name="Thompson, Brielle" userId="f0ea580a-03ee-4a63-bd84-436803179175" providerId="ADAL" clId="{C76FB310-E67A-4D5B-BFCA-E0861AFF3A59}" dt="2025-10-17T15:19:07.997" v="21" actId="1076"/>
          <ac:picMkLst>
            <pc:docMk/>
            <pc:sldMk cId="1360666413" sldId="569"/>
            <ac:picMk id="15" creationId="{EB61C264-4B04-A67E-BC4D-F0D918B03F3D}"/>
          </ac:picMkLst>
        </pc:picChg>
        <pc:picChg chg="mod">
          <ac:chgData name="Thompson, Brielle" userId="f0ea580a-03ee-4a63-bd84-436803179175" providerId="ADAL" clId="{C76FB310-E67A-4D5B-BFCA-E0861AFF3A59}" dt="2025-10-17T15:19:19.177" v="25" actId="1076"/>
          <ac:picMkLst>
            <pc:docMk/>
            <pc:sldMk cId="1360666413" sldId="569"/>
            <ac:picMk id="17" creationId="{4C9A5E3D-95E4-1274-7CC7-0C2418C8675A}"/>
          </ac:picMkLst>
        </pc:picChg>
        <pc:picChg chg="del">
          <ac:chgData name="Thompson, Brielle" userId="f0ea580a-03ee-4a63-bd84-436803179175" providerId="ADAL" clId="{C76FB310-E67A-4D5B-BFCA-E0861AFF3A59}" dt="2025-10-17T15:18:00.284" v="0" actId="478"/>
          <ac:picMkLst>
            <pc:docMk/>
            <pc:sldMk cId="1360666413" sldId="569"/>
            <ac:picMk id="19" creationId="{32000571-FF2F-A093-3914-9C40D13631BA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E2BC27-AE0A-404D-B62A-8E3F0AE0D32C}" type="datetimeFigureOut">
              <a:rPr lang="en-US" smtClean="0"/>
              <a:t>10/17/2025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CDF3F2-55ED-4908-8848-CD39A0ABFD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8860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30 minutes = intro</a:t>
            </a:r>
          </a:p>
          <a:p>
            <a:r>
              <a:rPr lang="en-US" dirty="0"/>
              <a:t>Next 60 = slides</a:t>
            </a:r>
          </a:p>
          <a:p>
            <a:r>
              <a:rPr lang="en-US" dirty="0"/>
              <a:t>Final 30 = activity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18948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37106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3674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FA8BA-F017-99CF-D685-7602EC1086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C55A08-8A13-4802-7DBC-A3210142B3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FEDD6A-4F92-B5FD-BC7E-5727BB5F81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1037E-8513-486A-AAA4-B6DF62FD231E}" type="datetimeFigureOut">
              <a:rPr lang="en-US" smtClean="0"/>
              <a:t>10/17/2025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2A1995-1824-9964-DEFD-DE9CE8E4EB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2CC7E9-2891-7D6F-7992-493B09D211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4D9EE-0FBA-4F65-9C13-CBEFA047AD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39822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29E10-F9A0-7656-B0C6-8DF2ED2779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6A347E-16A4-817A-30CB-251C871736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6C6999-767A-8527-21B5-5103DCBB4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1037E-8513-486A-AAA4-B6DF62FD231E}" type="datetimeFigureOut">
              <a:rPr lang="en-US" smtClean="0"/>
              <a:t>10/17/2025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84197C-73AA-3981-D9EF-9FD026D3C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3CE2E7-195A-DBE6-1995-39482A942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4D9EE-0FBA-4F65-9C13-CBEFA047AD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7188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B0FCB-2515-D5D8-A6CC-A2ACB4DEF0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E98119-74D1-584F-BB6F-FA0E6F42B7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FF3AAF-F54F-EF5B-C1DF-38C6C2F1FB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1037E-8513-486A-AAA4-B6DF62FD231E}" type="datetimeFigureOut">
              <a:rPr lang="en-US" smtClean="0"/>
              <a:t>10/17/2025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4F9CCB-3AC9-4458-9185-400F481E40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FE63D0-DAC5-7609-2C55-99F481FB2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4D9EE-0FBA-4F65-9C13-CBEFA047AD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0521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3A4E46-1696-99E3-45C7-1CF79C7668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FC43FC-9CA0-FBF1-63C5-1507828C6A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804BC9-A098-9888-D2C5-AFC512710D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56462A-72C5-01F1-F96A-F740AAE08F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1037E-8513-486A-AAA4-B6DF62FD231E}" type="datetimeFigureOut">
              <a:rPr lang="en-US" smtClean="0"/>
              <a:t>10/17/2025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7ECA9-8100-6F87-CCA9-857FCB4C4D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51613B-7484-872C-3247-F01A2735BE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4D9EE-0FBA-4F65-9C13-CBEFA047AD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99873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BC424B-EC7E-2EE9-B369-BF0CBD394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0CA649-D08D-53B3-52BD-67E515BC59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48CE35-CC36-4E52-4162-F0FA2CCA9E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11A9912-95B2-1E8F-AC17-19551396E7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DC2ECF3-91B8-2708-93E8-8DA9135A49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2E9163D-D4CF-5E9B-D378-A30C4BE78B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1037E-8513-486A-AAA4-B6DF62FD231E}" type="datetimeFigureOut">
              <a:rPr lang="en-US" smtClean="0"/>
              <a:t>10/17/2025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3B0D19-3A76-C6EA-E2B7-21DEEB075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46A37D-E10E-A9A0-CA01-764FEA6E9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4D9EE-0FBA-4F65-9C13-CBEFA047AD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8873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3E62E4-E093-6C1A-DC1C-23C658D65C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60BBB9-C25B-E50A-DB98-9040F47107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1037E-8513-486A-AAA4-B6DF62FD231E}" type="datetimeFigureOut">
              <a:rPr lang="en-US" smtClean="0"/>
              <a:t>10/17/2025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DE899B3-E1DD-D19F-41E1-08951A32DE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611E79-B1F1-1DF3-A169-3528350316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4D9EE-0FBA-4F65-9C13-CBEFA047AD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7788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639398F-05C4-976C-8731-F48409E076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1037E-8513-486A-AAA4-B6DF62FD231E}" type="datetimeFigureOut">
              <a:rPr lang="en-US" smtClean="0"/>
              <a:t>10/17/2025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52BE984-2499-7679-7D10-09583C7E6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F5038A-4FC4-2CC8-73CF-FA225802F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4D9EE-0FBA-4F65-9C13-CBEFA047AD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50739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5DF43E-F1F4-785B-C217-02BDF86054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A57540-443E-935F-A3A0-D1AD78D6F0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4FA2DC-1A39-BF59-9F48-FBF0B64DF0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5F8F74-3DB8-308C-CA5C-FF662FF7F8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1037E-8513-486A-AAA4-B6DF62FD231E}" type="datetimeFigureOut">
              <a:rPr lang="en-US" smtClean="0"/>
              <a:t>10/17/2025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5E16D1-F0B2-97B6-4595-1206FD4327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26F3CC-EBD3-0201-BD80-1FA8D41AB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4D9EE-0FBA-4F65-9C13-CBEFA047AD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84148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448BD-2999-8A36-F9EA-0FB0217B44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B49EE37-D6FE-F09C-329D-0F5E699A010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2CF8A9-2B3E-9DD2-7995-54B37FC848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21CE42-6140-8A47-D7F0-745ABFFA60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1037E-8513-486A-AAA4-B6DF62FD231E}" type="datetimeFigureOut">
              <a:rPr lang="en-US" smtClean="0"/>
              <a:t>10/17/2025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92B10A-D848-5756-1743-895E784A45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28A776-FF0A-B9C4-0E15-2B97DC484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4D9EE-0FBA-4F65-9C13-CBEFA047AD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89266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21B8E-4305-756F-2958-AAE45E9AB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D0F4E5-0558-66BD-60A6-FDC0AA1D4B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6DA288-0631-0A31-906F-6C2905D1DD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1037E-8513-486A-AAA4-B6DF62FD231E}" type="datetimeFigureOut">
              <a:rPr lang="en-US" smtClean="0"/>
              <a:t>10/17/2025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C78693-39A3-E1AD-8D0E-D4BE646FB8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A288F0-7899-5E68-3399-C85D333A8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4D9EE-0FBA-4F65-9C13-CBEFA047AD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8866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B8BF1AC-5799-871E-48A3-22F1EF52FA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933585-FAB4-AB06-274B-1B0EEC5ADB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507283-8CAA-83CD-C981-0CEFFBE11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1037E-8513-486A-AAA4-B6DF62FD231E}" type="datetimeFigureOut">
              <a:rPr lang="en-US" smtClean="0"/>
              <a:t>10/17/2025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2DED02-6C79-5F9F-3543-6EF11B43E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8EB28A-2E2E-97AA-C1E5-902C9C6A8E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4D9EE-0FBA-4F65-9C13-CBEFA047AD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6982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C19772C-A0B0-9ED7-22B1-86B163504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BB5C1B-04E9-E017-F8F2-3FE3DC3F3F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B6D99C-88D1-5574-BCB0-C95F2449ED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1B1037E-8513-486A-AAA4-B6DF62FD231E}" type="datetimeFigureOut">
              <a:rPr lang="en-US" smtClean="0"/>
              <a:t>10/17/2025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4966D8-7DC9-F672-2284-9D0EDBD3D0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0F8584-DB91-79AE-E14D-41513B2014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44D9EE-0FBA-4F65-9C13-CBEFA047AD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03306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jpe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svg"/><Relationship Id="rId13" Type="http://schemas.openxmlformats.org/officeDocument/2006/relationships/image" Target="../media/image29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8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sv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0" Type="http://schemas.openxmlformats.org/officeDocument/2006/relationships/image" Target="../media/image26.svg"/><Relationship Id="rId4" Type="http://schemas.openxmlformats.org/officeDocument/2006/relationships/image" Target="../media/image20.svg"/><Relationship Id="rId9" Type="http://schemas.openxmlformats.org/officeDocument/2006/relationships/image" Target="../media/image25.png"/><Relationship Id="rId14" Type="http://schemas.openxmlformats.org/officeDocument/2006/relationships/image" Target="../media/image30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13" Type="http://schemas.openxmlformats.org/officeDocument/2006/relationships/image" Target="../media/image42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12" Type="http://schemas.openxmlformats.org/officeDocument/2006/relationships/image" Target="../media/image41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11" Type="http://schemas.openxmlformats.org/officeDocument/2006/relationships/image" Target="../media/image40.png"/><Relationship Id="rId5" Type="http://schemas.openxmlformats.org/officeDocument/2006/relationships/image" Target="../media/image34.png"/><Relationship Id="rId10" Type="http://schemas.openxmlformats.org/officeDocument/2006/relationships/image" Target="../media/image39.png"/><Relationship Id="rId4" Type="http://schemas.openxmlformats.org/officeDocument/2006/relationships/image" Target="../media/image33.png"/><Relationship Id="rId9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E23848-0866-067B-5C85-225EDB126B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66554" y="1481908"/>
            <a:ext cx="9718260" cy="2516776"/>
          </a:xfrm>
        </p:spPr>
        <p:txBody>
          <a:bodyPr anchor="ctr">
            <a:normAutofit/>
          </a:bodyPr>
          <a:lstStyle/>
          <a:p>
            <a:r>
              <a:rPr lang="en-US" sz="9600" b="1" dirty="0"/>
              <a:t>Week 8: </a:t>
            </a:r>
            <a:br>
              <a:rPr lang="en-US" sz="9600" b="1" dirty="0"/>
            </a:br>
            <a:r>
              <a:rPr lang="en-US" sz="4900" dirty="0">
                <a:solidFill>
                  <a:srgbClr val="ED7D31"/>
                </a:solidFill>
              </a:rPr>
              <a:t>Final presentations + closing thoughts</a:t>
            </a:r>
            <a:endParaRPr lang="en-US" sz="4700" dirty="0">
              <a:solidFill>
                <a:srgbClr val="ED7D31"/>
              </a:solidFill>
              <a:latin typeface="+mn-lt"/>
            </a:endParaRPr>
          </a:p>
        </p:txBody>
      </p:sp>
      <p:pic>
        <p:nvPicPr>
          <p:cNvPr id="11" name="Picture 10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7A4DEB4C-A3E6-F636-2C42-D54CB20DD3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0005" y="451522"/>
            <a:ext cx="4832857" cy="94990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86D1B4F1-CD55-C0FF-1797-AD87F89108F7}"/>
              </a:ext>
            </a:extLst>
          </p:cNvPr>
          <p:cNvSpPr txBox="1"/>
          <p:nvPr/>
        </p:nvSpPr>
        <p:spPr>
          <a:xfrm>
            <a:off x="2383104" y="4111882"/>
            <a:ext cx="7425791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/>
              <a:t>Instructor: </a:t>
            </a:r>
            <a:r>
              <a:rPr lang="en-US" sz="2400" dirty="0"/>
              <a:t>Brielle K Thompson</a:t>
            </a:r>
          </a:p>
          <a:p>
            <a:pPr algn="ctr"/>
            <a:endParaRPr lang="en-US" sz="1200" dirty="0"/>
          </a:p>
          <a:p>
            <a:pPr algn="ctr"/>
            <a:r>
              <a:rPr lang="en-US" sz="2400" b="1" dirty="0"/>
              <a:t>Course: </a:t>
            </a:r>
            <a:r>
              <a:rPr lang="en-US" sz="2400" dirty="0"/>
              <a:t>NAT_R 8001 Decision Analysis for Research and Management of Natural Resources</a:t>
            </a:r>
          </a:p>
        </p:txBody>
      </p:sp>
    </p:spTree>
    <p:extLst>
      <p:ext uri="{BB962C8B-B14F-4D97-AF65-F5344CB8AC3E}">
        <p14:creationId xmlns:p14="http://schemas.microsoft.com/office/powerpoint/2010/main" val="2472309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5AFB0-BB48-9C1F-5485-00DD79AD2D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Finish up with final presentations</a:t>
            </a:r>
          </a:p>
        </p:txBody>
      </p:sp>
    </p:spTree>
    <p:extLst>
      <p:ext uri="{BB962C8B-B14F-4D97-AF65-F5344CB8AC3E}">
        <p14:creationId xmlns:p14="http://schemas.microsoft.com/office/powerpoint/2010/main" val="3539878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45A9F99-D9B1-4094-A2E2-B90AC1DB7B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7FAF607-473A-4A43-A23D-BBFF5C4117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66C334-E4EF-F475-77A6-D90270DBE9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6262" y="339795"/>
            <a:ext cx="4977976" cy="1454051"/>
          </a:xfrm>
        </p:spPr>
        <p:txBody>
          <a:bodyPr>
            <a:normAutofit/>
          </a:bodyPr>
          <a:lstStyle/>
          <a:p>
            <a:r>
              <a:rPr lang="en-US" sz="7200" dirty="0">
                <a:solidFill>
                  <a:schemeClr val="tx2"/>
                </a:solidFill>
              </a:rPr>
              <a:t>Discussion</a:t>
            </a:r>
          </a:p>
        </p:txBody>
      </p:sp>
      <p:pic>
        <p:nvPicPr>
          <p:cNvPr id="7" name="Graphic 6" descr="Questions">
            <a:extLst>
              <a:ext uri="{FF2B5EF4-FFF2-40B4-BE49-F238E27FC236}">
                <a16:creationId xmlns:a16="http://schemas.microsoft.com/office/drawing/2014/main" id="{70FD9097-0508-C80F-3785-8FE041F4DE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6951" y="1793846"/>
            <a:ext cx="3620021" cy="3620021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388821-834B-8D32-1527-9D28932CD7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9" y="1793846"/>
            <a:ext cx="5558501" cy="4568895"/>
          </a:xfrm>
        </p:spPr>
        <p:txBody>
          <a:bodyPr anchor="ctr">
            <a:normAutofit/>
          </a:bodyPr>
          <a:lstStyle/>
          <a:p>
            <a:r>
              <a:rPr lang="en-US" sz="4000" dirty="0">
                <a:solidFill>
                  <a:schemeClr val="tx2"/>
                </a:solidFill>
              </a:rPr>
              <a:t>What did you learn about your project by going through a </a:t>
            </a:r>
            <a:r>
              <a:rPr lang="en-US" sz="4000" dirty="0" err="1">
                <a:solidFill>
                  <a:schemeClr val="tx2"/>
                </a:solidFill>
              </a:rPr>
              <a:t>PrOACT</a:t>
            </a:r>
            <a:r>
              <a:rPr lang="en-US" sz="4000" dirty="0">
                <a:solidFill>
                  <a:schemeClr val="tx2"/>
                </a:solidFill>
              </a:rPr>
              <a:t> rapid prototype?</a:t>
            </a:r>
          </a:p>
          <a:p>
            <a:endParaRPr lang="en-US" sz="1600" dirty="0">
              <a:solidFill>
                <a:schemeClr val="tx2"/>
              </a:solidFill>
            </a:endParaRPr>
          </a:p>
          <a:p>
            <a:r>
              <a:rPr lang="en-US" sz="4000" dirty="0">
                <a:solidFill>
                  <a:schemeClr val="tx2"/>
                </a:solidFill>
              </a:rPr>
              <a:t>How useful was this process?</a:t>
            </a:r>
          </a:p>
          <a:p>
            <a:endParaRPr lang="en-US" sz="4000" dirty="0">
              <a:solidFill>
                <a:schemeClr val="tx2"/>
              </a:solidFill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5F6476F-D303-44D3-B30F-1BA348F0F6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2635" y="52996"/>
            <a:ext cx="5928607" cy="6805005"/>
            <a:chOff x="6095999" y="52996"/>
            <a:chExt cx="6093363" cy="6805005"/>
          </a:xfrm>
          <a:solidFill>
            <a:schemeClr val="accent5">
              <a:alpha val="10000"/>
            </a:schemeClr>
          </a:solidFill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972EB4B-0539-4430-9340-8117B9D7C3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1" y="52996"/>
              <a:ext cx="6093361" cy="6805003"/>
            </a:xfrm>
            <a:custGeom>
              <a:avLst/>
              <a:gdLst>
                <a:gd name="connsiteX0" fmla="*/ 3391253 w 5890489"/>
                <a:gd name="connsiteY0" fmla="*/ 0 h 6578438"/>
                <a:gd name="connsiteX1" fmla="*/ 3434974 w 5890489"/>
                <a:gd name="connsiteY1" fmla="*/ 646 h 6578438"/>
                <a:gd name="connsiteX2" fmla="*/ 3522419 w 5890489"/>
                <a:gd name="connsiteY2" fmla="*/ 2712 h 6578438"/>
                <a:gd name="connsiteX3" fmla="*/ 3610261 w 5890489"/>
                <a:gd name="connsiteY3" fmla="*/ 6458 h 6578438"/>
                <a:gd name="connsiteX4" fmla="*/ 3786872 w 5890489"/>
                <a:gd name="connsiteY4" fmla="*/ 20667 h 6578438"/>
                <a:gd name="connsiteX5" fmla="*/ 3962291 w 5890489"/>
                <a:gd name="connsiteY5" fmla="*/ 43530 h 6578438"/>
                <a:gd name="connsiteX6" fmla="*/ 4135855 w 5890489"/>
                <a:gd name="connsiteY6" fmla="*/ 75176 h 6578438"/>
                <a:gd name="connsiteX7" fmla="*/ 4307299 w 5890489"/>
                <a:gd name="connsiteY7" fmla="*/ 114315 h 6578438"/>
                <a:gd name="connsiteX8" fmla="*/ 4476358 w 5890489"/>
                <a:gd name="connsiteY8" fmla="*/ 160816 h 6578438"/>
                <a:gd name="connsiteX9" fmla="*/ 4559829 w 5890489"/>
                <a:gd name="connsiteY9" fmla="*/ 186779 h 6578438"/>
                <a:gd name="connsiteX10" fmla="*/ 4642901 w 5890489"/>
                <a:gd name="connsiteY10" fmla="*/ 213648 h 6578438"/>
                <a:gd name="connsiteX11" fmla="*/ 5280847 w 5890489"/>
                <a:gd name="connsiteY11" fmla="*/ 485936 h 6578438"/>
                <a:gd name="connsiteX12" fmla="*/ 5865400 w 5890489"/>
                <a:gd name="connsiteY12" fmla="*/ 851099 h 6578438"/>
                <a:gd name="connsiteX13" fmla="*/ 5890489 w 5890489"/>
                <a:gd name="connsiteY13" fmla="*/ 870950 h 6578438"/>
                <a:gd name="connsiteX14" fmla="*/ 5890489 w 5890489"/>
                <a:gd name="connsiteY14" fmla="*/ 1321814 h 6578438"/>
                <a:gd name="connsiteX15" fmla="*/ 5887395 w 5890489"/>
                <a:gd name="connsiteY15" fmla="*/ 1318952 h 6578438"/>
                <a:gd name="connsiteX16" fmla="*/ 5830291 w 5890489"/>
                <a:gd name="connsiteY16" fmla="*/ 1265992 h 6578438"/>
                <a:gd name="connsiteX17" fmla="*/ 5815981 w 5890489"/>
                <a:gd name="connsiteY17" fmla="*/ 1252687 h 6578438"/>
                <a:gd name="connsiteX18" fmla="*/ 5801142 w 5890489"/>
                <a:gd name="connsiteY18" fmla="*/ 1240158 h 6578438"/>
                <a:gd name="connsiteX19" fmla="*/ 5771464 w 5890489"/>
                <a:gd name="connsiteY19" fmla="*/ 1214969 h 6578438"/>
                <a:gd name="connsiteX20" fmla="*/ 5651030 w 5890489"/>
                <a:gd name="connsiteY20" fmla="*/ 1115767 h 6578438"/>
                <a:gd name="connsiteX21" fmla="*/ 5123183 w 5890489"/>
                <a:gd name="connsiteY21" fmla="*/ 780443 h 6578438"/>
                <a:gd name="connsiteX22" fmla="*/ 4533860 w 5890489"/>
                <a:gd name="connsiteY22" fmla="*/ 567701 h 6578438"/>
                <a:gd name="connsiteX23" fmla="*/ 4457281 w 5890489"/>
                <a:gd name="connsiteY23" fmla="*/ 550780 h 6578438"/>
                <a:gd name="connsiteX24" fmla="*/ 4380568 w 5890489"/>
                <a:gd name="connsiteY24" fmla="*/ 535279 h 6578438"/>
                <a:gd name="connsiteX25" fmla="*/ 4303325 w 5890489"/>
                <a:gd name="connsiteY25" fmla="*/ 522879 h 6578438"/>
                <a:gd name="connsiteX26" fmla="*/ 4264769 w 5890489"/>
                <a:gd name="connsiteY26" fmla="*/ 516679 h 6578438"/>
                <a:gd name="connsiteX27" fmla="*/ 4226082 w 5890489"/>
                <a:gd name="connsiteY27" fmla="*/ 511253 h 6578438"/>
                <a:gd name="connsiteX28" fmla="*/ 4070934 w 5890489"/>
                <a:gd name="connsiteY28" fmla="*/ 494848 h 6578438"/>
                <a:gd name="connsiteX29" fmla="*/ 3915521 w 5890489"/>
                <a:gd name="connsiteY29" fmla="*/ 486065 h 6578438"/>
                <a:gd name="connsiteX30" fmla="*/ 3760241 w 5890489"/>
                <a:gd name="connsiteY30" fmla="*/ 484257 h 6578438"/>
                <a:gd name="connsiteX31" fmla="*/ 3682734 w 5890489"/>
                <a:gd name="connsiteY31" fmla="*/ 486581 h 6578438"/>
                <a:gd name="connsiteX32" fmla="*/ 3605491 w 5890489"/>
                <a:gd name="connsiteY32" fmla="*/ 488907 h 6578438"/>
                <a:gd name="connsiteX33" fmla="*/ 3527454 w 5890489"/>
                <a:gd name="connsiteY33" fmla="*/ 493169 h 6578438"/>
                <a:gd name="connsiteX34" fmla="*/ 3449151 w 5890489"/>
                <a:gd name="connsiteY34" fmla="*/ 498336 h 6578438"/>
                <a:gd name="connsiteX35" fmla="*/ 3410067 w 5890489"/>
                <a:gd name="connsiteY35" fmla="*/ 500532 h 6578438"/>
                <a:gd name="connsiteX36" fmla="*/ 3371246 w 5890489"/>
                <a:gd name="connsiteY36" fmla="*/ 504279 h 6578438"/>
                <a:gd name="connsiteX37" fmla="*/ 3293739 w 5890489"/>
                <a:gd name="connsiteY37" fmla="*/ 511512 h 6578438"/>
                <a:gd name="connsiteX38" fmla="*/ 2689445 w 5890489"/>
                <a:gd name="connsiteY38" fmla="*/ 610198 h 6578438"/>
                <a:gd name="connsiteX39" fmla="*/ 2117875 w 5890489"/>
                <a:gd name="connsiteY39" fmla="*/ 800335 h 6578438"/>
                <a:gd name="connsiteX40" fmla="*/ 1981276 w 5890489"/>
                <a:gd name="connsiteY40" fmla="*/ 865566 h 6578438"/>
                <a:gd name="connsiteX41" fmla="*/ 1847991 w 5890489"/>
                <a:gd name="connsiteY41" fmla="*/ 938676 h 6578438"/>
                <a:gd name="connsiteX42" fmla="*/ 1783069 w 5890489"/>
                <a:gd name="connsiteY42" fmla="*/ 978718 h 6578438"/>
                <a:gd name="connsiteX43" fmla="*/ 1750609 w 5890489"/>
                <a:gd name="connsiteY43" fmla="*/ 998869 h 6578438"/>
                <a:gd name="connsiteX44" fmla="*/ 1734312 w 5890489"/>
                <a:gd name="connsiteY44" fmla="*/ 1008945 h 6578438"/>
                <a:gd name="connsiteX45" fmla="*/ 1718547 w 5890489"/>
                <a:gd name="connsiteY45" fmla="*/ 1019924 h 6578438"/>
                <a:gd name="connsiteX46" fmla="*/ 1655481 w 5890489"/>
                <a:gd name="connsiteY46" fmla="*/ 1063582 h 6578438"/>
                <a:gd name="connsiteX47" fmla="*/ 1593077 w 5890489"/>
                <a:gd name="connsiteY47" fmla="*/ 1108664 h 6578438"/>
                <a:gd name="connsiteX48" fmla="*/ 1532263 w 5890489"/>
                <a:gd name="connsiteY48" fmla="*/ 1156197 h 6578438"/>
                <a:gd name="connsiteX49" fmla="*/ 1472509 w 5890489"/>
                <a:gd name="connsiteY49" fmla="*/ 1205152 h 6578438"/>
                <a:gd name="connsiteX50" fmla="*/ 1414212 w 5890489"/>
                <a:gd name="connsiteY50" fmla="*/ 1256175 h 6578438"/>
                <a:gd name="connsiteX51" fmla="*/ 1357242 w 5890489"/>
                <a:gd name="connsiteY51" fmla="*/ 1308359 h 6578438"/>
                <a:gd name="connsiteX52" fmla="*/ 1153072 w 5890489"/>
                <a:gd name="connsiteY52" fmla="*/ 1529498 h 6578438"/>
                <a:gd name="connsiteX53" fmla="*/ 1002694 w 5890489"/>
                <a:gd name="connsiteY53" fmla="*/ 1770658 h 6578438"/>
                <a:gd name="connsiteX54" fmla="*/ 974076 w 5890489"/>
                <a:gd name="connsiteY54" fmla="*/ 1835371 h 6578438"/>
                <a:gd name="connsiteX55" fmla="*/ 949564 w 5890489"/>
                <a:gd name="connsiteY55" fmla="*/ 1903573 h 6578438"/>
                <a:gd name="connsiteX56" fmla="*/ 927173 w 5890489"/>
                <a:gd name="connsiteY56" fmla="*/ 1974229 h 6578438"/>
                <a:gd name="connsiteX57" fmla="*/ 906107 w 5890489"/>
                <a:gd name="connsiteY57" fmla="*/ 2046952 h 6578438"/>
                <a:gd name="connsiteX58" fmla="*/ 751092 w 5890489"/>
                <a:gd name="connsiteY58" fmla="*/ 2676266 h 6578438"/>
                <a:gd name="connsiteX59" fmla="*/ 547189 w 5890489"/>
                <a:gd name="connsiteY59" fmla="*/ 3308422 h 6578438"/>
                <a:gd name="connsiteX60" fmla="*/ 441195 w 5890489"/>
                <a:gd name="connsiteY60" fmla="*/ 3866306 h 6578438"/>
                <a:gd name="connsiteX61" fmla="*/ 527182 w 5890489"/>
                <a:gd name="connsiteY61" fmla="*/ 4439174 h 6578438"/>
                <a:gd name="connsiteX62" fmla="*/ 775073 w 5890489"/>
                <a:gd name="connsiteY62" fmla="*/ 4987240 h 6578438"/>
                <a:gd name="connsiteX63" fmla="*/ 943206 w 5890489"/>
                <a:gd name="connsiteY63" fmla="*/ 5244933 h 6578438"/>
                <a:gd name="connsiteX64" fmla="*/ 1133728 w 5890489"/>
                <a:gd name="connsiteY64" fmla="*/ 5490356 h 6578438"/>
                <a:gd name="connsiteX65" fmla="*/ 1359626 w 5890489"/>
                <a:gd name="connsiteY65" fmla="*/ 5709815 h 6578438"/>
                <a:gd name="connsiteX66" fmla="*/ 1481254 w 5890489"/>
                <a:gd name="connsiteY66" fmla="*/ 5809146 h 6578438"/>
                <a:gd name="connsiteX67" fmla="*/ 1543260 w 5890489"/>
                <a:gd name="connsiteY67" fmla="*/ 5856940 h 6578438"/>
                <a:gd name="connsiteX68" fmla="*/ 1607518 w 5890489"/>
                <a:gd name="connsiteY68" fmla="*/ 5901374 h 6578438"/>
                <a:gd name="connsiteX69" fmla="*/ 2145566 w 5890489"/>
                <a:gd name="connsiteY69" fmla="*/ 6193814 h 6578438"/>
                <a:gd name="connsiteX70" fmla="*/ 2214991 w 5890489"/>
                <a:gd name="connsiteY70" fmla="*/ 6221844 h 6578438"/>
                <a:gd name="connsiteX71" fmla="*/ 2249307 w 5890489"/>
                <a:gd name="connsiteY71" fmla="*/ 6236182 h 6578438"/>
                <a:gd name="connsiteX72" fmla="*/ 2284285 w 5890489"/>
                <a:gd name="connsiteY72" fmla="*/ 6248711 h 6578438"/>
                <a:gd name="connsiteX73" fmla="*/ 2354241 w 5890489"/>
                <a:gd name="connsiteY73" fmla="*/ 6273124 h 6578438"/>
                <a:gd name="connsiteX74" fmla="*/ 2371597 w 5890489"/>
                <a:gd name="connsiteY74" fmla="*/ 6279324 h 6578438"/>
                <a:gd name="connsiteX75" fmla="*/ 2387894 w 5890489"/>
                <a:gd name="connsiteY75" fmla="*/ 6287719 h 6578438"/>
                <a:gd name="connsiteX76" fmla="*/ 2421414 w 5890489"/>
                <a:gd name="connsiteY76" fmla="*/ 6302186 h 6578438"/>
                <a:gd name="connsiteX77" fmla="*/ 2489117 w 5890489"/>
                <a:gd name="connsiteY77" fmla="*/ 6329441 h 6578438"/>
                <a:gd name="connsiteX78" fmla="*/ 2522902 w 5890489"/>
                <a:gd name="connsiteY78" fmla="*/ 6343134 h 6578438"/>
                <a:gd name="connsiteX79" fmla="*/ 2556953 w 5890489"/>
                <a:gd name="connsiteY79" fmla="*/ 6356051 h 6578438"/>
                <a:gd name="connsiteX80" fmla="*/ 2695009 w 5890489"/>
                <a:gd name="connsiteY80" fmla="*/ 6401905 h 6578438"/>
                <a:gd name="connsiteX81" fmla="*/ 3268035 w 5890489"/>
                <a:gd name="connsiteY81" fmla="*/ 6501238 h 6578438"/>
                <a:gd name="connsiteX82" fmla="*/ 3341038 w 5890489"/>
                <a:gd name="connsiteY82" fmla="*/ 6506145 h 6578438"/>
                <a:gd name="connsiteX83" fmla="*/ 3414703 w 5890489"/>
                <a:gd name="connsiteY83" fmla="*/ 6507050 h 6578438"/>
                <a:gd name="connsiteX84" fmla="*/ 3488237 w 5890489"/>
                <a:gd name="connsiteY84" fmla="*/ 6508212 h 6578438"/>
                <a:gd name="connsiteX85" fmla="*/ 3524142 w 5890489"/>
                <a:gd name="connsiteY85" fmla="*/ 6507955 h 6578438"/>
                <a:gd name="connsiteX86" fmla="*/ 3559252 w 5890489"/>
                <a:gd name="connsiteY86" fmla="*/ 6506921 h 6578438"/>
                <a:gd name="connsiteX87" fmla="*/ 3629207 w 5890489"/>
                <a:gd name="connsiteY87" fmla="*/ 6503045 h 6578438"/>
                <a:gd name="connsiteX88" fmla="*/ 3698633 w 5890489"/>
                <a:gd name="connsiteY88" fmla="*/ 6496845 h 6578438"/>
                <a:gd name="connsiteX89" fmla="*/ 3733213 w 5890489"/>
                <a:gd name="connsiteY89" fmla="*/ 6493357 h 6578438"/>
                <a:gd name="connsiteX90" fmla="*/ 3767529 w 5890489"/>
                <a:gd name="connsiteY90" fmla="*/ 6488707 h 6578438"/>
                <a:gd name="connsiteX91" fmla="*/ 3801845 w 5890489"/>
                <a:gd name="connsiteY91" fmla="*/ 6484057 h 6578438"/>
                <a:gd name="connsiteX92" fmla="*/ 3835895 w 5890489"/>
                <a:gd name="connsiteY92" fmla="*/ 6478116 h 6578438"/>
                <a:gd name="connsiteX93" fmla="*/ 4364801 w 5890489"/>
                <a:gd name="connsiteY93" fmla="*/ 6308517 h 6578438"/>
                <a:gd name="connsiteX94" fmla="*/ 4861379 w 5890489"/>
                <a:gd name="connsiteY94" fmla="*/ 6000576 h 6578438"/>
                <a:gd name="connsiteX95" fmla="*/ 5341263 w 5890489"/>
                <a:gd name="connsiteY95" fmla="*/ 5605834 h 6578438"/>
                <a:gd name="connsiteX96" fmla="*/ 5587301 w 5890489"/>
                <a:gd name="connsiteY96" fmla="*/ 5390379 h 6578438"/>
                <a:gd name="connsiteX97" fmla="*/ 5849105 w 5890489"/>
                <a:gd name="connsiteY97" fmla="*/ 5176344 h 6578438"/>
                <a:gd name="connsiteX98" fmla="*/ 5890489 w 5890489"/>
                <a:gd name="connsiteY98" fmla="*/ 5145260 h 6578438"/>
                <a:gd name="connsiteX99" fmla="*/ 5890489 w 5890489"/>
                <a:gd name="connsiteY99" fmla="*/ 5995323 h 6578438"/>
                <a:gd name="connsiteX100" fmla="*/ 5811477 w 5890489"/>
                <a:gd name="connsiteY100" fmla="*/ 6077819 h 6578438"/>
                <a:gd name="connsiteX101" fmla="*/ 5301384 w 5890489"/>
                <a:gd name="connsiteY101" fmla="*/ 6542958 h 6578438"/>
                <a:gd name="connsiteX102" fmla="*/ 5252008 w 5890489"/>
                <a:gd name="connsiteY102" fmla="*/ 6578438 h 6578438"/>
                <a:gd name="connsiteX103" fmla="*/ 1653730 w 5890489"/>
                <a:gd name="connsiteY103" fmla="*/ 6578438 h 6578438"/>
                <a:gd name="connsiteX104" fmla="*/ 1549768 w 5890489"/>
                <a:gd name="connsiteY104" fmla="*/ 6488821 h 6578438"/>
                <a:gd name="connsiteX105" fmla="*/ 1298282 w 5890489"/>
                <a:gd name="connsiteY105" fmla="*/ 6243932 h 6578438"/>
                <a:gd name="connsiteX106" fmla="*/ 1237999 w 5890489"/>
                <a:gd name="connsiteY106" fmla="*/ 6181671 h 6578438"/>
                <a:gd name="connsiteX107" fmla="*/ 1179967 w 5890489"/>
                <a:gd name="connsiteY107" fmla="*/ 6117862 h 6578438"/>
                <a:gd name="connsiteX108" fmla="*/ 1121936 w 5890489"/>
                <a:gd name="connsiteY108" fmla="*/ 6054569 h 6578438"/>
                <a:gd name="connsiteX109" fmla="*/ 1065628 w 5890489"/>
                <a:gd name="connsiteY109" fmla="*/ 5990243 h 6578438"/>
                <a:gd name="connsiteX110" fmla="*/ 954335 w 5890489"/>
                <a:gd name="connsiteY110" fmla="*/ 5861460 h 6578438"/>
                <a:gd name="connsiteX111" fmla="*/ 898953 w 5890489"/>
                <a:gd name="connsiteY111" fmla="*/ 5797393 h 6578438"/>
                <a:gd name="connsiteX112" fmla="*/ 842908 w 5890489"/>
                <a:gd name="connsiteY112" fmla="*/ 5733582 h 6578438"/>
                <a:gd name="connsiteX113" fmla="*/ 622442 w 5890489"/>
                <a:gd name="connsiteY113" fmla="*/ 5471884 h 6578438"/>
                <a:gd name="connsiteX114" fmla="*/ 425559 w 5890489"/>
                <a:gd name="connsiteY114" fmla="*/ 5190036 h 6578438"/>
                <a:gd name="connsiteX115" fmla="*/ 123877 w 5890489"/>
                <a:gd name="connsiteY115" fmla="*/ 4564210 h 6578438"/>
                <a:gd name="connsiteX116" fmla="*/ 130 w 5890489"/>
                <a:gd name="connsiteY116" fmla="*/ 3865530 h 6578438"/>
                <a:gd name="connsiteX117" fmla="*/ 30602 w 5890489"/>
                <a:gd name="connsiteY117" fmla="*/ 3505793 h 6578438"/>
                <a:gd name="connsiteX118" fmla="*/ 126924 w 5890489"/>
                <a:gd name="connsiteY118" fmla="*/ 3157164 h 6578438"/>
                <a:gd name="connsiteX119" fmla="*/ 334803 w 5890489"/>
                <a:gd name="connsiteY119" fmla="*/ 2560530 h 6578438"/>
                <a:gd name="connsiteX120" fmla="*/ 381176 w 5890489"/>
                <a:gd name="connsiteY120" fmla="*/ 2409144 h 6578438"/>
                <a:gd name="connsiteX121" fmla="*/ 425825 w 5890489"/>
                <a:gd name="connsiteY121" fmla="*/ 2255819 h 6578438"/>
                <a:gd name="connsiteX122" fmla="*/ 470210 w 5890489"/>
                <a:gd name="connsiteY122" fmla="*/ 2099523 h 6578438"/>
                <a:gd name="connsiteX123" fmla="*/ 492998 w 5890489"/>
                <a:gd name="connsiteY123" fmla="*/ 2020213 h 6578438"/>
                <a:gd name="connsiteX124" fmla="*/ 517509 w 5890489"/>
                <a:gd name="connsiteY124" fmla="*/ 1939224 h 6578438"/>
                <a:gd name="connsiteX125" fmla="*/ 544007 w 5890489"/>
                <a:gd name="connsiteY125" fmla="*/ 1857201 h 6578438"/>
                <a:gd name="connsiteX126" fmla="*/ 573288 w 5890489"/>
                <a:gd name="connsiteY126" fmla="*/ 1774274 h 6578438"/>
                <a:gd name="connsiteX127" fmla="*/ 606146 w 5890489"/>
                <a:gd name="connsiteY127" fmla="*/ 1690832 h 6578438"/>
                <a:gd name="connsiteX128" fmla="*/ 644569 w 5890489"/>
                <a:gd name="connsiteY128" fmla="*/ 1607775 h 6578438"/>
                <a:gd name="connsiteX129" fmla="*/ 837874 w 5890489"/>
                <a:gd name="connsiteY129" fmla="*/ 1297638 h 6578438"/>
                <a:gd name="connsiteX130" fmla="*/ 1069602 w 5890489"/>
                <a:gd name="connsiteY130" fmla="*/ 1032194 h 6578438"/>
                <a:gd name="connsiteX131" fmla="*/ 1130548 w 5890489"/>
                <a:gd name="connsiteY131" fmla="*/ 970839 h 6578438"/>
                <a:gd name="connsiteX132" fmla="*/ 1192024 w 5890489"/>
                <a:gd name="connsiteY132" fmla="*/ 910129 h 6578438"/>
                <a:gd name="connsiteX133" fmla="*/ 1255356 w 5890489"/>
                <a:gd name="connsiteY133" fmla="*/ 850841 h 6578438"/>
                <a:gd name="connsiteX134" fmla="*/ 1319614 w 5890489"/>
                <a:gd name="connsiteY134" fmla="*/ 792068 h 6578438"/>
                <a:gd name="connsiteX135" fmla="*/ 1385728 w 5890489"/>
                <a:gd name="connsiteY135" fmla="*/ 734975 h 6578438"/>
                <a:gd name="connsiteX136" fmla="*/ 1452768 w 5890489"/>
                <a:gd name="connsiteY136" fmla="*/ 678528 h 6578438"/>
                <a:gd name="connsiteX137" fmla="*/ 1469594 w 5890489"/>
                <a:gd name="connsiteY137" fmla="*/ 664449 h 6578438"/>
                <a:gd name="connsiteX138" fmla="*/ 1487083 w 5890489"/>
                <a:gd name="connsiteY138" fmla="*/ 651015 h 6578438"/>
                <a:gd name="connsiteX139" fmla="*/ 1522193 w 5890489"/>
                <a:gd name="connsiteY139" fmla="*/ 624277 h 6578438"/>
                <a:gd name="connsiteX140" fmla="*/ 1592415 w 5890489"/>
                <a:gd name="connsiteY140" fmla="*/ 570671 h 6578438"/>
                <a:gd name="connsiteX141" fmla="*/ 1738287 w 5890489"/>
                <a:gd name="connsiteY141" fmla="*/ 469402 h 6578438"/>
                <a:gd name="connsiteX142" fmla="*/ 1890918 w 5890489"/>
                <a:gd name="connsiteY142" fmla="*/ 376530 h 6578438"/>
                <a:gd name="connsiteX143" fmla="*/ 2555363 w 5890489"/>
                <a:gd name="connsiteY143" fmla="*/ 105274 h 6578438"/>
                <a:gd name="connsiteX144" fmla="*/ 3259291 w 5890489"/>
                <a:gd name="connsiteY144" fmla="*/ 3229 h 6578438"/>
                <a:gd name="connsiteX145" fmla="*/ 3347265 w 5890489"/>
                <a:gd name="connsiteY145" fmla="*/ 903 h 6578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</a:cxnLst>
              <a:rect l="l" t="t" r="r" b="b"/>
              <a:pathLst>
                <a:path w="5890489" h="6578438">
                  <a:moveTo>
                    <a:pt x="3391253" y="0"/>
                  </a:moveTo>
                  <a:lnTo>
                    <a:pt x="3434974" y="646"/>
                  </a:lnTo>
                  <a:lnTo>
                    <a:pt x="3522419" y="2712"/>
                  </a:lnTo>
                  <a:cubicBezTo>
                    <a:pt x="3551567" y="3488"/>
                    <a:pt x="3580451" y="3746"/>
                    <a:pt x="3610261" y="6458"/>
                  </a:cubicBezTo>
                  <a:cubicBezTo>
                    <a:pt x="3669353" y="10850"/>
                    <a:pt x="3728179" y="14337"/>
                    <a:pt x="3786872" y="20667"/>
                  </a:cubicBezTo>
                  <a:lnTo>
                    <a:pt x="3962291" y="43530"/>
                  </a:lnTo>
                  <a:lnTo>
                    <a:pt x="4135855" y="75176"/>
                  </a:lnTo>
                  <a:cubicBezTo>
                    <a:pt x="4193224" y="87836"/>
                    <a:pt x="4250328" y="101398"/>
                    <a:pt x="4307299" y="114315"/>
                  </a:cubicBezTo>
                  <a:cubicBezTo>
                    <a:pt x="4364139" y="128394"/>
                    <a:pt x="4420050" y="145575"/>
                    <a:pt x="4476358" y="160816"/>
                  </a:cubicBezTo>
                  <a:cubicBezTo>
                    <a:pt x="4504580" y="167921"/>
                    <a:pt x="4532138" y="177995"/>
                    <a:pt x="4559829" y="186779"/>
                  </a:cubicBezTo>
                  <a:lnTo>
                    <a:pt x="4642901" y="213648"/>
                  </a:lnTo>
                  <a:cubicBezTo>
                    <a:pt x="4863234" y="288307"/>
                    <a:pt x="5076414" y="379371"/>
                    <a:pt x="5280847" y="485936"/>
                  </a:cubicBezTo>
                  <a:cubicBezTo>
                    <a:pt x="5485018" y="592631"/>
                    <a:pt x="5681768" y="713145"/>
                    <a:pt x="5865400" y="851099"/>
                  </a:cubicBezTo>
                  <a:lnTo>
                    <a:pt x="5890489" y="870950"/>
                  </a:lnTo>
                  <a:lnTo>
                    <a:pt x="5890489" y="1321814"/>
                  </a:lnTo>
                  <a:lnTo>
                    <a:pt x="5887395" y="1318952"/>
                  </a:lnTo>
                  <a:lnTo>
                    <a:pt x="5830291" y="1265992"/>
                  </a:lnTo>
                  <a:lnTo>
                    <a:pt x="5815981" y="1252687"/>
                  </a:lnTo>
                  <a:lnTo>
                    <a:pt x="5801142" y="1240158"/>
                  </a:lnTo>
                  <a:lnTo>
                    <a:pt x="5771464" y="1214969"/>
                  </a:lnTo>
                  <a:cubicBezTo>
                    <a:pt x="5731849" y="1181385"/>
                    <a:pt x="5692897" y="1146896"/>
                    <a:pt x="5651030" y="1115767"/>
                  </a:cubicBezTo>
                  <a:cubicBezTo>
                    <a:pt x="5487534" y="986985"/>
                    <a:pt x="5311321" y="872542"/>
                    <a:pt x="5123183" y="780443"/>
                  </a:cubicBezTo>
                  <a:cubicBezTo>
                    <a:pt x="4935309" y="688087"/>
                    <a:pt x="4737102" y="616398"/>
                    <a:pt x="4533860" y="567701"/>
                  </a:cubicBezTo>
                  <a:lnTo>
                    <a:pt x="4457281" y="550780"/>
                  </a:lnTo>
                  <a:cubicBezTo>
                    <a:pt x="4431709" y="545484"/>
                    <a:pt x="4406536" y="538896"/>
                    <a:pt x="4380568" y="535279"/>
                  </a:cubicBezTo>
                  <a:lnTo>
                    <a:pt x="4303325" y="522879"/>
                  </a:lnTo>
                  <a:lnTo>
                    <a:pt x="4264769" y="516679"/>
                  </a:lnTo>
                  <a:cubicBezTo>
                    <a:pt x="4251918" y="514612"/>
                    <a:pt x="4239067" y="512415"/>
                    <a:pt x="4226082" y="511253"/>
                  </a:cubicBezTo>
                  <a:cubicBezTo>
                    <a:pt x="4174145" y="505829"/>
                    <a:pt x="4122606" y="499498"/>
                    <a:pt x="4070934" y="494848"/>
                  </a:cubicBezTo>
                  <a:lnTo>
                    <a:pt x="3915521" y="486065"/>
                  </a:lnTo>
                  <a:lnTo>
                    <a:pt x="3760241" y="484257"/>
                  </a:lnTo>
                  <a:cubicBezTo>
                    <a:pt x="3734405" y="483869"/>
                    <a:pt x="3708571" y="485936"/>
                    <a:pt x="3682734" y="486581"/>
                  </a:cubicBezTo>
                  <a:lnTo>
                    <a:pt x="3605491" y="488907"/>
                  </a:lnTo>
                  <a:cubicBezTo>
                    <a:pt x="3579921" y="489165"/>
                    <a:pt x="3553555" y="491490"/>
                    <a:pt x="3527454" y="493169"/>
                  </a:cubicBezTo>
                  <a:lnTo>
                    <a:pt x="3449151" y="498336"/>
                  </a:lnTo>
                  <a:lnTo>
                    <a:pt x="3410067" y="500532"/>
                  </a:lnTo>
                  <a:lnTo>
                    <a:pt x="3371246" y="504279"/>
                  </a:lnTo>
                  <a:cubicBezTo>
                    <a:pt x="3345410" y="506862"/>
                    <a:pt x="3319575" y="509315"/>
                    <a:pt x="3293739" y="511512"/>
                  </a:cubicBezTo>
                  <a:cubicBezTo>
                    <a:pt x="3087450" y="531662"/>
                    <a:pt x="2885531" y="563180"/>
                    <a:pt x="2689445" y="610198"/>
                  </a:cubicBezTo>
                  <a:cubicBezTo>
                    <a:pt x="2493357" y="657344"/>
                    <a:pt x="2302303" y="719088"/>
                    <a:pt x="2117875" y="800335"/>
                  </a:cubicBezTo>
                  <a:cubicBezTo>
                    <a:pt x="2072298" y="821648"/>
                    <a:pt x="2026854" y="843606"/>
                    <a:pt x="1981276" y="865566"/>
                  </a:cubicBezTo>
                  <a:cubicBezTo>
                    <a:pt x="1937025" y="889978"/>
                    <a:pt x="1891978" y="913229"/>
                    <a:pt x="1847991" y="938676"/>
                  </a:cubicBezTo>
                  <a:lnTo>
                    <a:pt x="1783069" y="978718"/>
                  </a:lnTo>
                  <a:lnTo>
                    <a:pt x="1750609" y="998869"/>
                  </a:lnTo>
                  <a:lnTo>
                    <a:pt x="1734312" y="1008945"/>
                  </a:lnTo>
                  <a:lnTo>
                    <a:pt x="1718547" y="1019924"/>
                  </a:lnTo>
                  <a:lnTo>
                    <a:pt x="1655481" y="1063582"/>
                  </a:lnTo>
                  <a:cubicBezTo>
                    <a:pt x="1634414" y="1078178"/>
                    <a:pt x="1612950" y="1092259"/>
                    <a:pt x="1593077" y="1108664"/>
                  </a:cubicBezTo>
                  <a:lnTo>
                    <a:pt x="1532263" y="1156197"/>
                  </a:lnTo>
                  <a:cubicBezTo>
                    <a:pt x="1511992" y="1172085"/>
                    <a:pt x="1491587" y="1187844"/>
                    <a:pt x="1472509" y="1205152"/>
                  </a:cubicBezTo>
                  <a:lnTo>
                    <a:pt x="1414212" y="1256175"/>
                  </a:lnTo>
                  <a:cubicBezTo>
                    <a:pt x="1395001" y="1273354"/>
                    <a:pt x="1375127" y="1290147"/>
                    <a:pt x="1357242" y="1308359"/>
                  </a:cubicBezTo>
                  <a:cubicBezTo>
                    <a:pt x="1283178" y="1379532"/>
                    <a:pt x="1212163" y="1452513"/>
                    <a:pt x="1153072" y="1529498"/>
                  </a:cubicBezTo>
                  <a:cubicBezTo>
                    <a:pt x="1090933" y="1605578"/>
                    <a:pt x="1043501" y="1685794"/>
                    <a:pt x="1002694" y="1770658"/>
                  </a:cubicBezTo>
                  <a:lnTo>
                    <a:pt x="974076" y="1835371"/>
                  </a:lnTo>
                  <a:lnTo>
                    <a:pt x="949564" y="1903573"/>
                  </a:lnTo>
                  <a:cubicBezTo>
                    <a:pt x="940820" y="1925661"/>
                    <a:pt x="934593" y="1950719"/>
                    <a:pt x="927173" y="1974229"/>
                  </a:cubicBezTo>
                  <a:cubicBezTo>
                    <a:pt x="920019" y="1998254"/>
                    <a:pt x="912468" y="2021504"/>
                    <a:pt x="906107" y="2046952"/>
                  </a:cubicBezTo>
                  <a:cubicBezTo>
                    <a:pt x="853906" y="2245614"/>
                    <a:pt x="809918" y="2463136"/>
                    <a:pt x="751092" y="2676266"/>
                  </a:cubicBezTo>
                  <a:cubicBezTo>
                    <a:pt x="693458" y="2889912"/>
                    <a:pt x="624166" y="3100976"/>
                    <a:pt x="547189" y="3308422"/>
                  </a:cubicBezTo>
                  <a:cubicBezTo>
                    <a:pt x="479617" y="3487580"/>
                    <a:pt x="444109" y="3675523"/>
                    <a:pt x="441195" y="3866306"/>
                  </a:cubicBezTo>
                  <a:cubicBezTo>
                    <a:pt x="438014" y="4057089"/>
                    <a:pt x="469282" y="4250456"/>
                    <a:pt x="527182" y="4439174"/>
                  </a:cubicBezTo>
                  <a:cubicBezTo>
                    <a:pt x="584815" y="4628278"/>
                    <a:pt x="671067" y="4811828"/>
                    <a:pt x="775073" y="4987240"/>
                  </a:cubicBezTo>
                  <a:cubicBezTo>
                    <a:pt x="827009" y="5075075"/>
                    <a:pt x="884246" y="5160327"/>
                    <a:pt x="943206" y="5244933"/>
                  </a:cubicBezTo>
                  <a:cubicBezTo>
                    <a:pt x="1002296" y="5329411"/>
                    <a:pt x="1064964" y="5412337"/>
                    <a:pt x="1133728" y="5490356"/>
                  </a:cubicBezTo>
                  <a:cubicBezTo>
                    <a:pt x="1203949" y="5567728"/>
                    <a:pt x="1279337" y="5642259"/>
                    <a:pt x="1359626" y="5709815"/>
                  </a:cubicBezTo>
                  <a:cubicBezTo>
                    <a:pt x="1398711" y="5744949"/>
                    <a:pt x="1439916" y="5777241"/>
                    <a:pt x="1481254" y="5809146"/>
                  </a:cubicBezTo>
                  <a:cubicBezTo>
                    <a:pt x="1501922" y="5825163"/>
                    <a:pt x="1522325" y="5841309"/>
                    <a:pt x="1543260" y="5856940"/>
                  </a:cubicBezTo>
                  <a:cubicBezTo>
                    <a:pt x="1564591" y="5871923"/>
                    <a:pt x="1585921" y="5886777"/>
                    <a:pt x="1607518" y="5901374"/>
                  </a:cubicBezTo>
                  <a:cubicBezTo>
                    <a:pt x="1778565" y="6019693"/>
                    <a:pt x="1961271" y="6115924"/>
                    <a:pt x="2145566" y="6193814"/>
                  </a:cubicBezTo>
                  <a:lnTo>
                    <a:pt x="2214991" y="6221844"/>
                  </a:lnTo>
                  <a:lnTo>
                    <a:pt x="2249307" y="6236182"/>
                  </a:lnTo>
                  <a:cubicBezTo>
                    <a:pt x="2260702" y="6241089"/>
                    <a:pt x="2272625" y="6244577"/>
                    <a:pt x="2284285" y="6248711"/>
                  </a:cubicBezTo>
                  <a:lnTo>
                    <a:pt x="2354241" y="6273124"/>
                  </a:lnTo>
                  <a:cubicBezTo>
                    <a:pt x="2360070" y="6275190"/>
                    <a:pt x="2365899" y="6277128"/>
                    <a:pt x="2371597" y="6279324"/>
                  </a:cubicBezTo>
                  <a:cubicBezTo>
                    <a:pt x="2377161" y="6281778"/>
                    <a:pt x="2382329" y="6285007"/>
                    <a:pt x="2387894" y="6287719"/>
                  </a:cubicBezTo>
                  <a:cubicBezTo>
                    <a:pt x="2398757" y="6293274"/>
                    <a:pt x="2410153" y="6297666"/>
                    <a:pt x="2421414" y="6302186"/>
                  </a:cubicBezTo>
                  <a:lnTo>
                    <a:pt x="2489117" y="6329441"/>
                  </a:lnTo>
                  <a:lnTo>
                    <a:pt x="2522902" y="6343134"/>
                  </a:lnTo>
                  <a:cubicBezTo>
                    <a:pt x="2534165" y="6347654"/>
                    <a:pt x="2545294" y="6352563"/>
                    <a:pt x="2556953" y="6356051"/>
                  </a:cubicBezTo>
                  <a:lnTo>
                    <a:pt x="2695009" y="6401905"/>
                  </a:lnTo>
                  <a:cubicBezTo>
                    <a:pt x="2880895" y="6457190"/>
                    <a:pt x="3073141" y="6489095"/>
                    <a:pt x="3268035" y="6501238"/>
                  </a:cubicBezTo>
                  <a:cubicBezTo>
                    <a:pt x="3292413" y="6502659"/>
                    <a:pt x="3316527" y="6505629"/>
                    <a:pt x="3341038" y="6506145"/>
                  </a:cubicBezTo>
                  <a:lnTo>
                    <a:pt x="3414703" y="6507050"/>
                  </a:lnTo>
                  <a:lnTo>
                    <a:pt x="3488237" y="6508212"/>
                  </a:lnTo>
                  <a:cubicBezTo>
                    <a:pt x="3500690" y="6508729"/>
                    <a:pt x="3512483" y="6508471"/>
                    <a:pt x="3524142" y="6507955"/>
                  </a:cubicBezTo>
                  <a:lnTo>
                    <a:pt x="3559252" y="6506921"/>
                  </a:lnTo>
                  <a:cubicBezTo>
                    <a:pt x="3582835" y="6506792"/>
                    <a:pt x="3605889" y="6504467"/>
                    <a:pt x="3629207" y="6503045"/>
                  </a:cubicBezTo>
                  <a:cubicBezTo>
                    <a:pt x="3652526" y="6502012"/>
                    <a:pt x="3675579" y="6499171"/>
                    <a:pt x="3698633" y="6496845"/>
                  </a:cubicBezTo>
                  <a:cubicBezTo>
                    <a:pt x="3710160" y="6495683"/>
                    <a:pt x="3721819" y="6494907"/>
                    <a:pt x="3733213" y="6493357"/>
                  </a:cubicBezTo>
                  <a:lnTo>
                    <a:pt x="3767529" y="6488707"/>
                  </a:lnTo>
                  <a:lnTo>
                    <a:pt x="3801845" y="6484057"/>
                  </a:lnTo>
                  <a:lnTo>
                    <a:pt x="3835895" y="6478116"/>
                  </a:lnTo>
                  <a:cubicBezTo>
                    <a:pt x="4017673" y="6446727"/>
                    <a:pt x="4194152" y="6390281"/>
                    <a:pt x="4364801" y="6308517"/>
                  </a:cubicBezTo>
                  <a:cubicBezTo>
                    <a:pt x="4535583" y="6227139"/>
                    <a:pt x="4700138" y="6120962"/>
                    <a:pt x="4861379" y="6000576"/>
                  </a:cubicBezTo>
                  <a:cubicBezTo>
                    <a:pt x="5022621" y="5879931"/>
                    <a:pt x="5180684" y="5745337"/>
                    <a:pt x="5341263" y="5605834"/>
                  </a:cubicBezTo>
                  <a:lnTo>
                    <a:pt x="5587301" y="5390379"/>
                  </a:lnTo>
                  <a:cubicBezTo>
                    <a:pt x="5674216" y="5315718"/>
                    <a:pt x="5761527" y="5244416"/>
                    <a:pt x="5849105" y="5176344"/>
                  </a:cubicBezTo>
                  <a:lnTo>
                    <a:pt x="5890489" y="5145260"/>
                  </a:lnTo>
                  <a:lnTo>
                    <a:pt x="5890489" y="5995323"/>
                  </a:lnTo>
                  <a:lnTo>
                    <a:pt x="5811477" y="6077819"/>
                  </a:lnTo>
                  <a:cubicBezTo>
                    <a:pt x="5654739" y="6238377"/>
                    <a:pt x="5487138" y="6396093"/>
                    <a:pt x="5301384" y="6542958"/>
                  </a:cubicBezTo>
                  <a:lnTo>
                    <a:pt x="5252008" y="6578438"/>
                  </a:lnTo>
                  <a:lnTo>
                    <a:pt x="1653730" y="6578438"/>
                  </a:lnTo>
                  <a:lnTo>
                    <a:pt x="1549768" y="6488821"/>
                  </a:lnTo>
                  <a:cubicBezTo>
                    <a:pt x="1461976" y="6409495"/>
                    <a:pt x="1378573" y="6327182"/>
                    <a:pt x="1298282" y="6243932"/>
                  </a:cubicBezTo>
                  <a:cubicBezTo>
                    <a:pt x="1278277" y="6223006"/>
                    <a:pt x="1258138" y="6202210"/>
                    <a:pt x="1237999" y="6181671"/>
                  </a:cubicBezTo>
                  <a:lnTo>
                    <a:pt x="1179967" y="6117862"/>
                  </a:lnTo>
                  <a:lnTo>
                    <a:pt x="1121936" y="6054569"/>
                  </a:lnTo>
                  <a:cubicBezTo>
                    <a:pt x="1102328" y="6033644"/>
                    <a:pt x="1084573" y="6011427"/>
                    <a:pt x="1065628" y="5990243"/>
                  </a:cubicBezTo>
                  <a:cubicBezTo>
                    <a:pt x="1028662" y="5947099"/>
                    <a:pt x="990239" y="5904991"/>
                    <a:pt x="954335" y="5861460"/>
                  </a:cubicBezTo>
                  <a:cubicBezTo>
                    <a:pt x="936050" y="5840018"/>
                    <a:pt x="917634" y="5818446"/>
                    <a:pt x="898953" y="5797393"/>
                  </a:cubicBezTo>
                  <a:cubicBezTo>
                    <a:pt x="880404" y="5776208"/>
                    <a:pt x="861325" y="5755412"/>
                    <a:pt x="842908" y="5733582"/>
                  </a:cubicBezTo>
                  <a:cubicBezTo>
                    <a:pt x="767919" y="5647942"/>
                    <a:pt x="693061" y="5561786"/>
                    <a:pt x="622442" y="5471884"/>
                  </a:cubicBezTo>
                  <a:cubicBezTo>
                    <a:pt x="551559" y="5382112"/>
                    <a:pt x="486639" y="5287430"/>
                    <a:pt x="425559" y="5190036"/>
                  </a:cubicBezTo>
                  <a:cubicBezTo>
                    <a:pt x="303668" y="4994990"/>
                    <a:pt x="200193" y="4786123"/>
                    <a:pt x="123877" y="4564210"/>
                  </a:cubicBezTo>
                  <a:cubicBezTo>
                    <a:pt x="47694" y="4342555"/>
                    <a:pt x="2249" y="4106045"/>
                    <a:pt x="130" y="3865530"/>
                  </a:cubicBezTo>
                  <a:cubicBezTo>
                    <a:pt x="-1328" y="3745403"/>
                    <a:pt x="9537" y="3624629"/>
                    <a:pt x="30602" y="3505793"/>
                  </a:cubicBezTo>
                  <a:cubicBezTo>
                    <a:pt x="51802" y="3386828"/>
                    <a:pt x="84659" y="3270059"/>
                    <a:pt x="126924" y="3157164"/>
                  </a:cubicBezTo>
                  <a:cubicBezTo>
                    <a:pt x="200457" y="2959276"/>
                    <a:pt x="271737" y="2761388"/>
                    <a:pt x="334803" y="2560530"/>
                  </a:cubicBezTo>
                  <a:lnTo>
                    <a:pt x="381176" y="2409144"/>
                  </a:lnTo>
                  <a:lnTo>
                    <a:pt x="425825" y="2255819"/>
                  </a:lnTo>
                  <a:lnTo>
                    <a:pt x="470210" y="2099523"/>
                  </a:lnTo>
                  <a:lnTo>
                    <a:pt x="492998" y="2020213"/>
                  </a:lnTo>
                  <a:lnTo>
                    <a:pt x="517509" y="1939224"/>
                  </a:lnTo>
                  <a:cubicBezTo>
                    <a:pt x="525061" y="1912485"/>
                    <a:pt x="534866" y="1884586"/>
                    <a:pt x="544007" y="1857201"/>
                  </a:cubicBezTo>
                  <a:cubicBezTo>
                    <a:pt x="553680" y="1829559"/>
                    <a:pt x="561496" y="1802304"/>
                    <a:pt x="573288" y="1774274"/>
                  </a:cubicBezTo>
                  <a:lnTo>
                    <a:pt x="606146" y="1690832"/>
                  </a:lnTo>
                  <a:cubicBezTo>
                    <a:pt x="618467" y="1663060"/>
                    <a:pt x="631716" y="1635417"/>
                    <a:pt x="644569" y="1607775"/>
                  </a:cubicBezTo>
                  <a:cubicBezTo>
                    <a:pt x="698625" y="1498368"/>
                    <a:pt x="763413" y="1391287"/>
                    <a:pt x="837874" y="1297638"/>
                  </a:cubicBezTo>
                  <a:cubicBezTo>
                    <a:pt x="910348" y="1201278"/>
                    <a:pt x="990107" y="1115897"/>
                    <a:pt x="1069602" y="1032194"/>
                  </a:cubicBezTo>
                  <a:cubicBezTo>
                    <a:pt x="1089079" y="1010624"/>
                    <a:pt x="1110012" y="990990"/>
                    <a:pt x="1130548" y="970839"/>
                  </a:cubicBezTo>
                  <a:lnTo>
                    <a:pt x="1192024" y="910129"/>
                  </a:lnTo>
                  <a:cubicBezTo>
                    <a:pt x="1212031" y="889462"/>
                    <a:pt x="1234024" y="870475"/>
                    <a:pt x="1255356" y="850841"/>
                  </a:cubicBezTo>
                  <a:lnTo>
                    <a:pt x="1319614" y="792068"/>
                  </a:lnTo>
                  <a:cubicBezTo>
                    <a:pt x="1340680" y="772176"/>
                    <a:pt x="1363469" y="753834"/>
                    <a:pt x="1385728" y="734975"/>
                  </a:cubicBezTo>
                  <a:lnTo>
                    <a:pt x="1452768" y="678528"/>
                  </a:lnTo>
                  <a:lnTo>
                    <a:pt x="1469594" y="664449"/>
                  </a:lnTo>
                  <a:lnTo>
                    <a:pt x="1487083" y="651015"/>
                  </a:lnTo>
                  <a:lnTo>
                    <a:pt x="1522193" y="624277"/>
                  </a:lnTo>
                  <a:lnTo>
                    <a:pt x="1592415" y="570671"/>
                  </a:lnTo>
                  <a:cubicBezTo>
                    <a:pt x="1640110" y="535925"/>
                    <a:pt x="1689531" y="503245"/>
                    <a:pt x="1738287" y="469402"/>
                  </a:cubicBezTo>
                  <a:cubicBezTo>
                    <a:pt x="1788634" y="438015"/>
                    <a:pt x="1839643" y="407013"/>
                    <a:pt x="1890918" y="376530"/>
                  </a:cubicBezTo>
                  <a:cubicBezTo>
                    <a:pt x="2098400" y="258209"/>
                    <a:pt x="2323503" y="166241"/>
                    <a:pt x="2555363" y="105274"/>
                  </a:cubicBezTo>
                  <a:cubicBezTo>
                    <a:pt x="2787223" y="44047"/>
                    <a:pt x="3024516" y="12013"/>
                    <a:pt x="3259291" y="3229"/>
                  </a:cubicBezTo>
                  <a:lnTo>
                    <a:pt x="3347265" y="903"/>
                  </a:ln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ACA5348F-9FF6-485F-898D-1BED7EC727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5999" y="52997"/>
              <a:ext cx="6093363" cy="6805004"/>
            </a:xfrm>
            <a:custGeom>
              <a:avLst/>
              <a:gdLst>
                <a:gd name="connsiteX0" fmla="*/ 3517682 w 5890491"/>
                <a:gd name="connsiteY0" fmla="*/ 0 h 6578439"/>
                <a:gd name="connsiteX1" fmla="*/ 5849513 w 5890491"/>
                <a:gd name="connsiteY1" fmla="*/ 841730 h 6578439"/>
                <a:gd name="connsiteX2" fmla="*/ 5890491 w 5890491"/>
                <a:gd name="connsiteY2" fmla="*/ 879061 h 6578439"/>
                <a:gd name="connsiteX3" fmla="*/ 5890491 w 5890491"/>
                <a:gd name="connsiteY3" fmla="*/ 2034114 h 6578439"/>
                <a:gd name="connsiteX4" fmla="*/ 5757065 w 5890491"/>
                <a:gd name="connsiteY4" fmla="*/ 1854938 h 6578439"/>
                <a:gd name="connsiteX5" fmla="*/ 5564060 w 5890491"/>
                <a:gd name="connsiteY5" fmla="*/ 1642182 h 6578439"/>
                <a:gd name="connsiteX6" fmla="*/ 3517551 w 5890491"/>
                <a:gd name="connsiteY6" fmla="*/ 790012 h 6578439"/>
                <a:gd name="connsiteX7" fmla="*/ 1611552 w 5890491"/>
                <a:gd name="connsiteY7" fmla="*/ 1543282 h 6578439"/>
                <a:gd name="connsiteX8" fmla="*/ 1340656 w 5890491"/>
                <a:gd name="connsiteY8" fmla="*/ 1897925 h 6578439"/>
                <a:gd name="connsiteX9" fmla="*/ 1201705 w 5890491"/>
                <a:gd name="connsiteY9" fmla="*/ 2361213 h 6578439"/>
                <a:gd name="connsiteX10" fmla="*/ 852705 w 5890491"/>
                <a:gd name="connsiteY10" fmla="*/ 3529176 h 6578439"/>
                <a:gd name="connsiteX11" fmla="*/ 863863 w 5890491"/>
                <a:gd name="connsiteY11" fmla="*/ 4437051 h 6578439"/>
                <a:gd name="connsiteX12" fmla="*/ 1413569 w 5890491"/>
                <a:gd name="connsiteY12" fmla="*/ 5357174 h 6578439"/>
                <a:gd name="connsiteX13" fmla="*/ 2339129 w 5890491"/>
                <a:gd name="connsiteY13" fmla="*/ 6143367 h 6578439"/>
                <a:gd name="connsiteX14" fmla="*/ 3439449 w 5890491"/>
                <a:gd name="connsiteY14" fmla="*/ 6420049 h 6578439"/>
                <a:gd name="connsiteX15" fmla="*/ 5251388 w 5890491"/>
                <a:gd name="connsiteY15" fmla="*/ 5349009 h 6578439"/>
                <a:gd name="connsiteX16" fmla="*/ 5657731 w 5890491"/>
                <a:gd name="connsiteY16" fmla="*/ 4959205 h 6578439"/>
                <a:gd name="connsiteX17" fmla="*/ 5836127 w 5890491"/>
                <a:gd name="connsiteY17" fmla="*/ 4792052 h 6578439"/>
                <a:gd name="connsiteX18" fmla="*/ 5890491 w 5890491"/>
                <a:gd name="connsiteY18" fmla="*/ 4738662 h 6578439"/>
                <a:gd name="connsiteX19" fmla="*/ 5890491 w 5890491"/>
                <a:gd name="connsiteY19" fmla="*/ 5821964 h 6578439"/>
                <a:gd name="connsiteX20" fmla="*/ 5802001 w 5890491"/>
                <a:gd name="connsiteY20" fmla="*/ 5907904 h 6578439"/>
                <a:gd name="connsiteX21" fmla="*/ 5294358 w 5890491"/>
                <a:gd name="connsiteY21" fmla="*/ 6397505 h 6578439"/>
                <a:gd name="connsiteX22" fmla="*/ 5077178 w 5890491"/>
                <a:gd name="connsiteY22" fmla="*/ 6578439 h 6578439"/>
                <a:gd name="connsiteX23" fmla="*/ 1567290 w 5890491"/>
                <a:gd name="connsiteY23" fmla="*/ 6578439 h 6578439"/>
                <a:gd name="connsiteX24" fmla="*/ 1508588 w 5890491"/>
                <a:gd name="connsiteY24" fmla="*/ 6535186 h 6578439"/>
                <a:gd name="connsiteX25" fmla="*/ 826498 w 5890491"/>
                <a:gd name="connsiteY25" fmla="*/ 5876034 h 6578439"/>
                <a:gd name="connsiteX26" fmla="*/ 122403 w 5890491"/>
                <a:gd name="connsiteY26" fmla="*/ 3255655 h 6578439"/>
                <a:gd name="connsiteX27" fmla="*/ 1061197 w 5890491"/>
                <a:gd name="connsiteY27" fmla="*/ 984650 h 6578439"/>
                <a:gd name="connsiteX28" fmla="*/ 3517682 w 5890491"/>
                <a:gd name="connsiteY28" fmla="*/ 0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890491" h="6578439">
                  <a:moveTo>
                    <a:pt x="3517682" y="0"/>
                  </a:moveTo>
                  <a:cubicBezTo>
                    <a:pt x="4402017" y="0"/>
                    <a:pt x="5213742" y="315483"/>
                    <a:pt x="5849513" y="841730"/>
                  </a:cubicBezTo>
                  <a:lnTo>
                    <a:pt x="5890491" y="879061"/>
                  </a:lnTo>
                  <a:lnTo>
                    <a:pt x="5890491" y="2034114"/>
                  </a:lnTo>
                  <a:lnTo>
                    <a:pt x="5757065" y="1854938"/>
                  </a:lnTo>
                  <a:cubicBezTo>
                    <a:pt x="5696443" y="1781264"/>
                    <a:pt x="5632076" y="1710299"/>
                    <a:pt x="5564060" y="1642182"/>
                  </a:cubicBezTo>
                  <a:cubicBezTo>
                    <a:pt x="5015393" y="1092636"/>
                    <a:pt x="4288592" y="790012"/>
                    <a:pt x="3517551" y="790012"/>
                  </a:cubicBezTo>
                  <a:cubicBezTo>
                    <a:pt x="2701750" y="790012"/>
                    <a:pt x="2131676" y="1015335"/>
                    <a:pt x="1611552" y="1543282"/>
                  </a:cubicBezTo>
                  <a:cubicBezTo>
                    <a:pt x="1435754" y="1721722"/>
                    <a:pt x="1375945" y="1822729"/>
                    <a:pt x="1340656" y="1897925"/>
                  </a:cubicBezTo>
                  <a:cubicBezTo>
                    <a:pt x="1289148" y="2007623"/>
                    <a:pt x="1252432" y="2155907"/>
                    <a:pt x="1201705" y="2361213"/>
                  </a:cubicBezTo>
                  <a:cubicBezTo>
                    <a:pt x="1133721" y="2635919"/>
                    <a:pt x="1040568" y="3012290"/>
                    <a:pt x="852705" y="3529176"/>
                  </a:cubicBezTo>
                  <a:cubicBezTo>
                    <a:pt x="749952" y="3811784"/>
                    <a:pt x="753584" y="4108747"/>
                    <a:pt x="863863" y="4437051"/>
                  </a:cubicBezTo>
                  <a:cubicBezTo>
                    <a:pt x="964800" y="4737438"/>
                    <a:pt x="1154869" y="5055603"/>
                    <a:pt x="1413569" y="5357174"/>
                  </a:cubicBezTo>
                  <a:cubicBezTo>
                    <a:pt x="1718326" y="5712343"/>
                    <a:pt x="2021008" y="5969404"/>
                    <a:pt x="2339129" y="6143367"/>
                  </a:cubicBezTo>
                  <a:cubicBezTo>
                    <a:pt x="2679565" y="6329577"/>
                    <a:pt x="3039591" y="6420049"/>
                    <a:pt x="3439449" y="6420049"/>
                  </a:cubicBezTo>
                  <a:cubicBezTo>
                    <a:pt x="4142246" y="6420049"/>
                    <a:pt x="4633828" y="5976251"/>
                    <a:pt x="5251388" y="5349009"/>
                  </a:cubicBezTo>
                  <a:cubicBezTo>
                    <a:pt x="5389949" y="5208364"/>
                    <a:pt x="5526047" y="5081677"/>
                    <a:pt x="5657731" y="4959205"/>
                  </a:cubicBezTo>
                  <a:cubicBezTo>
                    <a:pt x="5719520" y="4901722"/>
                    <a:pt x="5779200" y="4846206"/>
                    <a:pt x="5836127" y="4792052"/>
                  </a:cubicBezTo>
                  <a:lnTo>
                    <a:pt x="5890491" y="4738662"/>
                  </a:lnTo>
                  <a:lnTo>
                    <a:pt x="5890491" y="5821964"/>
                  </a:lnTo>
                  <a:lnTo>
                    <a:pt x="5802001" y="5907904"/>
                  </a:lnTo>
                  <a:cubicBezTo>
                    <a:pt x="5634962" y="6077456"/>
                    <a:pt x="5467509" y="6243625"/>
                    <a:pt x="5294358" y="6397505"/>
                  </a:cubicBezTo>
                  <a:lnTo>
                    <a:pt x="5077178" y="6578439"/>
                  </a:lnTo>
                  <a:lnTo>
                    <a:pt x="1567290" y="6578439"/>
                  </a:lnTo>
                  <a:lnTo>
                    <a:pt x="1508588" y="6535186"/>
                  </a:lnTo>
                  <a:cubicBezTo>
                    <a:pt x="1263991" y="6345442"/>
                    <a:pt x="1038054" y="6122666"/>
                    <a:pt x="826498" y="5876034"/>
                  </a:cubicBezTo>
                  <a:cubicBezTo>
                    <a:pt x="261613" y="5217713"/>
                    <a:pt x="-239182" y="4250314"/>
                    <a:pt x="122403" y="3255655"/>
                  </a:cubicBezTo>
                  <a:cubicBezTo>
                    <a:pt x="607497" y="1921629"/>
                    <a:pt x="393040" y="1662857"/>
                    <a:pt x="1061197" y="984650"/>
                  </a:cubicBezTo>
                  <a:cubicBezTo>
                    <a:pt x="1729484" y="306444"/>
                    <a:pt x="2498060" y="0"/>
                    <a:pt x="351768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33B89F41-1D91-447A-88C5-8A917809FE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0" y="52997"/>
              <a:ext cx="6093362" cy="6805004"/>
            </a:xfrm>
            <a:custGeom>
              <a:avLst/>
              <a:gdLst>
                <a:gd name="connsiteX0" fmla="*/ 5890490 w 5890490"/>
                <a:gd name="connsiteY0" fmla="*/ 5389037 h 6578439"/>
                <a:gd name="connsiteX1" fmla="*/ 5890490 w 5890490"/>
                <a:gd name="connsiteY1" fmla="*/ 5855587 h 6578439"/>
                <a:gd name="connsiteX2" fmla="*/ 5784593 w 5890490"/>
                <a:gd name="connsiteY2" fmla="*/ 5962054 h 6578439"/>
                <a:gd name="connsiteX3" fmla="*/ 5663414 w 5890490"/>
                <a:gd name="connsiteY3" fmla="*/ 6082564 h 6578439"/>
                <a:gd name="connsiteX4" fmla="*/ 5147099 w 5890490"/>
                <a:gd name="connsiteY4" fmla="*/ 6547726 h 6578439"/>
                <a:gd name="connsiteX5" fmla="*/ 5105015 w 5890490"/>
                <a:gd name="connsiteY5" fmla="*/ 6578439 h 6578439"/>
                <a:gd name="connsiteX6" fmla="*/ 4385601 w 5890490"/>
                <a:gd name="connsiteY6" fmla="*/ 6578439 h 6578439"/>
                <a:gd name="connsiteX7" fmla="*/ 4507252 w 5890490"/>
                <a:gd name="connsiteY7" fmla="*/ 6515968 h 6578439"/>
                <a:gd name="connsiteX8" fmla="*/ 4909330 w 5890490"/>
                <a:gd name="connsiteY8" fmla="*/ 6253453 h 6578439"/>
                <a:gd name="connsiteX9" fmla="*/ 5411374 w 5890490"/>
                <a:gd name="connsiteY9" fmla="*/ 5828544 h 6578439"/>
                <a:gd name="connsiteX10" fmla="*/ 5533570 w 5890490"/>
                <a:gd name="connsiteY10" fmla="*/ 5714534 h 6578439"/>
                <a:gd name="connsiteX11" fmla="*/ 5657425 w 5890490"/>
                <a:gd name="connsiteY11" fmla="*/ 5597650 h 6578439"/>
                <a:gd name="connsiteX12" fmla="*/ 3336813 w 5890490"/>
                <a:gd name="connsiteY12" fmla="*/ 499 h 6578439"/>
                <a:gd name="connsiteX13" fmla="*/ 3513674 w 5890490"/>
                <a:gd name="connsiteY13" fmla="*/ 1202 h 6578439"/>
                <a:gd name="connsiteX14" fmla="*/ 3602743 w 5890490"/>
                <a:gd name="connsiteY14" fmla="*/ 4827 h 6578439"/>
                <a:gd name="connsiteX15" fmla="*/ 3647213 w 5890490"/>
                <a:gd name="connsiteY15" fmla="*/ 6703 h 6578439"/>
                <a:gd name="connsiteX16" fmla="*/ 3691684 w 5890490"/>
                <a:gd name="connsiteY16" fmla="*/ 9453 h 6578439"/>
                <a:gd name="connsiteX17" fmla="*/ 3868927 w 5890490"/>
                <a:gd name="connsiteY17" fmla="*/ 27080 h 6578439"/>
                <a:gd name="connsiteX18" fmla="*/ 5200872 w 5890490"/>
                <a:gd name="connsiteY18" fmla="*/ 472240 h 6578439"/>
                <a:gd name="connsiteX19" fmla="*/ 5772711 w 5890490"/>
                <a:gd name="connsiteY19" fmla="*/ 866334 h 6578439"/>
                <a:gd name="connsiteX20" fmla="*/ 5890490 w 5890490"/>
                <a:gd name="connsiteY20" fmla="*/ 972426 h 6578439"/>
                <a:gd name="connsiteX21" fmla="*/ 5890490 w 5890490"/>
                <a:gd name="connsiteY21" fmla="*/ 1158576 h 6578439"/>
                <a:gd name="connsiteX22" fmla="*/ 5676045 w 5890490"/>
                <a:gd name="connsiteY22" fmla="*/ 986969 h 6578439"/>
                <a:gd name="connsiteX23" fmla="*/ 5103776 w 5890490"/>
                <a:gd name="connsiteY23" fmla="*/ 655879 h 6578439"/>
                <a:gd name="connsiteX24" fmla="*/ 4482465 w 5890490"/>
                <a:gd name="connsiteY24" fmla="*/ 440363 h 6578439"/>
                <a:gd name="connsiteX25" fmla="*/ 4402444 w 5890490"/>
                <a:gd name="connsiteY25" fmla="*/ 422111 h 6578439"/>
                <a:gd name="connsiteX26" fmla="*/ 4322423 w 5890490"/>
                <a:gd name="connsiteY26" fmla="*/ 404610 h 6578439"/>
                <a:gd name="connsiteX27" fmla="*/ 4241892 w 5890490"/>
                <a:gd name="connsiteY27" fmla="*/ 389858 h 6578439"/>
                <a:gd name="connsiteX28" fmla="*/ 4201627 w 5890490"/>
                <a:gd name="connsiteY28" fmla="*/ 382483 h 6578439"/>
                <a:gd name="connsiteX29" fmla="*/ 4161234 w 5890490"/>
                <a:gd name="connsiteY29" fmla="*/ 375857 h 6578439"/>
                <a:gd name="connsiteX30" fmla="*/ 3999280 w 5890490"/>
                <a:gd name="connsiteY30" fmla="*/ 353606 h 6578439"/>
                <a:gd name="connsiteX31" fmla="*/ 3836817 w 5890490"/>
                <a:gd name="connsiteY31" fmla="*/ 338480 h 6578439"/>
                <a:gd name="connsiteX32" fmla="*/ 3673972 w 5890490"/>
                <a:gd name="connsiteY32" fmla="*/ 330604 h 6578439"/>
                <a:gd name="connsiteX33" fmla="*/ 3511126 w 5890490"/>
                <a:gd name="connsiteY33" fmla="*/ 328978 h 6578439"/>
                <a:gd name="connsiteX34" fmla="*/ 3183142 w 5890490"/>
                <a:gd name="connsiteY34" fmla="*/ 342854 h 6578439"/>
                <a:gd name="connsiteX35" fmla="*/ 2541444 w 5890490"/>
                <a:gd name="connsiteY35" fmla="*/ 439988 h 6578439"/>
                <a:gd name="connsiteX36" fmla="*/ 1933895 w 5890490"/>
                <a:gd name="connsiteY36" fmla="*/ 650505 h 6578439"/>
                <a:gd name="connsiteX37" fmla="*/ 1378079 w 5890490"/>
                <a:gd name="connsiteY37" fmla="*/ 983905 h 6578439"/>
                <a:gd name="connsiteX38" fmla="*/ 1312967 w 5890490"/>
                <a:gd name="connsiteY38" fmla="*/ 1033660 h 6578439"/>
                <a:gd name="connsiteX39" fmla="*/ 1248364 w 5890490"/>
                <a:gd name="connsiteY39" fmla="*/ 1084413 h 6578439"/>
                <a:gd name="connsiteX40" fmla="*/ 1185163 w 5890490"/>
                <a:gd name="connsiteY40" fmla="*/ 1137168 h 6578439"/>
                <a:gd name="connsiteX41" fmla="*/ 1122852 w 5890490"/>
                <a:gd name="connsiteY41" fmla="*/ 1190922 h 6578439"/>
                <a:gd name="connsiteX42" fmla="*/ 892092 w 5890490"/>
                <a:gd name="connsiteY42" fmla="*/ 1421440 h 6578439"/>
                <a:gd name="connsiteX43" fmla="*/ 707202 w 5890490"/>
                <a:gd name="connsiteY43" fmla="*/ 1684212 h 6578439"/>
                <a:gd name="connsiteX44" fmla="*/ 670121 w 5890490"/>
                <a:gd name="connsiteY44" fmla="*/ 1756093 h 6578439"/>
                <a:gd name="connsiteX45" fmla="*/ 637630 w 5890490"/>
                <a:gd name="connsiteY45" fmla="*/ 1830724 h 6578439"/>
                <a:gd name="connsiteX46" fmla="*/ 607685 w 5890490"/>
                <a:gd name="connsiteY46" fmla="*/ 1907105 h 6578439"/>
                <a:gd name="connsiteX47" fmla="*/ 580034 w 5890490"/>
                <a:gd name="connsiteY47" fmla="*/ 1984986 h 6578439"/>
                <a:gd name="connsiteX48" fmla="*/ 481919 w 5890490"/>
                <a:gd name="connsiteY48" fmla="*/ 2304386 h 6578439"/>
                <a:gd name="connsiteX49" fmla="*/ 433881 w 5890490"/>
                <a:gd name="connsiteY49" fmla="*/ 2465399 h 6578439"/>
                <a:gd name="connsiteX50" fmla="*/ 384442 w 5890490"/>
                <a:gd name="connsiteY50" fmla="*/ 2626163 h 6578439"/>
                <a:gd name="connsiteX51" fmla="*/ 166039 w 5890490"/>
                <a:gd name="connsiteY51" fmla="*/ 3261338 h 6578439"/>
                <a:gd name="connsiteX52" fmla="*/ 56202 w 5890490"/>
                <a:gd name="connsiteY52" fmla="*/ 3910265 h 6578439"/>
                <a:gd name="connsiteX53" fmla="*/ 93664 w 5890490"/>
                <a:gd name="connsiteY53" fmla="*/ 4237292 h 6578439"/>
                <a:gd name="connsiteX54" fmla="*/ 111758 w 5890490"/>
                <a:gd name="connsiteY54" fmla="*/ 4317548 h 6578439"/>
                <a:gd name="connsiteX55" fmla="*/ 133038 w 5890490"/>
                <a:gd name="connsiteY55" fmla="*/ 4397054 h 6578439"/>
                <a:gd name="connsiteX56" fmla="*/ 157757 w 5890490"/>
                <a:gd name="connsiteY56" fmla="*/ 4475560 h 6578439"/>
                <a:gd name="connsiteX57" fmla="*/ 185153 w 5890490"/>
                <a:gd name="connsiteY57" fmla="*/ 4553066 h 6578439"/>
                <a:gd name="connsiteX58" fmla="*/ 493642 w 5890490"/>
                <a:gd name="connsiteY58" fmla="*/ 5132239 h 6578439"/>
                <a:gd name="connsiteX59" fmla="*/ 914391 w 5890490"/>
                <a:gd name="connsiteY59" fmla="*/ 5636528 h 6578439"/>
                <a:gd name="connsiteX60" fmla="*/ 1402034 w 5890490"/>
                <a:gd name="connsiteY60" fmla="*/ 6076188 h 6578439"/>
                <a:gd name="connsiteX61" fmla="*/ 1664397 w 5890490"/>
                <a:gd name="connsiteY61" fmla="*/ 6267079 h 6578439"/>
                <a:gd name="connsiteX62" fmla="*/ 1938992 w 5890490"/>
                <a:gd name="connsiteY62" fmla="*/ 6434343 h 6578439"/>
                <a:gd name="connsiteX63" fmla="*/ 2225931 w 5890490"/>
                <a:gd name="connsiteY63" fmla="*/ 6574322 h 6578439"/>
                <a:gd name="connsiteX64" fmla="*/ 2236328 w 5890490"/>
                <a:gd name="connsiteY64" fmla="*/ 6578439 h 6578439"/>
                <a:gd name="connsiteX65" fmla="*/ 1504665 w 5890490"/>
                <a:gd name="connsiteY65" fmla="*/ 6578439 h 6578439"/>
                <a:gd name="connsiteX66" fmla="*/ 1456827 w 5890490"/>
                <a:gd name="connsiteY66" fmla="*/ 6543476 h 6578439"/>
                <a:gd name="connsiteX67" fmla="*/ 1188475 w 5890490"/>
                <a:gd name="connsiteY67" fmla="*/ 6314083 h 6578439"/>
                <a:gd name="connsiteX68" fmla="*/ 721728 w 5890490"/>
                <a:gd name="connsiteY68" fmla="*/ 5798666 h 6578439"/>
                <a:gd name="connsiteX69" fmla="*/ 344175 w 5890490"/>
                <a:gd name="connsiteY69" fmla="*/ 5219495 h 6578439"/>
                <a:gd name="connsiteX70" fmla="*/ 87293 w 5890490"/>
                <a:gd name="connsiteY70" fmla="*/ 4583569 h 6578439"/>
                <a:gd name="connsiteX71" fmla="*/ 65886 w 5890490"/>
                <a:gd name="connsiteY71" fmla="*/ 4500813 h 6578439"/>
                <a:gd name="connsiteX72" fmla="*/ 47409 w 5890490"/>
                <a:gd name="connsiteY72" fmla="*/ 4417431 h 6578439"/>
                <a:gd name="connsiteX73" fmla="*/ 39000 w 5890490"/>
                <a:gd name="connsiteY73" fmla="*/ 4375677 h 6578439"/>
                <a:gd name="connsiteX74" fmla="*/ 31610 w 5890490"/>
                <a:gd name="connsiteY74" fmla="*/ 4333674 h 6578439"/>
                <a:gd name="connsiteX75" fmla="*/ 18868 w 5890490"/>
                <a:gd name="connsiteY75" fmla="*/ 4249417 h 6578439"/>
                <a:gd name="connsiteX76" fmla="*/ 646 w 5890490"/>
                <a:gd name="connsiteY76" fmla="*/ 3910265 h 6578439"/>
                <a:gd name="connsiteX77" fmla="*/ 130234 w 5890490"/>
                <a:gd name="connsiteY77" fmla="*/ 3248337 h 6578439"/>
                <a:gd name="connsiteX78" fmla="*/ 335383 w 5890490"/>
                <a:gd name="connsiteY78" fmla="*/ 2611911 h 6578439"/>
                <a:gd name="connsiteX79" fmla="*/ 487272 w 5890490"/>
                <a:gd name="connsiteY79" fmla="*/ 1958609 h 6578439"/>
                <a:gd name="connsiteX80" fmla="*/ 508550 w 5890490"/>
                <a:gd name="connsiteY80" fmla="*/ 1876227 h 6578439"/>
                <a:gd name="connsiteX81" fmla="*/ 531742 w 5890490"/>
                <a:gd name="connsiteY81" fmla="*/ 1793721 h 6578439"/>
                <a:gd name="connsiteX82" fmla="*/ 558245 w 5890490"/>
                <a:gd name="connsiteY82" fmla="*/ 1711465 h 6578439"/>
                <a:gd name="connsiteX83" fmla="*/ 590100 w 5890490"/>
                <a:gd name="connsiteY83" fmla="*/ 1630332 h 6578439"/>
                <a:gd name="connsiteX84" fmla="*/ 758680 w 5890490"/>
                <a:gd name="connsiteY84" fmla="*/ 1322433 h 6578439"/>
                <a:gd name="connsiteX85" fmla="*/ 976317 w 5890490"/>
                <a:gd name="connsiteY85" fmla="*/ 1049286 h 6578439"/>
                <a:gd name="connsiteX86" fmla="*/ 1035314 w 5890490"/>
                <a:gd name="connsiteY86" fmla="*/ 985406 h 6578439"/>
                <a:gd name="connsiteX87" fmla="*/ 1095329 w 5890490"/>
                <a:gd name="connsiteY87" fmla="*/ 922526 h 6578439"/>
                <a:gd name="connsiteX88" fmla="*/ 1157384 w 5890490"/>
                <a:gd name="connsiteY88" fmla="*/ 861271 h 6578439"/>
                <a:gd name="connsiteX89" fmla="*/ 1220841 w 5890490"/>
                <a:gd name="connsiteY89" fmla="*/ 801017 h 6578439"/>
                <a:gd name="connsiteX90" fmla="*/ 1286462 w 5890490"/>
                <a:gd name="connsiteY90" fmla="*/ 742886 h 6578439"/>
                <a:gd name="connsiteX91" fmla="*/ 1353233 w 5890490"/>
                <a:gd name="connsiteY91" fmla="*/ 685632 h 6578439"/>
                <a:gd name="connsiteX92" fmla="*/ 1369924 w 5890490"/>
                <a:gd name="connsiteY92" fmla="*/ 671256 h 6578439"/>
                <a:gd name="connsiteX93" fmla="*/ 1387380 w 5890490"/>
                <a:gd name="connsiteY93" fmla="*/ 657755 h 6578439"/>
                <a:gd name="connsiteX94" fmla="*/ 1422422 w 5890490"/>
                <a:gd name="connsiteY94" fmla="*/ 630877 h 6578439"/>
                <a:gd name="connsiteX95" fmla="*/ 1492759 w 5890490"/>
                <a:gd name="connsiteY95" fmla="*/ 577248 h 6578439"/>
                <a:gd name="connsiteX96" fmla="*/ 1528820 w 5890490"/>
                <a:gd name="connsiteY96" fmla="*/ 551496 h 6578439"/>
                <a:gd name="connsiteX97" fmla="*/ 1565390 w 5890490"/>
                <a:gd name="connsiteY97" fmla="*/ 526370 h 6578439"/>
                <a:gd name="connsiteX98" fmla="*/ 1639040 w 5890490"/>
                <a:gd name="connsiteY98" fmla="*/ 476490 h 6578439"/>
                <a:gd name="connsiteX99" fmla="*/ 1792075 w 5890490"/>
                <a:gd name="connsiteY99" fmla="*/ 384859 h 6578439"/>
                <a:gd name="connsiteX100" fmla="*/ 2455943 w 5890490"/>
                <a:gd name="connsiteY100" fmla="*/ 117836 h 6578439"/>
                <a:gd name="connsiteX101" fmla="*/ 3159952 w 5890490"/>
                <a:gd name="connsiteY101" fmla="*/ 7203 h 6578439"/>
                <a:gd name="connsiteX102" fmla="*/ 3336813 w 5890490"/>
                <a:gd name="connsiteY102" fmla="*/ 499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5890490" h="6578439">
                  <a:moveTo>
                    <a:pt x="5890490" y="5389037"/>
                  </a:moveTo>
                  <a:lnTo>
                    <a:pt x="5890490" y="5855587"/>
                  </a:lnTo>
                  <a:lnTo>
                    <a:pt x="5784593" y="5962054"/>
                  </a:lnTo>
                  <a:cubicBezTo>
                    <a:pt x="5744454" y="6002308"/>
                    <a:pt x="5704062" y="6042436"/>
                    <a:pt x="5663414" y="6082564"/>
                  </a:cubicBezTo>
                  <a:cubicBezTo>
                    <a:pt x="5500314" y="6242577"/>
                    <a:pt x="5330970" y="6400714"/>
                    <a:pt x="5147099" y="6547726"/>
                  </a:cubicBezTo>
                  <a:lnTo>
                    <a:pt x="5105015" y="6578439"/>
                  </a:lnTo>
                  <a:lnTo>
                    <a:pt x="4385601" y="6578439"/>
                  </a:lnTo>
                  <a:lnTo>
                    <a:pt x="4507252" y="6515968"/>
                  </a:lnTo>
                  <a:cubicBezTo>
                    <a:pt x="4645901" y="6439679"/>
                    <a:pt x="4779837" y="6350961"/>
                    <a:pt x="4909330" y="6253453"/>
                  </a:cubicBezTo>
                  <a:cubicBezTo>
                    <a:pt x="5082369" y="6123567"/>
                    <a:pt x="5248145" y="5979180"/>
                    <a:pt x="5411374" y="5828544"/>
                  </a:cubicBezTo>
                  <a:cubicBezTo>
                    <a:pt x="5452149" y="5790791"/>
                    <a:pt x="5492924" y="5752788"/>
                    <a:pt x="5533570" y="5714534"/>
                  </a:cubicBezTo>
                  <a:lnTo>
                    <a:pt x="5657425" y="5597650"/>
                  </a:lnTo>
                  <a:close/>
                  <a:moveTo>
                    <a:pt x="3336813" y="499"/>
                  </a:moveTo>
                  <a:cubicBezTo>
                    <a:pt x="3395682" y="-392"/>
                    <a:pt x="3454550" y="-48"/>
                    <a:pt x="3513674" y="1202"/>
                  </a:cubicBezTo>
                  <a:lnTo>
                    <a:pt x="3602743" y="4827"/>
                  </a:lnTo>
                  <a:lnTo>
                    <a:pt x="3647213" y="6703"/>
                  </a:lnTo>
                  <a:cubicBezTo>
                    <a:pt x="3661994" y="7327"/>
                    <a:pt x="3676903" y="7703"/>
                    <a:pt x="3691684" y="9453"/>
                  </a:cubicBezTo>
                  <a:lnTo>
                    <a:pt x="3868927" y="27080"/>
                  </a:lnTo>
                  <a:cubicBezTo>
                    <a:pt x="4340645" y="85584"/>
                    <a:pt x="4795160" y="243221"/>
                    <a:pt x="5200872" y="472240"/>
                  </a:cubicBezTo>
                  <a:cubicBezTo>
                    <a:pt x="5403855" y="587124"/>
                    <a:pt x="5594988" y="719447"/>
                    <a:pt x="5772711" y="866334"/>
                  </a:cubicBezTo>
                  <a:lnTo>
                    <a:pt x="5890490" y="972426"/>
                  </a:lnTo>
                  <a:lnTo>
                    <a:pt x="5890490" y="1158576"/>
                  </a:lnTo>
                  <a:lnTo>
                    <a:pt x="5676045" y="986969"/>
                  </a:lnTo>
                  <a:cubicBezTo>
                    <a:pt x="5496587" y="857740"/>
                    <a:pt x="5304275" y="746699"/>
                    <a:pt x="5103776" y="655879"/>
                  </a:cubicBezTo>
                  <a:cubicBezTo>
                    <a:pt x="4903214" y="564747"/>
                    <a:pt x="4695006" y="492492"/>
                    <a:pt x="4482465" y="440363"/>
                  </a:cubicBezTo>
                  <a:lnTo>
                    <a:pt x="4402444" y="422111"/>
                  </a:lnTo>
                  <a:cubicBezTo>
                    <a:pt x="4375813" y="416111"/>
                    <a:pt x="4349436" y="408859"/>
                    <a:pt x="4322423" y="404610"/>
                  </a:cubicBezTo>
                  <a:lnTo>
                    <a:pt x="4241892" y="389858"/>
                  </a:lnTo>
                  <a:lnTo>
                    <a:pt x="4201627" y="382483"/>
                  </a:lnTo>
                  <a:cubicBezTo>
                    <a:pt x="4188248" y="379983"/>
                    <a:pt x="4174869" y="377483"/>
                    <a:pt x="4161234" y="375857"/>
                  </a:cubicBezTo>
                  <a:cubicBezTo>
                    <a:pt x="4107208" y="368482"/>
                    <a:pt x="4053308" y="360482"/>
                    <a:pt x="3999280" y="353606"/>
                  </a:cubicBezTo>
                  <a:cubicBezTo>
                    <a:pt x="3944999" y="348855"/>
                    <a:pt x="3890844" y="343854"/>
                    <a:pt x="3836817" y="338480"/>
                  </a:cubicBezTo>
                  <a:lnTo>
                    <a:pt x="3673972" y="330604"/>
                  </a:lnTo>
                  <a:cubicBezTo>
                    <a:pt x="3619690" y="329104"/>
                    <a:pt x="3565281" y="329604"/>
                    <a:pt x="3511126" y="328978"/>
                  </a:cubicBezTo>
                  <a:cubicBezTo>
                    <a:pt x="3402054" y="330728"/>
                    <a:pt x="3291706" y="334604"/>
                    <a:pt x="3183142" y="342854"/>
                  </a:cubicBezTo>
                  <a:cubicBezTo>
                    <a:pt x="2965505" y="358855"/>
                    <a:pt x="2750670" y="389733"/>
                    <a:pt x="2541444" y="439988"/>
                  </a:cubicBezTo>
                  <a:cubicBezTo>
                    <a:pt x="2332216" y="490117"/>
                    <a:pt x="2128850" y="559997"/>
                    <a:pt x="1933895" y="650505"/>
                  </a:cubicBezTo>
                  <a:cubicBezTo>
                    <a:pt x="1738939" y="741261"/>
                    <a:pt x="1553540" y="854146"/>
                    <a:pt x="1378079" y="983905"/>
                  </a:cubicBezTo>
                  <a:lnTo>
                    <a:pt x="1312967" y="1033660"/>
                  </a:lnTo>
                  <a:cubicBezTo>
                    <a:pt x="1291178" y="1050286"/>
                    <a:pt x="1269006" y="1066412"/>
                    <a:pt x="1248364" y="1084413"/>
                  </a:cubicBezTo>
                  <a:lnTo>
                    <a:pt x="1185163" y="1137168"/>
                  </a:lnTo>
                  <a:cubicBezTo>
                    <a:pt x="1164138" y="1154794"/>
                    <a:pt x="1142603" y="1172046"/>
                    <a:pt x="1122852" y="1190922"/>
                  </a:cubicBezTo>
                  <a:cubicBezTo>
                    <a:pt x="1041557" y="1264303"/>
                    <a:pt x="961663" y="1339309"/>
                    <a:pt x="892092" y="1421440"/>
                  </a:cubicBezTo>
                  <a:cubicBezTo>
                    <a:pt x="819589" y="1501822"/>
                    <a:pt x="759827" y="1590329"/>
                    <a:pt x="707202" y="1684212"/>
                  </a:cubicBezTo>
                  <a:cubicBezTo>
                    <a:pt x="694715" y="1708089"/>
                    <a:pt x="682227" y="1731841"/>
                    <a:pt x="670121" y="1756093"/>
                  </a:cubicBezTo>
                  <a:lnTo>
                    <a:pt x="637630" y="1830724"/>
                  </a:lnTo>
                  <a:cubicBezTo>
                    <a:pt x="626161" y="1855350"/>
                    <a:pt x="617624" y="1881603"/>
                    <a:pt x="607685" y="1907105"/>
                  </a:cubicBezTo>
                  <a:cubicBezTo>
                    <a:pt x="598128" y="1932857"/>
                    <a:pt x="588317" y="1958483"/>
                    <a:pt x="580034" y="1984986"/>
                  </a:cubicBezTo>
                  <a:cubicBezTo>
                    <a:pt x="544611" y="2089620"/>
                    <a:pt x="513393" y="2197128"/>
                    <a:pt x="481919" y="2304386"/>
                  </a:cubicBezTo>
                  <a:lnTo>
                    <a:pt x="433881" y="2465399"/>
                  </a:lnTo>
                  <a:lnTo>
                    <a:pt x="384442" y="2626163"/>
                  </a:lnTo>
                  <a:cubicBezTo>
                    <a:pt x="317672" y="2839680"/>
                    <a:pt x="243129" y="3050946"/>
                    <a:pt x="166039" y="3261338"/>
                  </a:cubicBezTo>
                  <a:cubicBezTo>
                    <a:pt x="88822" y="3468979"/>
                    <a:pt x="50850" y="3690248"/>
                    <a:pt x="56202" y="3910265"/>
                  </a:cubicBezTo>
                  <a:cubicBezTo>
                    <a:pt x="58495" y="4020274"/>
                    <a:pt x="71493" y="4129783"/>
                    <a:pt x="93664" y="4237292"/>
                  </a:cubicBezTo>
                  <a:cubicBezTo>
                    <a:pt x="99143" y="4264168"/>
                    <a:pt x="104623" y="4291045"/>
                    <a:pt x="111758" y="4317548"/>
                  </a:cubicBezTo>
                  <a:cubicBezTo>
                    <a:pt x="118384" y="4344176"/>
                    <a:pt x="124627" y="4370802"/>
                    <a:pt x="133038" y="4397054"/>
                  </a:cubicBezTo>
                  <a:cubicBezTo>
                    <a:pt x="140810" y="4423307"/>
                    <a:pt x="148456" y="4449683"/>
                    <a:pt x="157757" y="4475560"/>
                  </a:cubicBezTo>
                  <a:cubicBezTo>
                    <a:pt x="166549" y="4501562"/>
                    <a:pt x="175087" y="4527564"/>
                    <a:pt x="185153" y="4553066"/>
                  </a:cubicBezTo>
                  <a:cubicBezTo>
                    <a:pt x="262371" y="4758458"/>
                    <a:pt x="368895" y="4951974"/>
                    <a:pt x="493642" y="5132239"/>
                  </a:cubicBezTo>
                  <a:cubicBezTo>
                    <a:pt x="618389" y="5312627"/>
                    <a:pt x="760846" y="5480391"/>
                    <a:pt x="914391" y="5636528"/>
                  </a:cubicBezTo>
                  <a:cubicBezTo>
                    <a:pt x="1069081" y="5793166"/>
                    <a:pt x="1231544" y="5941677"/>
                    <a:pt x="1402034" y="6076188"/>
                  </a:cubicBezTo>
                  <a:cubicBezTo>
                    <a:pt x="1487535" y="6143320"/>
                    <a:pt x="1574565" y="6207574"/>
                    <a:pt x="1664397" y="6267079"/>
                  </a:cubicBezTo>
                  <a:cubicBezTo>
                    <a:pt x="1753592" y="6327459"/>
                    <a:pt x="1845336" y="6383088"/>
                    <a:pt x="1938992" y="6434343"/>
                  </a:cubicBezTo>
                  <a:cubicBezTo>
                    <a:pt x="2032647" y="6485659"/>
                    <a:pt x="2128309" y="6532600"/>
                    <a:pt x="2225931" y="6574322"/>
                  </a:cubicBezTo>
                  <a:lnTo>
                    <a:pt x="2236328" y="6578439"/>
                  </a:lnTo>
                  <a:lnTo>
                    <a:pt x="1504665" y="6578439"/>
                  </a:lnTo>
                  <a:lnTo>
                    <a:pt x="1456827" y="6543476"/>
                  </a:lnTo>
                  <a:cubicBezTo>
                    <a:pt x="1363554" y="6470595"/>
                    <a:pt x="1273848" y="6394340"/>
                    <a:pt x="1188475" y="6314083"/>
                  </a:cubicBezTo>
                  <a:cubicBezTo>
                    <a:pt x="1017856" y="6153445"/>
                    <a:pt x="863803" y="5979931"/>
                    <a:pt x="721728" y="5798666"/>
                  </a:cubicBezTo>
                  <a:cubicBezTo>
                    <a:pt x="579397" y="5616027"/>
                    <a:pt x="452103" y="5422511"/>
                    <a:pt x="344175" y="5219495"/>
                  </a:cubicBezTo>
                  <a:cubicBezTo>
                    <a:pt x="236505" y="5016354"/>
                    <a:pt x="147946" y="4803586"/>
                    <a:pt x="87293" y="4583569"/>
                  </a:cubicBezTo>
                  <a:cubicBezTo>
                    <a:pt x="79138" y="4556193"/>
                    <a:pt x="72639" y="4528440"/>
                    <a:pt x="65886" y="4500813"/>
                  </a:cubicBezTo>
                  <a:cubicBezTo>
                    <a:pt x="58751" y="4473311"/>
                    <a:pt x="53144" y="4445308"/>
                    <a:pt x="47409" y="4417431"/>
                  </a:cubicBezTo>
                  <a:cubicBezTo>
                    <a:pt x="44733" y="4403430"/>
                    <a:pt x="41294" y="4389679"/>
                    <a:pt x="39000" y="4375677"/>
                  </a:cubicBezTo>
                  <a:lnTo>
                    <a:pt x="31610" y="4333674"/>
                  </a:lnTo>
                  <a:cubicBezTo>
                    <a:pt x="26258" y="4305797"/>
                    <a:pt x="22563" y="4277544"/>
                    <a:pt x="18868" y="4249417"/>
                  </a:cubicBezTo>
                  <a:cubicBezTo>
                    <a:pt x="4214" y="4136784"/>
                    <a:pt x="-2158" y="4023275"/>
                    <a:pt x="646" y="3910265"/>
                  </a:cubicBezTo>
                  <a:cubicBezTo>
                    <a:pt x="5997" y="3683872"/>
                    <a:pt x="50596" y="3459605"/>
                    <a:pt x="130234" y="3248337"/>
                  </a:cubicBezTo>
                  <a:cubicBezTo>
                    <a:pt x="207961" y="3039196"/>
                    <a:pt x="278044" y="2827179"/>
                    <a:pt x="335383" y="2611911"/>
                  </a:cubicBezTo>
                  <a:cubicBezTo>
                    <a:pt x="393743" y="2396644"/>
                    <a:pt x="435792" y="2178627"/>
                    <a:pt x="487272" y="1958609"/>
                  </a:cubicBezTo>
                  <a:cubicBezTo>
                    <a:pt x="493259" y="1931107"/>
                    <a:pt x="501287" y="1903730"/>
                    <a:pt x="508550" y="1876227"/>
                  </a:cubicBezTo>
                  <a:cubicBezTo>
                    <a:pt x="516195" y="1848725"/>
                    <a:pt x="522312" y="1820972"/>
                    <a:pt x="531742" y="1793721"/>
                  </a:cubicBezTo>
                  <a:lnTo>
                    <a:pt x="558245" y="1711465"/>
                  </a:lnTo>
                  <a:cubicBezTo>
                    <a:pt x="568439" y="1684337"/>
                    <a:pt x="579652" y="1657459"/>
                    <a:pt x="590100" y="1630332"/>
                  </a:cubicBezTo>
                  <a:cubicBezTo>
                    <a:pt x="635080" y="1523075"/>
                    <a:pt x="690637" y="1417566"/>
                    <a:pt x="758680" y="1322433"/>
                  </a:cubicBezTo>
                  <a:cubicBezTo>
                    <a:pt x="824430" y="1225051"/>
                    <a:pt x="899610" y="1136168"/>
                    <a:pt x="976317" y="1049286"/>
                  </a:cubicBezTo>
                  <a:cubicBezTo>
                    <a:pt x="995049" y="1027035"/>
                    <a:pt x="1015436" y="1006533"/>
                    <a:pt x="1035314" y="985406"/>
                  </a:cubicBezTo>
                  <a:lnTo>
                    <a:pt x="1095329" y="922526"/>
                  </a:lnTo>
                  <a:cubicBezTo>
                    <a:pt x="1114953" y="901149"/>
                    <a:pt x="1136359" y="881397"/>
                    <a:pt x="1157384" y="861271"/>
                  </a:cubicBezTo>
                  <a:lnTo>
                    <a:pt x="1220841" y="801017"/>
                  </a:lnTo>
                  <a:cubicBezTo>
                    <a:pt x="1241610" y="780514"/>
                    <a:pt x="1264418" y="762014"/>
                    <a:pt x="1286462" y="742886"/>
                  </a:cubicBezTo>
                  <a:lnTo>
                    <a:pt x="1353233" y="685632"/>
                  </a:lnTo>
                  <a:lnTo>
                    <a:pt x="1369924" y="671256"/>
                  </a:lnTo>
                  <a:cubicBezTo>
                    <a:pt x="1375658" y="666631"/>
                    <a:pt x="1381520" y="662255"/>
                    <a:pt x="1387380" y="657755"/>
                  </a:cubicBezTo>
                  <a:lnTo>
                    <a:pt x="1422422" y="630877"/>
                  </a:lnTo>
                  <a:lnTo>
                    <a:pt x="1492759" y="577248"/>
                  </a:lnTo>
                  <a:cubicBezTo>
                    <a:pt x="1504355" y="567997"/>
                    <a:pt x="1516714" y="559997"/>
                    <a:pt x="1528820" y="551496"/>
                  </a:cubicBezTo>
                  <a:lnTo>
                    <a:pt x="1565390" y="526370"/>
                  </a:lnTo>
                  <a:lnTo>
                    <a:pt x="1639040" y="476490"/>
                  </a:lnTo>
                  <a:cubicBezTo>
                    <a:pt x="1689754" y="445613"/>
                    <a:pt x="1740723" y="414986"/>
                    <a:pt x="1792075" y="384859"/>
                  </a:cubicBezTo>
                  <a:cubicBezTo>
                    <a:pt x="2000282" y="268724"/>
                    <a:pt x="2224927" y="179467"/>
                    <a:pt x="2455943" y="117836"/>
                  </a:cubicBezTo>
                  <a:cubicBezTo>
                    <a:pt x="2687088" y="55957"/>
                    <a:pt x="2923964" y="21204"/>
                    <a:pt x="3159952" y="7203"/>
                  </a:cubicBezTo>
                  <a:cubicBezTo>
                    <a:pt x="3219076" y="3515"/>
                    <a:pt x="3277945" y="1389"/>
                    <a:pt x="3336813" y="49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1287857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63A20C1A-4914-2FAF-8554-DBB34247A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85649"/>
            <a:ext cx="10515600" cy="807459"/>
          </a:xfrm>
        </p:spPr>
        <p:txBody>
          <a:bodyPr/>
          <a:lstStyle/>
          <a:p>
            <a:pPr algn="ctr"/>
            <a:r>
              <a:rPr lang="en-US" dirty="0"/>
              <a:t>Closing thoughts – what </a:t>
            </a:r>
            <a:r>
              <a:rPr lang="en-US" b="1" dirty="0"/>
              <a:t>did</a:t>
            </a:r>
            <a:r>
              <a:rPr lang="en-US" dirty="0"/>
              <a:t> you learn?</a:t>
            </a:r>
          </a:p>
        </p:txBody>
      </p:sp>
    </p:spTree>
    <p:extLst>
      <p:ext uri="{BB962C8B-B14F-4D97-AF65-F5344CB8AC3E}">
        <p14:creationId xmlns:p14="http://schemas.microsoft.com/office/powerpoint/2010/main" val="10751121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486BEE49-F3E9-135C-E475-245529FE6E6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570"/>
          <a:stretch/>
        </p:blipFill>
        <p:spPr>
          <a:xfrm>
            <a:off x="6015748" y="1513531"/>
            <a:ext cx="6095025" cy="4388588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B335A69E-B00D-6F92-3BE5-CD38F21DFE4B}"/>
              </a:ext>
            </a:extLst>
          </p:cNvPr>
          <p:cNvSpPr txBox="1">
            <a:spLocks/>
          </p:cNvSpPr>
          <p:nvPr/>
        </p:nvSpPr>
        <p:spPr>
          <a:xfrm>
            <a:off x="540290" y="305509"/>
            <a:ext cx="10444910" cy="1182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dirty="0">
                <a:latin typeface="+mn-lt"/>
              </a:rPr>
              <a:t>Two key elements of Structured Decision Making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170E734-E07B-A136-45D3-E1D0300A5651}"/>
              </a:ext>
            </a:extLst>
          </p:cNvPr>
          <p:cNvSpPr txBox="1">
            <a:spLocks/>
          </p:cNvSpPr>
          <p:nvPr/>
        </p:nvSpPr>
        <p:spPr>
          <a:xfrm>
            <a:off x="1293353" y="1690889"/>
            <a:ext cx="4685819" cy="16649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400" b="1" dirty="0"/>
              <a:t>1. Values-focused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400" dirty="0"/>
              <a:t>Objectives are discussed first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400" dirty="0"/>
              <a:t>Contrasts with alternative-focused methods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400" dirty="0"/>
          </a:p>
        </p:txBody>
      </p:sp>
      <p:pic>
        <p:nvPicPr>
          <p:cNvPr id="8" name="Graphic 7" descr="Comment Heart with solid fill">
            <a:extLst>
              <a:ext uri="{FF2B5EF4-FFF2-40B4-BE49-F238E27FC236}">
                <a16:creationId xmlns:a16="http://schemas.microsoft.com/office/drawing/2014/main" id="{6A5EB302-E8CF-2793-A870-9CB5871D6E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3714" y="1612548"/>
            <a:ext cx="914400" cy="914400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0BF7BDD-1401-3C91-0736-615A4D548160}"/>
              </a:ext>
            </a:extLst>
          </p:cNvPr>
          <p:cNvSpPr txBox="1">
            <a:spLocks/>
          </p:cNvSpPr>
          <p:nvPr/>
        </p:nvSpPr>
        <p:spPr>
          <a:xfrm>
            <a:off x="1159332" y="3241348"/>
            <a:ext cx="5422750" cy="278111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b="1" dirty="0"/>
              <a:t>2. Problem decomposition (</a:t>
            </a:r>
            <a:r>
              <a:rPr lang="en-US" sz="2400" b="1" dirty="0" err="1"/>
              <a:t>PrOACT</a:t>
            </a:r>
            <a:r>
              <a:rPr lang="en-US" sz="2400" b="1" dirty="0"/>
              <a:t>)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400" dirty="0"/>
              <a:t>Break problem into components, separating science from values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400" dirty="0"/>
              <a:t>Complete relevant analysis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400" dirty="0"/>
              <a:t>Recompose the parts to make a decision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2400" u="sng" dirty="0"/>
              <a:t>Additional considerations</a:t>
            </a:r>
            <a:r>
              <a:rPr lang="en-US" sz="2400" dirty="0"/>
              <a:t>: risk, uncertainty, adaptive management</a:t>
            </a:r>
          </a:p>
        </p:txBody>
      </p:sp>
      <p:pic>
        <p:nvPicPr>
          <p:cNvPr id="10" name="Graphic 9" descr="Puzzle pieces with solid fill">
            <a:extLst>
              <a:ext uri="{FF2B5EF4-FFF2-40B4-BE49-F238E27FC236}">
                <a16:creationId xmlns:a16="http://schemas.microsoft.com/office/drawing/2014/main" id="{C3DC2100-1404-B74B-8817-94D1DC9D255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78953" y="3131885"/>
            <a:ext cx="914400" cy="9144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9D6A36E-5CC3-7A3C-8AAE-BC39EB46115B}"/>
              </a:ext>
            </a:extLst>
          </p:cNvPr>
          <p:cNvSpPr txBox="1"/>
          <p:nvPr/>
        </p:nvSpPr>
        <p:spPr>
          <a:xfrm>
            <a:off x="0" y="6581001"/>
            <a:ext cx="801641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Ashley Fortune Isham, Jim Lyons, Sarah J Converse, Brielle Thompson</a:t>
            </a:r>
          </a:p>
        </p:txBody>
      </p:sp>
    </p:spTree>
    <p:extLst>
      <p:ext uri="{BB962C8B-B14F-4D97-AF65-F5344CB8AC3E}">
        <p14:creationId xmlns:p14="http://schemas.microsoft.com/office/powerpoint/2010/main" val="2715570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8E5A4355-A5FE-A893-0907-D720633CD4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03207"/>
            <a:ext cx="10515600" cy="925793"/>
          </a:xfrm>
        </p:spPr>
        <p:txBody>
          <a:bodyPr/>
          <a:lstStyle/>
          <a:p>
            <a:r>
              <a:rPr lang="en-US" dirty="0"/>
              <a:t>Closing thoughts – what </a:t>
            </a:r>
            <a:r>
              <a:rPr lang="en-US" b="1" dirty="0"/>
              <a:t>didn’t</a:t>
            </a:r>
            <a:r>
              <a:rPr lang="en-US" dirty="0"/>
              <a:t> you learn?</a:t>
            </a:r>
          </a:p>
        </p:txBody>
      </p:sp>
    </p:spTree>
    <p:extLst>
      <p:ext uri="{BB962C8B-B14F-4D97-AF65-F5344CB8AC3E}">
        <p14:creationId xmlns:p14="http://schemas.microsoft.com/office/powerpoint/2010/main" val="28159805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88F94-FB33-5210-B483-39F4BB1B7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E5CAB0-5C67-4865-D647-F2F453B24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25793"/>
          </a:xfrm>
        </p:spPr>
        <p:txBody>
          <a:bodyPr/>
          <a:lstStyle/>
          <a:p>
            <a:r>
              <a:rPr lang="en-US" dirty="0"/>
              <a:t>Closing thoughts – what </a:t>
            </a:r>
            <a:r>
              <a:rPr lang="en-US" b="1" dirty="0"/>
              <a:t>didn’t</a:t>
            </a:r>
            <a:r>
              <a:rPr lang="en-US" dirty="0"/>
              <a:t> you learn?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BBCA15A-6291-EB8A-5CDE-D9858C8D8674}"/>
              </a:ext>
            </a:extLst>
          </p:cNvPr>
          <p:cNvSpPr txBox="1">
            <a:spLocks/>
          </p:cNvSpPr>
          <p:nvPr/>
        </p:nvSpPr>
        <p:spPr>
          <a:xfrm>
            <a:off x="963641" y="1215615"/>
            <a:ext cx="7734300" cy="523951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dirty="0"/>
              <a:t>What we didn’t cover:</a:t>
            </a:r>
          </a:p>
          <a:p>
            <a:pPr lvl="1"/>
            <a:r>
              <a:rPr lang="en-US" sz="3200" b="1" dirty="0"/>
              <a:t>Variety of quantitative tools</a:t>
            </a:r>
            <a:endParaRPr lang="en-US" sz="2800" dirty="0"/>
          </a:p>
          <a:p>
            <a:pPr lvl="2"/>
            <a:r>
              <a:rPr lang="en-US" sz="2800" dirty="0"/>
              <a:t>Other types of value of information analysis</a:t>
            </a:r>
          </a:p>
          <a:p>
            <a:pPr lvl="2"/>
            <a:r>
              <a:rPr lang="en-US" sz="2800" dirty="0"/>
              <a:t>Multi-Criteria Decision analysis tools</a:t>
            </a:r>
          </a:p>
          <a:p>
            <a:pPr lvl="2"/>
            <a:r>
              <a:rPr lang="en-US" sz="2800" dirty="0"/>
              <a:t>Bayesian Belief Networks</a:t>
            </a:r>
          </a:p>
          <a:p>
            <a:pPr lvl="2"/>
            <a:r>
              <a:rPr lang="en-US" sz="2800" dirty="0"/>
              <a:t>Adaptive management modeling techniques</a:t>
            </a:r>
          </a:p>
          <a:p>
            <a:pPr lvl="2"/>
            <a:r>
              <a:rPr lang="en-US" sz="2800" dirty="0"/>
              <a:t>Projection modeling</a:t>
            </a:r>
          </a:p>
          <a:p>
            <a:pPr lvl="2"/>
            <a:r>
              <a:rPr lang="en-US" sz="2800" dirty="0"/>
              <a:t>Optimization modeling</a:t>
            </a:r>
          </a:p>
          <a:p>
            <a:pPr lvl="1"/>
            <a:r>
              <a:rPr lang="en-US" sz="3200" b="1" dirty="0"/>
              <a:t>Dealing with people</a:t>
            </a:r>
          </a:p>
          <a:p>
            <a:pPr lvl="2"/>
            <a:r>
              <a:rPr lang="en-US" sz="2800" dirty="0"/>
              <a:t>Stakeholder analysis, forming a team</a:t>
            </a:r>
          </a:p>
          <a:p>
            <a:pPr lvl="2"/>
            <a:r>
              <a:rPr lang="en-US" sz="2800" dirty="0"/>
              <a:t>Facilitation</a:t>
            </a:r>
          </a:p>
          <a:p>
            <a:pPr lvl="2"/>
            <a:r>
              <a:rPr lang="en-US" sz="2800" dirty="0"/>
              <a:t>Expert elicitation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pic>
        <p:nvPicPr>
          <p:cNvPr id="8" name="Graphic 7" descr="Programmer female with solid fill">
            <a:extLst>
              <a:ext uri="{FF2B5EF4-FFF2-40B4-BE49-F238E27FC236}">
                <a16:creationId xmlns:a16="http://schemas.microsoft.com/office/drawing/2014/main" id="{AF6AB866-276B-9538-582A-8E73FD098E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063057" y="1417772"/>
            <a:ext cx="2290743" cy="2290743"/>
          </a:xfrm>
          <a:prstGeom prst="rect">
            <a:avLst/>
          </a:prstGeom>
        </p:spPr>
      </p:pic>
      <p:pic>
        <p:nvPicPr>
          <p:cNvPr id="9" name="Graphic 8" descr="Cycle with people with solid fill">
            <a:extLst>
              <a:ext uri="{FF2B5EF4-FFF2-40B4-BE49-F238E27FC236}">
                <a16:creationId xmlns:a16="http://schemas.microsoft.com/office/drawing/2014/main" id="{CA1C6E53-9B82-9E3B-740C-47014461CEC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44571" y="3566428"/>
            <a:ext cx="2781300" cy="27813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0745C87-3E06-9056-609B-72E09C90E763}"/>
              </a:ext>
            </a:extLst>
          </p:cNvPr>
          <p:cNvSpPr txBox="1"/>
          <p:nvPr/>
        </p:nvSpPr>
        <p:spPr>
          <a:xfrm>
            <a:off x="0" y="6581001"/>
            <a:ext cx="801641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Developed by Ashley Fortune Isham, Jim Lyons, Sarah J Converse, Brielle Thompson</a:t>
            </a:r>
          </a:p>
        </p:txBody>
      </p:sp>
    </p:spTree>
    <p:extLst>
      <p:ext uri="{BB962C8B-B14F-4D97-AF65-F5344CB8AC3E}">
        <p14:creationId xmlns:p14="http://schemas.microsoft.com/office/powerpoint/2010/main" val="1534090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48E07-0CBD-4B16-EC22-A3974ECA2C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6442FB79-7C16-A40A-1600-6478F246C306}"/>
              </a:ext>
            </a:extLst>
          </p:cNvPr>
          <p:cNvSpPr/>
          <p:nvPr/>
        </p:nvSpPr>
        <p:spPr>
          <a:xfrm>
            <a:off x="7355593" y="1594006"/>
            <a:ext cx="4550208" cy="4651346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2BA144-6049-A0BE-2E28-095FE863A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927814" cy="646331"/>
          </a:xfrm>
        </p:spPr>
        <p:txBody>
          <a:bodyPr>
            <a:normAutofit fontScale="90000"/>
          </a:bodyPr>
          <a:lstStyle/>
          <a:p>
            <a:r>
              <a:rPr lang="en-US" dirty="0"/>
              <a:t>Closing thoughts – What can SDM be used for?</a:t>
            </a:r>
          </a:p>
        </p:txBody>
      </p:sp>
      <p:pic>
        <p:nvPicPr>
          <p:cNvPr id="4" name="Picture 3" descr="A group of white birds standing on the ground&#10;&#10;Description automatically generated">
            <a:extLst>
              <a:ext uri="{FF2B5EF4-FFF2-40B4-BE49-F238E27FC236}">
                <a16:creationId xmlns:a16="http://schemas.microsoft.com/office/drawing/2014/main" id="{DB194074-5C3F-0D20-665B-50327C4940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585" y="3611298"/>
            <a:ext cx="1700575" cy="113201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924AB0D-EEB6-23A6-496A-CFA4B1917B81}"/>
              </a:ext>
            </a:extLst>
          </p:cNvPr>
          <p:cNvSpPr txBox="1"/>
          <p:nvPr/>
        </p:nvSpPr>
        <p:spPr>
          <a:xfrm>
            <a:off x="442235" y="2953050"/>
            <a:ext cx="33557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Whooping crane management</a:t>
            </a:r>
          </a:p>
          <a:p>
            <a:pPr algn="ctr"/>
            <a:r>
              <a:rPr lang="en-US" dirty="0"/>
              <a:t>(Moore et al. 2008)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7DA22C-A193-C785-EDB1-FCF40D2F0448}"/>
              </a:ext>
            </a:extLst>
          </p:cNvPr>
          <p:cNvSpPr txBox="1"/>
          <p:nvPr/>
        </p:nvSpPr>
        <p:spPr>
          <a:xfrm>
            <a:off x="442235" y="1173383"/>
            <a:ext cx="30132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Waterfowl harvests</a:t>
            </a:r>
          </a:p>
          <a:p>
            <a:pPr algn="ctr"/>
            <a:r>
              <a:rPr lang="en-US" dirty="0"/>
              <a:t>(Williams and Johnson 1995)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F19360-9993-B38A-7AE9-402B251E87AF}"/>
              </a:ext>
            </a:extLst>
          </p:cNvPr>
          <p:cNvSpPr txBox="1"/>
          <p:nvPr/>
        </p:nvSpPr>
        <p:spPr>
          <a:xfrm>
            <a:off x="3500378" y="1173382"/>
            <a:ext cx="34907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Bighorn Sheep disease mitigation</a:t>
            </a:r>
          </a:p>
          <a:p>
            <a:pPr algn="ctr"/>
            <a:r>
              <a:rPr lang="en-US" dirty="0"/>
              <a:t>(Sells et al. 2016)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4324DB0-83C0-3FF7-EB6D-4CCB91CCD5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2252" y="1819713"/>
            <a:ext cx="1513748" cy="100948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C0FDC75-722D-47D0-54C7-4AE626541D6A}"/>
              </a:ext>
            </a:extLst>
          </p:cNvPr>
          <p:cNvSpPr txBox="1"/>
          <p:nvPr/>
        </p:nvSpPr>
        <p:spPr>
          <a:xfrm>
            <a:off x="372940" y="4743314"/>
            <a:ext cx="30825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Bull trout reintroduction</a:t>
            </a:r>
          </a:p>
          <a:p>
            <a:pPr algn="ctr"/>
            <a:r>
              <a:rPr lang="en-US" dirty="0"/>
              <a:t>(</a:t>
            </a:r>
            <a:r>
              <a:rPr lang="en-US" dirty="0" err="1"/>
              <a:t>Brignon</a:t>
            </a:r>
            <a:r>
              <a:rPr lang="en-US" dirty="0"/>
              <a:t> et al. 2017)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A75CA23-80DB-632A-BFEB-EE54FB3DD3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3869" y="5330819"/>
            <a:ext cx="1700239" cy="127353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DF8E0AF-F591-9A23-0CE1-5A32D68BD067}"/>
              </a:ext>
            </a:extLst>
          </p:cNvPr>
          <p:cNvSpPr txBox="1"/>
          <p:nvPr/>
        </p:nvSpPr>
        <p:spPr>
          <a:xfrm>
            <a:off x="3644168" y="2962738"/>
            <a:ext cx="35993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Dreissenid</a:t>
            </a:r>
            <a:r>
              <a:rPr lang="en-US" dirty="0"/>
              <a:t> mussel management</a:t>
            </a:r>
          </a:p>
          <a:p>
            <a:pPr algn="ctr"/>
            <a:r>
              <a:rPr lang="en-US" dirty="0"/>
              <a:t>(Sepulveda et al. 2022)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05E18BA-3E4E-E569-2056-D71BE541CC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9614" y="3588772"/>
            <a:ext cx="1619024" cy="98378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437425C-CB67-1FF4-BF7C-9A122C03D32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91999" y="1859923"/>
            <a:ext cx="1513748" cy="103895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BE0E4482-B84F-9E82-8371-7AC4F0962525}"/>
              </a:ext>
            </a:extLst>
          </p:cNvPr>
          <p:cNvSpPr txBox="1"/>
          <p:nvPr/>
        </p:nvSpPr>
        <p:spPr>
          <a:xfrm>
            <a:off x="-14056" y="6628191"/>
            <a:ext cx="60944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Developed by Brielle Thompson, Michael C. Runge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52C43E8-45C2-63D1-515F-13DEC92079D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48399" y="5353011"/>
            <a:ext cx="1700239" cy="127518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68AD116E-C2F2-960A-99A9-1AC76C1FCC11}"/>
              </a:ext>
            </a:extLst>
          </p:cNvPr>
          <p:cNvSpPr txBox="1"/>
          <p:nvPr/>
        </p:nvSpPr>
        <p:spPr>
          <a:xfrm>
            <a:off x="3338561" y="4706680"/>
            <a:ext cx="40108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Prairie Pothole wetland management</a:t>
            </a:r>
          </a:p>
          <a:p>
            <a:pPr algn="ctr"/>
            <a:r>
              <a:rPr lang="en-US" dirty="0"/>
              <a:t>(Hunt et al. 2020)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DCB5E701-BD7A-EF53-234A-5B866503DB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62360" y="2216587"/>
            <a:ext cx="4582081" cy="4276287"/>
          </a:xfrm>
        </p:spPr>
        <p:txBody>
          <a:bodyPr>
            <a:normAutofit fontScale="92500" lnSpcReduction="10000"/>
          </a:bodyPr>
          <a:lstStyle/>
          <a:p>
            <a:pPr lvl="0"/>
            <a:r>
              <a:rPr lang="en-US" dirty="0"/>
              <a:t>Routine: one decision maker</a:t>
            </a:r>
          </a:p>
          <a:p>
            <a:pPr lvl="0"/>
            <a:r>
              <a:rPr lang="en-US" dirty="0"/>
              <a:t>Small‐scale: one decision maker or closely collaborating decision makers, few stakeholders</a:t>
            </a:r>
          </a:p>
          <a:p>
            <a:pPr lvl="0"/>
            <a:r>
              <a:rPr lang="en-US" dirty="0"/>
              <a:t>Medium‐scale: multiple collaborative decision makers, many stakeholders</a:t>
            </a:r>
          </a:p>
          <a:p>
            <a:pPr lvl="0"/>
            <a:r>
              <a:rPr lang="en-US" dirty="0"/>
              <a:t>Large‐scale: multiple collaborative decision makers, many stakeholders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446FD63-9ADB-0B38-6A05-1D1530968C73}"/>
              </a:ext>
            </a:extLst>
          </p:cNvPr>
          <p:cNvSpPr txBox="1"/>
          <p:nvPr/>
        </p:nvSpPr>
        <p:spPr>
          <a:xfrm>
            <a:off x="6869955" y="1502401"/>
            <a:ext cx="556688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000" dirty="0"/>
              <a:t>Across many scales</a:t>
            </a:r>
          </a:p>
        </p:txBody>
      </p:sp>
    </p:spTree>
    <p:extLst>
      <p:ext uri="{BB962C8B-B14F-4D97-AF65-F5344CB8AC3E}">
        <p14:creationId xmlns:p14="http://schemas.microsoft.com/office/powerpoint/2010/main" val="2587991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19" grpId="0" uiExpand="1" build="p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478E7-DFE5-6923-0FCB-81ABE047E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10BD3-C2DD-F65F-847F-7FA25D4265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4917" y="322311"/>
            <a:ext cx="10640209" cy="1325563"/>
          </a:xfrm>
        </p:spPr>
        <p:txBody>
          <a:bodyPr/>
          <a:lstStyle/>
          <a:p>
            <a:pPr algn="ctr"/>
            <a:r>
              <a:rPr lang="en-US" dirty="0"/>
              <a:t>Closing thoughts – What can SDM be used for</a:t>
            </a:r>
            <a:br>
              <a:rPr lang="en-US" dirty="0"/>
            </a:br>
            <a:r>
              <a:rPr lang="en-US" b="1" dirty="0"/>
              <a:t>beyond natural resources</a:t>
            </a:r>
            <a:r>
              <a:rPr lang="en-US" dirty="0"/>
              <a:t>?</a:t>
            </a:r>
          </a:p>
        </p:txBody>
      </p:sp>
      <p:pic>
        <p:nvPicPr>
          <p:cNvPr id="3" name="Graphic 2" descr="Car with solid fill">
            <a:extLst>
              <a:ext uri="{FF2B5EF4-FFF2-40B4-BE49-F238E27FC236}">
                <a16:creationId xmlns:a16="http://schemas.microsoft.com/office/drawing/2014/main" id="{C6DEAD00-1FD6-CDEF-4EE0-8FDC6BF57B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10047" y="1695994"/>
            <a:ext cx="1664822" cy="1664822"/>
          </a:xfrm>
          <a:prstGeom prst="rect">
            <a:avLst/>
          </a:prstGeom>
        </p:spPr>
      </p:pic>
      <p:pic>
        <p:nvPicPr>
          <p:cNvPr id="4" name="Graphic 3" descr="Schoolhouse with solid fill">
            <a:extLst>
              <a:ext uri="{FF2B5EF4-FFF2-40B4-BE49-F238E27FC236}">
                <a16:creationId xmlns:a16="http://schemas.microsoft.com/office/drawing/2014/main" id="{68AD51D5-2FFD-9569-E09E-5A08ED44260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48825" y="1572415"/>
            <a:ext cx="1664822" cy="1664822"/>
          </a:xfrm>
          <a:prstGeom prst="rect">
            <a:avLst/>
          </a:prstGeom>
        </p:spPr>
      </p:pic>
      <p:pic>
        <p:nvPicPr>
          <p:cNvPr id="5" name="Graphic 4" descr="Briefcase with solid fill">
            <a:extLst>
              <a:ext uri="{FF2B5EF4-FFF2-40B4-BE49-F238E27FC236}">
                <a16:creationId xmlns:a16="http://schemas.microsoft.com/office/drawing/2014/main" id="{236D832A-4D97-21C2-1D2F-6D798E77AEB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621617" y="1641813"/>
            <a:ext cx="1551011" cy="1551011"/>
          </a:xfrm>
          <a:prstGeom prst="rect">
            <a:avLst/>
          </a:prstGeom>
        </p:spPr>
      </p:pic>
      <p:pic>
        <p:nvPicPr>
          <p:cNvPr id="7" name="Graphic 6" descr="House with solid fill">
            <a:extLst>
              <a:ext uri="{FF2B5EF4-FFF2-40B4-BE49-F238E27FC236}">
                <a16:creationId xmlns:a16="http://schemas.microsoft.com/office/drawing/2014/main" id="{C9A47595-8534-393D-5BD2-E5B96A157D4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866630" y="3887598"/>
            <a:ext cx="1645920" cy="164592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7DCE010-3AFC-5EC6-97AE-ABDB079E8AB4}"/>
              </a:ext>
            </a:extLst>
          </p:cNvPr>
          <p:cNvSpPr txBox="1"/>
          <p:nvPr/>
        </p:nvSpPr>
        <p:spPr>
          <a:xfrm>
            <a:off x="4686471" y="2933491"/>
            <a:ext cx="214805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Choosing a college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C6A906-ACC4-94AF-36AE-45BDE66826DE}"/>
              </a:ext>
            </a:extLst>
          </p:cNvPr>
          <p:cNvSpPr txBox="1"/>
          <p:nvPr/>
        </p:nvSpPr>
        <p:spPr>
          <a:xfrm>
            <a:off x="2419634" y="2928692"/>
            <a:ext cx="13879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Buying a car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9D554CD-8737-3F26-C946-AECC8734EDDA}"/>
              </a:ext>
            </a:extLst>
          </p:cNvPr>
          <p:cNvSpPr txBox="1"/>
          <p:nvPr/>
        </p:nvSpPr>
        <p:spPr>
          <a:xfrm>
            <a:off x="7323095" y="2928692"/>
            <a:ext cx="214805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Career decisions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113ADE9-0356-9684-D53B-448F13978E5A}"/>
              </a:ext>
            </a:extLst>
          </p:cNvPr>
          <p:cNvSpPr txBox="1"/>
          <p:nvPr/>
        </p:nvSpPr>
        <p:spPr>
          <a:xfrm>
            <a:off x="4626889" y="5474050"/>
            <a:ext cx="212540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Buying a house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284E003-DCBE-64A5-734A-49D44DD9F4D7}"/>
              </a:ext>
            </a:extLst>
          </p:cNvPr>
          <p:cNvSpPr txBox="1"/>
          <p:nvPr/>
        </p:nvSpPr>
        <p:spPr>
          <a:xfrm>
            <a:off x="1524" y="6596390"/>
            <a:ext cx="60944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Developed by Brielle Thompson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7E6140-1AC9-8F05-D6C8-92F8B1097BBD}"/>
              </a:ext>
            </a:extLst>
          </p:cNvPr>
          <p:cNvSpPr txBox="1"/>
          <p:nvPr/>
        </p:nvSpPr>
        <p:spPr>
          <a:xfrm>
            <a:off x="1852790" y="5474050"/>
            <a:ext cx="222350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Deciding dinner plans</a:t>
            </a:r>
          </a:p>
        </p:txBody>
      </p:sp>
      <p:pic>
        <p:nvPicPr>
          <p:cNvPr id="14" name="Graphic 13" descr="Fork and knife with solid fill">
            <a:extLst>
              <a:ext uri="{FF2B5EF4-FFF2-40B4-BE49-F238E27FC236}">
                <a16:creationId xmlns:a16="http://schemas.microsoft.com/office/drawing/2014/main" id="{469A2D47-0035-ABEF-106D-6048B799228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2187303" y="3979038"/>
            <a:ext cx="1554480" cy="1554480"/>
          </a:xfrm>
          <a:prstGeom prst="rect">
            <a:avLst/>
          </a:prstGeom>
        </p:spPr>
      </p:pic>
      <p:pic>
        <p:nvPicPr>
          <p:cNvPr id="15" name="Graphic 14" descr="Travel with solid fill">
            <a:extLst>
              <a:ext uri="{FF2B5EF4-FFF2-40B4-BE49-F238E27FC236}">
                <a16:creationId xmlns:a16="http://schemas.microsoft.com/office/drawing/2014/main" id="{33A02C97-E923-96AE-4B85-A1D7266D9722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7637397" y="3887598"/>
            <a:ext cx="1645920" cy="164592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5031E185-C1CE-DDDD-0ECB-DA4D89496F84}"/>
              </a:ext>
            </a:extLst>
          </p:cNvPr>
          <p:cNvSpPr txBox="1"/>
          <p:nvPr/>
        </p:nvSpPr>
        <p:spPr>
          <a:xfrm>
            <a:off x="7157915" y="5474050"/>
            <a:ext cx="212540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Making travel plans</a:t>
            </a:r>
          </a:p>
        </p:txBody>
      </p:sp>
    </p:spTree>
    <p:extLst>
      <p:ext uri="{BB962C8B-B14F-4D97-AF65-F5344CB8AC3E}">
        <p14:creationId xmlns:p14="http://schemas.microsoft.com/office/powerpoint/2010/main" val="9504024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6B3D1-2D42-9CD6-BAAF-0177F5FE18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5920"/>
            <a:ext cx="10515600" cy="576707"/>
          </a:xfrm>
        </p:spPr>
        <p:txBody>
          <a:bodyPr>
            <a:normAutofit fontScale="90000"/>
          </a:bodyPr>
          <a:lstStyle/>
          <a:p>
            <a:r>
              <a:rPr lang="en-US" dirty="0"/>
              <a:t>Books to read: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57DDA63-FDED-F4C7-E2CC-8601F3702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7255" y="1715066"/>
            <a:ext cx="1716638" cy="223520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EFC7872-BA4C-1C25-B40C-F97BA5B574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3171" y="4274854"/>
            <a:ext cx="1564646" cy="223520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8F76434-31B0-A863-BFC7-4C0E80A66C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096" y="1601495"/>
            <a:ext cx="1616127" cy="241935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3AB7BE8-F68A-5235-7FD5-EFC231DF4E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715" y="4260469"/>
            <a:ext cx="1463508" cy="23018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91FDEEC-E8A3-733B-DE76-A5F9EF88F3F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62488" y="1753482"/>
            <a:ext cx="1418749" cy="21431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9EA7F39-C115-D331-2B42-50C8D1FCBAE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62488" y="4274854"/>
            <a:ext cx="1463993" cy="230187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53949E3-F9F4-C9C1-AF8A-68CA3E5B846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32492" y="1687315"/>
            <a:ext cx="1463508" cy="224770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96FB747-5D99-6FD3-CCEC-4388FE891D5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32492" y="4261492"/>
            <a:ext cx="1534668" cy="230085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914C13C-274A-9561-1138-454C094F5AA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56204" y="1746196"/>
            <a:ext cx="1463507" cy="220407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B61C264-4B04-A67E-BC4D-F0D918B03F3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561114" y="4309367"/>
            <a:ext cx="1470119" cy="220407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C9A5E3D-95E4-1274-7CC7-0C2418C8675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331514" y="4324094"/>
            <a:ext cx="1463507" cy="2185968"/>
          </a:xfrm>
          <a:prstGeom prst="rect">
            <a:avLst/>
          </a:prstGeom>
        </p:spPr>
      </p:pic>
      <p:sp>
        <p:nvSpPr>
          <p:cNvPr id="20" name="Title 1">
            <a:extLst>
              <a:ext uri="{FF2B5EF4-FFF2-40B4-BE49-F238E27FC236}">
                <a16:creationId xmlns:a16="http://schemas.microsoft.com/office/drawing/2014/main" id="{F9D1DD26-931B-0E8E-3B8E-F7CC5AA531A8}"/>
              </a:ext>
            </a:extLst>
          </p:cNvPr>
          <p:cNvSpPr txBox="1">
            <a:spLocks/>
          </p:cNvSpPr>
          <p:nvPr/>
        </p:nvSpPr>
        <p:spPr>
          <a:xfrm>
            <a:off x="1005714" y="728827"/>
            <a:ext cx="10808801" cy="986239"/>
          </a:xfrm>
          <a:prstGeom prst="rightArrow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400" dirty="0"/>
              <a:t>Increasing rigor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2BFED4-BF74-BCA7-C48E-B4AD1335BFC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312022" y="1783907"/>
            <a:ext cx="1502492" cy="2168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06664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387</Words>
  <Application>Microsoft Office PowerPoint</Application>
  <PresentationFormat>Widescreen</PresentationFormat>
  <Paragraphs>70</Paragraphs>
  <Slides>10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Week 8:  Final presentations + closing thoughts</vt:lpstr>
      <vt:lpstr>Finish up with final presentations</vt:lpstr>
      <vt:lpstr>Discussion</vt:lpstr>
      <vt:lpstr>Closing thoughts – what did you learn?</vt:lpstr>
      <vt:lpstr>PowerPoint Presentation</vt:lpstr>
      <vt:lpstr>Closing thoughts – what didn’t you learn?</vt:lpstr>
      <vt:lpstr>Closing thoughts – what didn’t you learn?</vt:lpstr>
      <vt:lpstr>Closing thoughts – What can SDM be used for?</vt:lpstr>
      <vt:lpstr>Closing thoughts – What can SDM be used for beyond natural resources?</vt:lpstr>
      <vt:lpstr>Books to read: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Thompson, Brielle</dc:creator>
  <cp:lastModifiedBy>Thompson, Brielle</cp:lastModifiedBy>
  <cp:revision>1</cp:revision>
  <dcterms:created xsi:type="dcterms:W3CDTF">2025-10-15T15:36:35Z</dcterms:created>
  <dcterms:modified xsi:type="dcterms:W3CDTF">2025-10-17T15:19:24Z</dcterms:modified>
</cp:coreProperties>
</file>