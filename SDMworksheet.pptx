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6247" autoAdjust="0"/>
  </p:normalViewPr>
  <p:slideViewPr>
    <p:cSldViewPr snapToGrid="0">
      <p:cViewPr>
        <p:scale>
          <a:sx n="80" d="100"/>
          <a:sy n="80" d="100"/>
        </p:scale>
        <p:origin x="300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21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7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8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9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19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40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54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6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99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1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0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9275F8-1029-4BEB-A72B-6B7E93C2C3F4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F05B5-AD3E-4E28-8BB4-7A89E272B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2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Oval 258">
            <a:extLst>
              <a:ext uri="{FF2B5EF4-FFF2-40B4-BE49-F238E27FC236}">
                <a16:creationId xmlns:a16="http://schemas.microsoft.com/office/drawing/2014/main" id="{8D50058B-EF91-1179-0DF9-5626D20EB47C}"/>
              </a:ext>
            </a:extLst>
          </p:cNvPr>
          <p:cNvSpPr/>
          <p:nvPr/>
        </p:nvSpPr>
        <p:spPr>
          <a:xfrm>
            <a:off x="5330615" y="7535065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0A60F2F-E045-86A0-778C-212E75007BBE}"/>
              </a:ext>
            </a:extLst>
          </p:cNvPr>
          <p:cNvSpPr txBox="1"/>
          <p:nvPr/>
        </p:nvSpPr>
        <p:spPr>
          <a:xfrm>
            <a:off x="4761706" y="8587915"/>
            <a:ext cx="16601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Obj2 (aim to maximize)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1BC63343-A9BA-680C-0BC6-6CD7E5880903}"/>
              </a:ext>
            </a:extLst>
          </p:cNvPr>
          <p:cNvSpPr txBox="1"/>
          <p:nvPr/>
        </p:nvSpPr>
        <p:spPr>
          <a:xfrm>
            <a:off x="5166706" y="8426168"/>
            <a:ext cx="13516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ideal point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C1D050-6679-B797-6BB9-F8048B3BAF1A}"/>
              </a:ext>
            </a:extLst>
          </p:cNvPr>
          <p:cNvSpPr/>
          <p:nvPr/>
        </p:nvSpPr>
        <p:spPr>
          <a:xfrm>
            <a:off x="3748357" y="364413"/>
            <a:ext cx="262597" cy="2332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CC6247-E236-880F-6BA8-1C34514E40FD}"/>
              </a:ext>
            </a:extLst>
          </p:cNvPr>
          <p:cNvSpPr txBox="1"/>
          <p:nvPr/>
        </p:nvSpPr>
        <p:spPr>
          <a:xfrm>
            <a:off x="3696666" y="326373"/>
            <a:ext cx="4114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tx1"/>
                </a:solidFill>
              </a:rPr>
              <a:t>Pr</a:t>
            </a:r>
            <a:endParaRPr lang="en-US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17CC1-B25A-C22D-0053-919595218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338" y="279680"/>
            <a:ext cx="6362719" cy="566373"/>
          </a:xfrm>
          <a:noFill/>
          <a:ln w="57150">
            <a:noFill/>
          </a:ln>
        </p:spPr>
        <p:txBody>
          <a:bodyPr>
            <a:noAutofit/>
          </a:bodyPr>
          <a:lstStyle/>
          <a:p>
            <a:pPr algn="l"/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Structured Decision Making (SDM)</a:t>
            </a:r>
            <a:b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ea typeface="Calibri" panose="020F0502020204030204" pitchFamily="34" charset="0"/>
                <a:cs typeface="Calibri" panose="020F0502020204030204" pitchFamily="34" charset="0"/>
              </a:rPr>
              <a:t>Cheat Sheet</a:t>
            </a:r>
            <a:endParaRPr lang="en-US" sz="1800" i="1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48ECB-B2FF-0391-01DF-F69694305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980" y="1650558"/>
            <a:ext cx="6316407" cy="1141745"/>
          </a:xfrm>
          <a:ln w="190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400" b="1" dirty="0"/>
              <a:t>Pr</a:t>
            </a:r>
            <a:r>
              <a:rPr lang="en-US" sz="1400" dirty="0"/>
              <a:t>oblem framing: </a:t>
            </a:r>
            <a:r>
              <a:rPr lang="en-US" sz="1200" dirty="0"/>
              <a:t>Creates an explicit and shared understanding of the problem</a:t>
            </a:r>
            <a:endParaRPr lang="en-US" sz="1400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u="sng" dirty="0"/>
              <a:t>Secret Formula:</a:t>
            </a:r>
            <a:r>
              <a:rPr lang="en-US" sz="1100" dirty="0"/>
              <a:t> 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“Decision Maker (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is trying to do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to achieve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Y 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over time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Z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in place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W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considering </a:t>
            </a:r>
            <a:r>
              <a:rPr lang="en-US" sz="11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</a:t>
            </a:r>
            <a:r>
              <a:rPr lang="en-US" sz="11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dirty="0"/>
              <a:t>  </a:t>
            </a:r>
            <a:r>
              <a:rPr lang="en-US" sz="1100" b="1" dirty="0"/>
              <a:t> D </a:t>
            </a:r>
            <a:r>
              <a:rPr lang="en-US" sz="1100" dirty="0"/>
              <a:t>= decision maker(s)      </a:t>
            </a:r>
            <a:r>
              <a:rPr lang="en-US" sz="1100" b="1" dirty="0"/>
              <a:t>X </a:t>
            </a:r>
            <a:r>
              <a:rPr lang="en-US" sz="1100" dirty="0"/>
              <a:t>= type(s) of action that needs to be taken     </a:t>
            </a:r>
            <a:r>
              <a:rPr lang="en-US" sz="1100" b="1" dirty="0"/>
              <a:t>Y</a:t>
            </a:r>
            <a:r>
              <a:rPr lang="en-US" sz="1100" dirty="0"/>
              <a:t> = ultimate goal(s)    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dirty="0"/>
              <a:t>   </a:t>
            </a:r>
            <a:r>
              <a:rPr lang="en-US" sz="1100" b="1" dirty="0"/>
              <a:t>Z</a:t>
            </a:r>
            <a:r>
              <a:rPr lang="en-US" sz="1100" dirty="0"/>
              <a:t> = temporal extent of the decision problem     </a:t>
            </a:r>
            <a:r>
              <a:rPr lang="en-US" sz="1100" b="1" dirty="0"/>
              <a:t>W </a:t>
            </a:r>
            <a:r>
              <a:rPr lang="en-US" sz="1100" dirty="0"/>
              <a:t>= spatial extent of the decision problem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100" dirty="0"/>
              <a:t>   </a:t>
            </a:r>
            <a:r>
              <a:rPr lang="en-US" sz="1100" b="1" dirty="0"/>
              <a:t>B</a:t>
            </a:r>
            <a:r>
              <a:rPr lang="en-US" sz="1100" dirty="0"/>
              <a:t> = potential constraints (legal, financial, etc.) and important uncertainties (scientific or other)</a:t>
            </a:r>
            <a:endParaRPr lang="en-US" sz="1100" b="1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3DBB054-5F3B-FDA0-10F9-8458B1D32A02}"/>
              </a:ext>
            </a:extLst>
          </p:cNvPr>
          <p:cNvSpPr txBox="1">
            <a:spLocks/>
          </p:cNvSpPr>
          <p:nvPr/>
        </p:nvSpPr>
        <p:spPr>
          <a:xfrm>
            <a:off x="184284" y="2888151"/>
            <a:ext cx="6310112" cy="192455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US" sz="1500" b="1" dirty="0"/>
              <a:t>O</a:t>
            </a:r>
            <a:r>
              <a:rPr lang="en-US" sz="1500" dirty="0"/>
              <a:t>bjectives: </a:t>
            </a:r>
            <a:r>
              <a:rPr lang="en-US" sz="1300" dirty="0"/>
              <a:t>What the decision maker cares about and wants to achieve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ym typeface="Wingdings" panose="05000000000000000000" pitchFamily="2" charset="2"/>
              </a:rPr>
              <a:t>Pieces of an objective =  direction (minimize or maximize) + the ‘wants’ + attribute (the units)</a:t>
            </a:r>
            <a:endParaRPr lang="en-US" sz="1200" u="sng" dirty="0"/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200" u="sng" dirty="0"/>
              <a:t>Steps:</a:t>
            </a:r>
            <a:r>
              <a:rPr lang="en-US" sz="1200" dirty="0"/>
              <a:t> </a:t>
            </a:r>
            <a:r>
              <a:rPr lang="en-US" sz="1200" b="1" dirty="0"/>
              <a:t>1.  </a:t>
            </a:r>
            <a:r>
              <a:rPr lang="en-US" sz="1200" dirty="0"/>
              <a:t>Transform concerns </a:t>
            </a:r>
            <a:r>
              <a:rPr lang="en-US" sz="1200" dirty="0">
                <a:sym typeface="Wingdings" panose="05000000000000000000" pitchFamily="2" charset="2"/>
              </a:rPr>
              <a:t> objectives,  </a:t>
            </a:r>
            <a:r>
              <a:rPr lang="en-US" sz="1200" b="1" dirty="0">
                <a:sym typeface="Wingdings" panose="05000000000000000000" pitchFamily="2" charset="2"/>
              </a:rPr>
              <a:t>2. </a:t>
            </a:r>
            <a:r>
              <a:rPr lang="en-US" sz="1200" dirty="0">
                <a:sym typeface="Wingdings" panose="05000000000000000000" pitchFamily="2" charset="2"/>
              </a:rPr>
              <a:t>Structure objectives (distinguish types),</a:t>
            </a:r>
            <a:r>
              <a:rPr lang="en-US" sz="1200" b="1" dirty="0">
                <a:sym typeface="Wingdings" panose="05000000000000000000" pitchFamily="2" charset="2"/>
              </a:rPr>
              <a:t> 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200" b="1" dirty="0">
                <a:sym typeface="Wingdings" panose="05000000000000000000" pitchFamily="2" charset="2"/>
              </a:rPr>
              <a:t>               3. </a:t>
            </a:r>
            <a:r>
              <a:rPr lang="en-US" sz="1200" dirty="0">
                <a:sym typeface="Wingdings" panose="05000000000000000000" pitchFamily="2" charset="2"/>
              </a:rPr>
              <a:t>Develop measurable attributes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>
                <a:sym typeface="Wingdings" panose="05000000000000000000" pitchFamily="2" charset="2"/>
              </a:rPr>
              <a:t>1. </a:t>
            </a:r>
            <a:r>
              <a:rPr lang="en-US" sz="1200" i="1" dirty="0">
                <a:sym typeface="Wingdings" panose="05000000000000000000" pitchFamily="2" charset="2"/>
              </a:rPr>
              <a:t>Example: </a:t>
            </a:r>
            <a:r>
              <a:rPr lang="en-US" sz="1200" dirty="0">
                <a:sym typeface="Wingdings" panose="05000000000000000000" pitchFamily="2" charset="2"/>
              </a:rPr>
              <a:t>Concern = I don’t have enough money for the project  Objective = minimize cost</a:t>
            </a:r>
            <a:endParaRPr lang="en-US" sz="1200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2. </a:t>
            </a:r>
            <a:r>
              <a:rPr lang="en-US" sz="1200" dirty="0"/>
              <a:t>Types of objectives:  - </a:t>
            </a:r>
            <a:r>
              <a:rPr lang="en-US" sz="1200" i="1" dirty="0"/>
              <a:t>Fundamental</a:t>
            </a:r>
            <a:r>
              <a:rPr lang="en-US" sz="1200" dirty="0"/>
              <a:t> (basic reason for caring about the decision)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                                                 </a:t>
            </a:r>
            <a:r>
              <a:rPr lang="en-US" sz="1200" dirty="0"/>
              <a:t>-</a:t>
            </a:r>
            <a:r>
              <a:rPr lang="en-US" sz="1200" b="1" dirty="0"/>
              <a:t> </a:t>
            </a:r>
            <a:r>
              <a:rPr lang="en-US" sz="1200" i="1" dirty="0"/>
              <a:t>Means</a:t>
            </a:r>
            <a:r>
              <a:rPr lang="en-US" sz="1200" dirty="0"/>
              <a:t> (intermediate objective to achieve fundamental)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dirty="0"/>
              <a:t>                                                 - </a:t>
            </a:r>
            <a:r>
              <a:rPr lang="en-US" sz="1200" i="1" dirty="0"/>
              <a:t>Process</a:t>
            </a:r>
            <a:r>
              <a:rPr lang="en-US" sz="1200" dirty="0"/>
              <a:t> (concern for </a:t>
            </a:r>
            <a:r>
              <a:rPr lang="en-US" sz="1200" i="1" dirty="0"/>
              <a:t>how</a:t>
            </a:r>
            <a:r>
              <a:rPr lang="en-US" sz="1200" dirty="0"/>
              <a:t> the decision is made) </a:t>
            </a:r>
            <a:endParaRPr lang="en-US" sz="1200" b="1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                                                 - </a:t>
            </a:r>
            <a:r>
              <a:rPr lang="en-US" sz="1200" i="1" dirty="0"/>
              <a:t>Strategic</a:t>
            </a:r>
            <a:r>
              <a:rPr lang="en-US" sz="1200" dirty="0"/>
              <a:t> (higher level/ agency mandate)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200" b="1" dirty="0"/>
              <a:t> 3. </a:t>
            </a:r>
            <a:r>
              <a:rPr lang="en-US" sz="1200" dirty="0"/>
              <a:t>Measurable attributes: how you measure an objective</a:t>
            </a:r>
            <a:r>
              <a:rPr lang="en-US" sz="1200" b="1" dirty="0"/>
              <a:t> </a:t>
            </a:r>
            <a:r>
              <a:rPr lang="en-US" sz="1200" dirty="0"/>
              <a:t>(</a:t>
            </a:r>
            <a:r>
              <a:rPr lang="en-US" sz="1200" i="1" dirty="0"/>
              <a:t>natural</a:t>
            </a:r>
            <a:r>
              <a:rPr lang="en-US" sz="1200" dirty="0"/>
              <a:t>, </a:t>
            </a:r>
            <a:r>
              <a:rPr lang="en-US" sz="1200" i="1" dirty="0"/>
              <a:t>constructed</a:t>
            </a:r>
            <a:r>
              <a:rPr lang="en-US" sz="1200" dirty="0"/>
              <a:t>, or </a:t>
            </a:r>
            <a:r>
              <a:rPr lang="en-US" sz="1200" i="1" dirty="0"/>
              <a:t>proxy</a:t>
            </a:r>
            <a:r>
              <a:rPr lang="en-US" sz="1200" dirty="0"/>
              <a:t> scales)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</a:t>
            </a:r>
            <a:r>
              <a:rPr lang="en-US" sz="1200" i="1" dirty="0"/>
              <a:t>Natural</a:t>
            </a:r>
            <a:r>
              <a:rPr lang="en-US" sz="1200" dirty="0"/>
              <a:t> = directly measurable, </a:t>
            </a:r>
            <a:r>
              <a:rPr lang="en-US" sz="1200" i="1" dirty="0"/>
              <a:t>Constructed</a:t>
            </a:r>
            <a:r>
              <a:rPr lang="en-US" sz="1200" dirty="0"/>
              <a:t> = sliding/ relative scale, </a:t>
            </a:r>
            <a:r>
              <a:rPr lang="en-US" sz="1200" i="1" dirty="0"/>
              <a:t>Proxy</a:t>
            </a:r>
            <a:r>
              <a:rPr lang="en-US" sz="1200" dirty="0"/>
              <a:t> = correlated with objective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AEA1790-D029-AF8F-71D2-C05CE5237262}"/>
              </a:ext>
            </a:extLst>
          </p:cNvPr>
          <p:cNvSpPr txBox="1">
            <a:spLocks/>
          </p:cNvSpPr>
          <p:nvPr/>
        </p:nvSpPr>
        <p:spPr>
          <a:xfrm>
            <a:off x="182980" y="4908552"/>
            <a:ext cx="6310111" cy="109998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/>
              <a:t>A</a:t>
            </a:r>
            <a:r>
              <a:rPr lang="en-US" sz="1400" dirty="0"/>
              <a:t>lternatives: </a:t>
            </a:r>
            <a:r>
              <a:rPr lang="en-US" sz="1200" dirty="0"/>
              <a:t>The options for the decision maker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u="sng" dirty="0"/>
              <a:t>Tips:</a:t>
            </a:r>
            <a:r>
              <a:rPr lang="en-US" sz="1100" dirty="0"/>
              <a:t> Brainstorm, challenge assumptions and constraints,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dirty="0"/>
              <a:t>           work independently then as a group, revisit objectives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1100" u="sng" dirty="0"/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u="sng" dirty="0"/>
              <a:t>Strategy table: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dirty="0"/>
              <a:t> </a:t>
            </a:r>
            <a:r>
              <a:rPr lang="en-US" sz="1100" i="1" dirty="0"/>
              <a:t>Example</a:t>
            </a:r>
            <a:r>
              <a:rPr lang="en-US" sz="1100" dirty="0"/>
              <a:t> </a:t>
            </a:r>
            <a:r>
              <a:rPr lang="en-US" sz="1100" i="1" dirty="0"/>
              <a:t>alternative/strategy</a:t>
            </a:r>
            <a:r>
              <a:rPr lang="en-US" sz="1100" dirty="0"/>
              <a:t>: Action 1A + Action 2C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2BF0118-5545-E0C0-C4A3-3B1D635B5132}"/>
              </a:ext>
            </a:extLst>
          </p:cNvPr>
          <p:cNvSpPr txBox="1">
            <a:spLocks/>
          </p:cNvSpPr>
          <p:nvPr/>
        </p:nvSpPr>
        <p:spPr>
          <a:xfrm>
            <a:off x="192892" y="6086154"/>
            <a:ext cx="6310110" cy="128704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b="1" dirty="0"/>
              <a:t>C</a:t>
            </a:r>
            <a:r>
              <a:rPr lang="en-US" sz="1400" dirty="0"/>
              <a:t>onsequences</a:t>
            </a:r>
            <a:r>
              <a:rPr lang="en-US" sz="1600" dirty="0"/>
              <a:t>: </a:t>
            </a:r>
            <a:r>
              <a:rPr lang="en-US" sz="1200" dirty="0"/>
              <a:t>measures alternatives (Alt) in terms of objectives (Obj)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u="sng" dirty="0"/>
              <a:t>Tools:</a:t>
            </a:r>
            <a:r>
              <a:rPr lang="en-US" sz="1100" dirty="0"/>
              <a:t> modeling, experts, consequence tables,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100" dirty="0"/>
              <a:t>              influence diagrams: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68F443B-6D4F-3ACA-29CE-E13E0E0256CB}"/>
              </a:ext>
            </a:extLst>
          </p:cNvPr>
          <p:cNvSpPr txBox="1">
            <a:spLocks/>
          </p:cNvSpPr>
          <p:nvPr/>
        </p:nvSpPr>
        <p:spPr>
          <a:xfrm>
            <a:off x="192892" y="7483329"/>
            <a:ext cx="6310111" cy="136058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500" b="1" dirty="0"/>
              <a:t>T</a:t>
            </a:r>
            <a:r>
              <a:rPr lang="en-US" sz="1500" dirty="0"/>
              <a:t>radeoffs:</a:t>
            </a:r>
            <a:r>
              <a:rPr lang="en-US" sz="1300" dirty="0"/>
              <a:t> giving up on one objective to make gains in another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u="sng" dirty="0"/>
              <a:t>Tips:</a:t>
            </a:r>
            <a:r>
              <a:rPr lang="en-US" sz="1200" dirty="0"/>
              <a:t> remove irrelevant objectives (performance does not vary over Alts),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remove dominated alternatives (another Alt better on all/some </a:t>
            </a:r>
            <a:r>
              <a:rPr lang="en-US" sz="1200" dirty="0" err="1"/>
              <a:t>Objs</a:t>
            </a:r>
            <a:r>
              <a:rPr lang="en-US" sz="1200" dirty="0"/>
              <a:t>),  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make even swaps (if two </a:t>
            </a:r>
            <a:r>
              <a:rPr lang="en-US" sz="1200" dirty="0" err="1"/>
              <a:t>Objs</a:t>
            </a:r>
            <a:r>
              <a:rPr lang="en-US" sz="1200" dirty="0"/>
              <a:t> are in the same unit </a:t>
            </a:r>
            <a:r>
              <a:rPr lang="en-US" sz="1200" dirty="0">
                <a:sym typeface="Wingdings" panose="05000000000000000000" pitchFamily="2" charset="2"/>
              </a:rPr>
              <a:t> combine)</a:t>
            </a:r>
            <a:endParaRPr lang="en-US" sz="1200" u="sng" dirty="0"/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u="sng" dirty="0"/>
              <a:t>Tools:</a:t>
            </a:r>
            <a:r>
              <a:rPr lang="en-US" sz="1200" dirty="0"/>
              <a:t> - Multi Criteria Decision Analysis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     (tools to weight objectives and calculate scores of alternatives)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  -  Pareto frontier analysis (identify dominated solutions, 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lang="en-US" sz="1200" dirty="0"/>
              <a:t>                  best with two objectives)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DC084B8-EA53-16CA-2DA1-6F35548DB930}"/>
              </a:ext>
            </a:extLst>
          </p:cNvPr>
          <p:cNvSpPr txBox="1">
            <a:spLocks/>
          </p:cNvSpPr>
          <p:nvPr/>
        </p:nvSpPr>
        <p:spPr>
          <a:xfrm>
            <a:off x="106038" y="8808175"/>
            <a:ext cx="6292900" cy="42765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dirty="0"/>
              <a:t>*Adaptive management = special type of SDM involving learning and iterative decisions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38C6A3-9B0B-2F6C-EC7D-BCC11BDCA50E}"/>
              </a:ext>
            </a:extLst>
          </p:cNvPr>
          <p:cNvSpPr txBox="1"/>
          <p:nvPr/>
        </p:nvSpPr>
        <p:spPr>
          <a:xfrm>
            <a:off x="365263" y="676527"/>
            <a:ext cx="59880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2 key elements of SDM: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40B828-0B03-6FC1-D7E5-683A3C43E3D4}"/>
              </a:ext>
            </a:extLst>
          </p:cNvPr>
          <p:cNvSpPr txBox="1"/>
          <p:nvPr/>
        </p:nvSpPr>
        <p:spPr>
          <a:xfrm>
            <a:off x="365264" y="874436"/>
            <a:ext cx="19452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1. Values-focused</a:t>
            </a:r>
          </a:p>
          <a:p>
            <a:r>
              <a:rPr lang="en-US" sz="1100" dirty="0"/>
              <a:t>▪ Objectives discussed first</a:t>
            </a:r>
          </a:p>
          <a:p>
            <a:r>
              <a:rPr lang="en-US" sz="1100" dirty="0"/>
              <a:t>▪ Contrasts with alternative-</a:t>
            </a:r>
          </a:p>
          <a:p>
            <a:r>
              <a:rPr lang="en-US" sz="1100" dirty="0"/>
              <a:t>    focused methods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C44DE1-5280-82BF-B0DC-9903BBBDA455}"/>
              </a:ext>
            </a:extLst>
          </p:cNvPr>
          <p:cNvSpPr txBox="1"/>
          <p:nvPr/>
        </p:nvSpPr>
        <p:spPr>
          <a:xfrm>
            <a:off x="2187360" y="874437"/>
            <a:ext cx="41788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2. Problem decomposition (</a:t>
            </a:r>
            <a:r>
              <a:rPr lang="en-US" sz="1100" b="1" dirty="0" err="1"/>
              <a:t>PrOACT</a:t>
            </a:r>
            <a:r>
              <a:rPr lang="en-US" sz="1100" b="1" dirty="0"/>
              <a:t>)</a:t>
            </a:r>
          </a:p>
          <a:p>
            <a:r>
              <a:rPr lang="en-US" sz="1100" dirty="0"/>
              <a:t>▪ Break problem into components, separating science from values</a:t>
            </a:r>
          </a:p>
          <a:p>
            <a:r>
              <a:rPr lang="en-US" sz="1100" dirty="0"/>
              <a:t>▪ Complete relevant analysis</a:t>
            </a:r>
          </a:p>
          <a:p>
            <a:r>
              <a:rPr lang="en-US" sz="1100" dirty="0"/>
              <a:t>▪ Recompose the parts to make a decision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452247-F17D-263A-31B4-278FD2A5FE7C}"/>
              </a:ext>
            </a:extLst>
          </p:cNvPr>
          <p:cNvSpPr/>
          <p:nvPr/>
        </p:nvSpPr>
        <p:spPr>
          <a:xfrm>
            <a:off x="4174163" y="368930"/>
            <a:ext cx="262597" cy="2316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395656-AE1B-C9BA-1830-4FFD8AA53693}"/>
              </a:ext>
            </a:extLst>
          </p:cNvPr>
          <p:cNvSpPr/>
          <p:nvPr/>
        </p:nvSpPr>
        <p:spPr>
          <a:xfrm>
            <a:off x="4604989" y="364413"/>
            <a:ext cx="262597" cy="2362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FE4287-2B3A-FD8C-E940-873769F0F6A5}"/>
              </a:ext>
            </a:extLst>
          </p:cNvPr>
          <p:cNvSpPr/>
          <p:nvPr/>
        </p:nvSpPr>
        <p:spPr>
          <a:xfrm>
            <a:off x="5032115" y="370230"/>
            <a:ext cx="262597" cy="2316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D54483-3E36-A082-CEB7-E94A7275B460}"/>
              </a:ext>
            </a:extLst>
          </p:cNvPr>
          <p:cNvSpPr/>
          <p:nvPr/>
        </p:nvSpPr>
        <p:spPr>
          <a:xfrm>
            <a:off x="5459241" y="364413"/>
            <a:ext cx="262597" cy="2316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2C3BD4-DAC0-3188-0FAE-CDB82C3F7F24}"/>
              </a:ext>
            </a:extLst>
          </p:cNvPr>
          <p:cNvCxnSpPr>
            <a:cxnSpLocks/>
            <a:stCxn id="26" idx="3"/>
            <a:endCxn id="22" idx="1"/>
          </p:cNvCxnSpPr>
          <p:nvPr/>
        </p:nvCxnSpPr>
        <p:spPr>
          <a:xfrm>
            <a:off x="4010954" y="481025"/>
            <a:ext cx="163209" cy="3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5A34F58-A3FD-C25D-DAB9-AD6C01919D12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4436760" y="482520"/>
            <a:ext cx="168229" cy="22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47B1477-6EF9-756B-879F-C71C674391E1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4867586" y="482520"/>
            <a:ext cx="164529" cy="3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565BC85-57F4-4F07-698B-88E29A2DC06E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5294712" y="480262"/>
            <a:ext cx="164529" cy="58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771D6DD-358E-34A5-ACBE-D249E48E55B3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5721838" y="480262"/>
            <a:ext cx="1645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90A72DF-EF09-2713-7A2B-5DF8201C6904}"/>
              </a:ext>
            </a:extLst>
          </p:cNvPr>
          <p:cNvSpPr/>
          <p:nvPr/>
        </p:nvSpPr>
        <p:spPr>
          <a:xfrm>
            <a:off x="5744456" y="384519"/>
            <a:ext cx="747422" cy="231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chemeClr val="tx1"/>
                </a:solidFill>
              </a:rPr>
              <a:t>Decide</a:t>
            </a:r>
          </a:p>
          <a:p>
            <a:pPr algn="ctr"/>
            <a:r>
              <a:rPr lang="en-US" sz="1100" i="1" dirty="0">
                <a:solidFill>
                  <a:schemeClr val="tx1"/>
                </a:solidFill>
              </a:rPr>
              <a:t>&amp; Act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5601B47-0FB7-7B9F-E00A-43E7FDF4D5D3}"/>
              </a:ext>
            </a:extLst>
          </p:cNvPr>
          <p:cNvCxnSpPr>
            <a:cxnSpLocks/>
          </p:cNvCxnSpPr>
          <p:nvPr/>
        </p:nvCxnSpPr>
        <p:spPr>
          <a:xfrm>
            <a:off x="365264" y="874437"/>
            <a:ext cx="6000920" cy="517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B2729CF-1480-7933-DF5C-32DE52600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104676"/>
              </p:ext>
            </p:extLst>
          </p:nvPr>
        </p:nvGraphicFramePr>
        <p:xfrm>
          <a:off x="4318151" y="4948827"/>
          <a:ext cx="202018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870">
                  <a:extLst>
                    <a:ext uri="{9D8B030D-6E8A-4147-A177-3AD203B41FA5}">
                      <a16:colId xmlns:a16="http://schemas.microsoft.com/office/drawing/2014/main" val="3093360093"/>
                    </a:ext>
                  </a:extLst>
                </a:gridCol>
                <a:gridCol w="893135">
                  <a:extLst>
                    <a:ext uri="{9D8B030D-6E8A-4147-A177-3AD203B41FA5}">
                      <a16:colId xmlns:a16="http://schemas.microsoft.com/office/drawing/2014/main" val="3428608571"/>
                    </a:ext>
                  </a:extLst>
                </a:gridCol>
                <a:gridCol w="255181">
                  <a:extLst>
                    <a:ext uri="{9D8B030D-6E8A-4147-A177-3AD203B41FA5}">
                      <a16:colId xmlns:a16="http://schemas.microsoft.com/office/drawing/2014/main" val="3407505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Objective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Objective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37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Action 1A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Action 2A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737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Action 1B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Action 2B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10154"/>
                  </a:ext>
                </a:extLst>
              </a:tr>
              <a:tr h="242557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Action 1C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Action 2C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138797"/>
                  </a:ext>
                </a:extLst>
              </a:tr>
            </a:tbl>
          </a:graphicData>
        </a:graphic>
      </p:graphicFrame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C8BE05A-38B4-D4A5-77CD-31F232894D33}"/>
              </a:ext>
            </a:extLst>
          </p:cNvPr>
          <p:cNvCxnSpPr/>
          <p:nvPr/>
        </p:nvCxnSpPr>
        <p:spPr>
          <a:xfrm>
            <a:off x="1206877" y="5653083"/>
            <a:ext cx="295652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 93">
            <a:extLst>
              <a:ext uri="{FF2B5EF4-FFF2-40B4-BE49-F238E27FC236}">
                <a16:creationId xmlns:a16="http://schemas.microsoft.com/office/drawing/2014/main" id="{74BD6D68-9EE5-D973-DA43-1CF70E37A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52595"/>
              </p:ext>
            </p:extLst>
          </p:nvPr>
        </p:nvGraphicFramePr>
        <p:xfrm>
          <a:off x="3934655" y="6390096"/>
          <a:ext cx="246371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20">
                  <a:extLst>
                    <a:ext uri="{9D8B030D-6E8A-4147-A177-3AD203B41FA5}">
                      <a16:colId xmlns:a16="http://schemas.microsoft.com/office/drawing/2014/main" val="3093360093"/>
                    </a:ext>
                  </a:extLst>
                </a:gridCol>
                <a:gridCol w="991386">
                  <a:extLst>
                    <a:ext uri="{9D8B030D-6E8A-4147-A177-3AD203B41FA5}">
                      <a16:colId xmlns:a16="http://schemas.microsoft.com/office/drawing/2014/main" val="3428608571"/>
                    </a:ext>
                  </a:extLst>
                </a:gridCol>
                <a:gridCol w="1014907">
                  <a:extLst>
                    <a:ext uri="{9D8B030D-6E8A-4147-A177-3AD203B41FA5}">
                      <a16:colId xmlns:a16="http://schemas.microsoft.com/office/drawing/2014/main" val="3407505222"/>
                    </a:ext>
                  </a:extLst>
                </a:gridCol>
              </a:tblGrid>
              <a:tr h="20605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37531"/>
                  </a:ext>
                </a:extLst>
              </a:tr>
              <a:tr h="190119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1outcome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Obj 2 outcome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737752"/>
                  </a:ext>
                </a:extLst>
              </a:tr>
              <a:tr h="206055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310154"/>
                  </a:ext>
                </a:extLst>
              </a:tr>
              <a:tr h="154541"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6138797"/>
                  </a:ext>
                </a:extLst>
              </a:tr>
            </a:tbl>
          </a:graphicData>
        </a:graphic>
      </p:graphicFrame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4E762F1-EFA9-AC5B-2AEA-16F9D5DB6A01}"/>
              </a:ext>
            </a:extLst>
          </p:cNvPr>
          <p:cNvCxnSpPr>
            <a:cxnSpLocks/>
          </p:cNvCxnSpPr>
          <p:nvPr/>
        </p:nvCxnSpPr>
        <p:spPr>
          <a:xfrm>
            <a:off x="3098901" y="6481543"/>
            <a:ext cx="78075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E5E998A6-055B-351C-BD1B-18BC4CEF0C41}"/>
              </a:ext>
            </a:extLst>
          </p:cNvPr>
          <p:cNvSpPr txBox="1"/>
          <p:nvPr/>
        </p:nvSpPr>
        <p:spPr>
          <a:xfrm>
            <a:off x="2782838" y="6771792"/>
            <a:ext cx="3828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i1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AC1870B-DBEE-7255-E6BB-574F29ECB6C2}"/>
              </a:ext>
            </a:extLst>
          </p:cNvPr>
          <p:cNvSpPr/>
          <p:nvPr/>
        </p:nvSpPr>
        <p:spPr>
          <a:xfrm>
            <a:off x="1923957" y="6736421"/>
            <a:ext cx="1865089" cy="5886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Hexagon 172">
            <a:extLst>
              <a:ext uri="{FF2B5EF4-FFF2-40B4-BE49-F238E27FC236}">
                <a16:creationId xmlns:a16="http://schemas.microsoft.com/office/drawing/2014/main" id="{947F8289-8DE1-BEEB-7554-563AB56E2B9E}"/>
              </a:ext>
            </a:extLst>
          </p:cNvPr>
          <p:cNvSpPr/>
          <p:nvPr/>
        </p:nvSpPr>
        <p:spPr>
          <a:xfrm>
            <a:off x="3312603" y="6810277"/>
            <a:ext cx="419100" cy="198156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F6634A14-4A40-AFAC-3A7A-86634FAF2A5E}"/>
              </a:ext>
            </a:extLst>
          </p:cNvPr>
          <p:cNvSpPr/>
          <p:nvPr/>
        </p:nvSpPr>
        <p:spPr>
          <a:xfrm>
            <a:off x="2780633" y="6835981"/>
            <a:ext cx="261939" cy="1414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EAC85B8-C6C5-7C5B-EF32-97CCC61B61EC}"/>
              </a:ext>
            </a:extLst>
          </p:cNvPr>
          <p:cNvSpPr txBox="1"/>
          <p:nvPr/>
        </p:nvSpPr>
        <p:spPr>
          <a:xfrm>
            <a:off x="3303441" y="6784501"/>
            <a:ext cx="5012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Obj1</a:t>
            </a:r>
          </a:p>
        </p:txBody>
      </p:sp>
      <p:sp>
        <p:nvSpPr>
          <p:cNvPr id="176" name="Hexagon 175">
            <a:extLst>
              <a:ext uri="{FF2B5EF4-FFF2-40B4-BE49-F238E27FC236}">
                <a16:creationId xmlns:a16="http://schemas.microsoft.com/office/drawing/2014/main" id="{B9446224-5C56-D8E9-8C89-7852F9E6038F}"/>
              </a:ext>
            </a:extLst>
          </p:cNvPr>
          <p:cNvSpPr/>
          <p:nvPr/>
        </p:nvSpPr>
        <p:spPr>
          <a:xfrm>
            <a:off x="3317057" y="7066829"/>
            <a:ext cx="419100" cy="198156"/>
          </a:xfrm>
          <a:prstGeom prst="hexag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81162E6-96E2-E3E4-B1EF-802B9FD29C0C}"/>
              </a:ext>
            </a:extLst>
          </p:cNvPr>
          <p:cNvSpPr txBox="1"/>
          <p:nvPr/>
        </p:nvSpPr>
        <p:spPr>
          <a:xfrm>
            <a:off x="3296552" y="7036495"/>
            <a:ext cx="5012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Obj2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4923536-278A-5A92-ABE3-6ECA39714749}"/>
              </a:ext>
            </a:extLst>
          </p:cNvPr>
          <p:cNvSpPr/>
          <p:nvPr/>
        </p:nvSpPr>
        <p:spPr>
          <a:xfrm>
            <a:off x="1985369" y="6807612"/>
            <a:ext cx="419100" cy="19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Alt1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0134BEE-D06D-1740-41F2-1F50F110A8C5}"/>
              </a:ext>
            </a:extLst>
          </p:cNvPr>
          <p:cNvSpPr/>
          <p:nvPr/>
        </p:nvSpPr>
        <p:spPr>
          <a:xfrm>
            <a:off x="1985369" y="7062081"/>
            <a:ext cx="419100" cy="1981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Alt2</a:t>
            </a: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92B9EB92-694A-425D-423E-79DF788FA659}"/>
              </a:ext>
            </a:extLst>
          </p:cNvPr>
          <p:cNvSpPr/>
          <p:nvPr/>
        </p:nvSpPr>
        <p:spPr>
          <a:xfrm>
            <a:off x="2516745" y="7116102"/>
            <a:ext cx="315465" cy="17638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94549E0-5A94-0A58-39EA-B9DBE8F00CF0}"/>
              </a:ext>
            </a:extLst>
          </p:cNvPr>
          <p:cNvSpPr txBox="1"/>
          <p:nvPr/>
        </p:nvSpPr>
        <p:spPr>
          <a:xfrm>
            <a:off x="2530825" y="7077760"/>
            <a:ext cx="3828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s1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10E6C77B-BEB7-BFD0-E194-C8B282227443}"/>
              </a:ext>
            </a:extLst>
          </p:cNvPr>
          <p:cNvSpPr/>
          <p:nvPr/>
        </p:nvSpPr>
        <p:spPr>
          <a:xfrm>
            <a:off x="2940510" y="7143263"/>
            <a:ext cx="261939" cy="1414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67C16AE-7935-FC53-4273-8D8DCF5EAA3E}"/>
              </a:ext>
            </a:extLst>
          </p:cNvPr>
          <p:cNvSpPr txBox="1"/>
          <p:nvPr/>
        </p:nvSpPr>
        <p:spPr>
          <a:xfrm>
            <a:off x="589181" y="6690689"/>
            <a:ext cx="13902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s = stochastic factor  </a:t>
            </a:r>
          </a:p>
          <a:p>
            <a:r>
              <a:rPr lang="en-US" sz="1000" dirty="0"/>
              <a:t>       (e.g., weather)</a:t>
            </a:r>
          </a:p>
          <a:p>
            <a:r>
              <a:rPr lang="en-US" sz="1000" dirty="0" err="1"/>
              <a:t>i</a:t>
            </a:r>
            <a:r>
              <a:rPr lang="en-US" sz="1000" dirty="0"/>
              <a:t> = intermediate factor </a:t>
            </a:r>
          </a:p>
          <a:p>
            <a:r>
              <a:rPr lang="en-US" sz="1000" dirty="0"/>
              <a:t>      (e.g., predation) 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3D0FE059-3A84-0164-0D31-E00EC9D8E426}"/>
              </a:ext>
            </a:extLst>
          </p:cNvPr>
          <p:cNvCxnSpPr>
            <a:cxnSpLocks/>
            <a:stCxn id="178" idx="3"/>
            <a:endCxn id="174" idx="1"/>
          </p:cNvCxnSpPr>
          <p:nvPr/>
        </p:nvCxnSpPr>
        <p:spPr>
          <a:xfrm>
            <a:off x="2404469" y="6906690"/>
            <a:ext cx="3761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A936B8C3-EF0B-66D7-3E3F-AC115E5BB09B}"/>
              </a:ext>
            </a:extLst>
          </p:cNvPr>
          <p:cNvCxnSpPr>
            <a:cxnSpLocks/>
            <a:stCxn id="174" idx="3"/>
            <a:endCxn id="173" idx="3"/>
          </p:cNvCxnSpPr>
          <p:nvPr/>
        </p:nvCxnSpPr>
        <p:spPr>
          <a:xfrm>
            <a:off x="3042572" y="6906690"/>
            <a:ext cx="270031" cy="2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4EAC3AAC-50B5-C99D-15B5-0C10FA6A1602}"/>
              </a:ext>
            </a:extLst>
          </p:cNvPr>
          <p:cNvCxnSpPr>
            <a:cxnSpLocks/>
            <a:stCxn id="180" idx="6"/>
            <a:endCxn id="182" idx="1"/>
          </p:cNvCxnSpPr>
          <p:nvPr/>
        </p:nvCxnSpPr>
        <p:spPr>
          <a:xfrm>
            <a:off x="2832210" y="7204297"/>
            <a:ext cx="108300" cy="96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08F87DD3-F6F6-4253-1AE4-B98FBD8F1CC5}"/>
              </a:ext>
            </a:extLst>
          </p:cNvPr>
          <p:cNvCxnSpPr>
            <a:cxnSpLocks/>
            <a:stCxn id="182" idx="3"/>
            <a:endCxn id="176" idx="3"/>
          </p:cNvCxnSpPr>
          <p:nvPr/>
        </p:nvCxnSpPr>
        <p:spPr>
          <a:xfrm flipV="1">
            <a:off x="3202449" y="7165907"/>
            <a:ext cx="114608" cy="480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15CEC303-EC6F-1858-6EFE-BA8DC3FD4B1A}"/>
              </a:ext>
            </a:extLst>
          </p:cNvPr>
          <p:cNvSpPr txBox="1"/>
          <p:nvPr/>
        </p:nvSpPr>
        <p:spPr>
          <a:xfrm>
            <a:off x="2927357" y="7094911"/>
            <a:ext cx="38281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i2</a:t>
            </a:r>
          </a:p>
        </p:txBody>
      </p: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A539DC87-F66D-C5E1-F1CD-BAC82E6C1932}"/>
              </a:ext>
            </a:extLst>
          </p:cNvPr>
          <p:cNvCxnSpPr>
            <a:cxnSpLocks/>
          </p:cNvCxnSpPr>
          <p:nvPr/>
        </p:nvCxnSpPr>
        <p:spPr>
          <a:xfrm>
            <a:off x="1894936" y="6616567"/>
            <a:ext cx="107354" cy="11369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F27CE03-5E3F-D4F3-9A69-BF7E0281D45F}"/>
              </a:ext>
            </a:extLst>
          </p:cNvPr>
          <p:cNvSpPr/>
          <p:nvPr/>
        </p:nvSpPr>
        <p:spPr>
          <a:xfrm>
            <a:off x="4769723" y="7509719"/>
            <a:ext cx="1660157" cy="12900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5A7764D7-7D7E-036E-8974-D04F97161D54}"/>
              </a:ext>
            </a:extLst>
          </p:cNvPr>
          <p:cNvSpPr txBox="1"/>
          <p:nvPr/>
        </p:nvSpPr>
        <p:spPr>
          <a:xfrm rot="16200000">
            <a:off x="4308181" y="8110809"/>
            <a:ext cx="11476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Obj1(maximize)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CB0D8B1-E1BE-885C-93BA-664C72062379}"/>
              </a:ext>
            </a:extLst>
          </p:cNvPr>
          <p:cNvSpPr txBox="1"/>
          <p:nvPr/>
        </p:nvSpPr>
        <p:spPr>
          <a:xfrm>
            <a:off x="5663222" y="7641271"/>
            <a:ext cx="8512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Dominated Alts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41AA4EB3-27BA-4B34-FBBC-AFA7827BF46A}"/>
              </a:ext>
            </a:extLst>
          </p:cNvPr>
          <p:cNvCxnSpPr>
            <a:cxnSpLocks/>
          </p:cNvCxnSpPr>
          <p:nvPr/>
        </p:nvCxnSpPr>
        <p:spPr>
          <a:xfrm flipV="1">
            <a:off x="4991297" y="7780378"/>
            <a:ext cx="0" cy="8181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6C19817C-0CDD-9994-1FA0-C18CC6D78504}"/>
              </a:ext>
            </a:extLst>
          </p:cNvPr>
          <p:cNvCxnSpPr>
            <a:cxnSpLocks/>
          </p:cNvCxnSpPr>
          <p:nvPr/>
        </p:nvCxnSpPr>
        <p:spPr>
          <a:xfrm>
            <a:off x="4977281" y="8611696"/>
            <a:ext cx="13610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B6B7D6CA-125D-E46A-CB61-6EE4F635B4CC}"/>
              </a:ext>
            </a:extLst>
          </p:cNvPr>
          <p:cNvSpPr txBox="1"/>
          <p:nvPr/>
        </p:nvSpPr>
        <p:spPr>
          <a:xfrm rot="2307912">
            <a:off x="4964916" y="7801265"/>
            <a:ext cx="13516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Pareto Front </a:t>
            </a:r>
          </a:p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(non-dominated Alts)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300254E-0CB6-4835-2261-3B5B355F0AEF}"/>
              </a:ext>
            </a:extLst>
          </p:cNvPr>
          <p:cNvSpPr txBox="1"/>
          <p:nvPr/>
        </p:nvSpPr>
        <p:spPr>
          <a:xfrm>
            <a:off x="5369896" y="7470143"/>
            <a:ext cx="135160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Optimal Solution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47B27B1-5FBC-0CBE-FFEE-BF12879C90C5}"/>
              </a:ext>
            </a:extLst>
          </p:cNvPr>
          <p:cNvSpPr txBox="1"/>
          <p:nvPr/>
        </p:nvSpPr>
        <p:spPr>
          <a:xfrm rot="18413530">
            <a:off x="5014779" y="8103588"/>
            <a:ext cx="5591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min(d)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2401B4A6-3E6D-0662-6818-8A919C2CA0B5}"/>
              </a:ext>
            </a:extLst>
          </p:cNvPr>
          <p:cNvSpPr/>
          <p:nvPr/>
        </p:nvSpPr>
        <p:spPr>
          <a:xfrm>
            <a:off x="5849783" y="7866080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1B227639-3394-CB6E-54C0-0466313B95DC}"/>
              </a:ext>
            </a:extLst>
          </p:cNvPr>
          <p:cNvSpPr/>
          <p:nvPr/>
        </p:nvSpPr>
        <p:spPr>
          <a:xfrm>
            <a:off x="6020878" y="8093216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67BD8438-7CA2-8BF8-180C-0EC474776006}"/>
              </a:ext>
            </a:extLst>
          </p:cNvPr>
          <p:cNvSpPr/>
          <p:nvPr/>
        </p:nvSpPr>
        <p:spPr>
          <a:xfrm>
            <a:off x="5662624" y="8345397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9C7E417B-9C5D-8DED-BCEC-37BC4F3B9A68}"/>
              </a:ext>
            </a:extLst>
          </p:cNvPr>
          <p:cNvSpPr/>
          <p:nvPr/>
        </p:nvSpPr>
        <p:spPr>
          <a:xfrm>
            <a:off x="6119842" y="8439565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1B439EC7-CFA0-F285-8B10-D06E72EDB67C}"/>
              </a:ext>
            </a:extLst>
          </p:cNvPr>
          <p:cNvSpPr/>
          <p:nvPr/>
        </p:nvSpPr>
        <p:spPr>
          <a:xfrm>
            <a:off x="6211282" y="7908372"/>
            <a:ext cx="91440" cy="9144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A56EB1EC-1EB2-C5BB-7AF4-DAAA8F9A2915}"/>
              </a:ext>
            </a:extLst>
          </p:cNvPr>
          <p:cNvSpPr/>
          <p:nvPr/>
        </p:nvSpPr>
        <p:spPr>
          <a:xfrm>
            <a:off x="5106442" y="7803036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E30FE194-D8DF-A043-0B05-3354A6304FB8}"/>
              </a:ext>
            </a:extLst>
          </p:cNvPr>
          <p:cNvCxnSpPr>
            <a:stCxn id="227" idx="6"/>
          </p:cNvCxnSpPr>
          <p:nvPr/>
        </p:nvCxnSpPr>
        <p:spPr>
          <a:xfrm>
            <a:off x="5197882" y="7848756"/>
            <a:ext cx="250433" cy="243089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335BE83-32FF-B19C-8AA3-380FBA74F23D}"/>
              </a:ext>
            </a:extLst>
          </p:cNvPr>
          <p:cNvCxnSpPr>
            <a:cxnSpLocks/>
            <a:endCxn id="224" idx="2"/>
          </p:cNvCxnSpPr>
          <p:nvPr/>
        </p:nvCxnSpPr>
        <p:spPr>
          <a:xfrm>
            <a:off x="5512973" y="8156503"/>
            <a:ext cx="149651" cy="234614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73774758-A152-018C-143B-8D5BA3EB6FC1}"/>
              </a:ext>
            </a:extLst>
          </p:cNvPr>
          <p:cNvCxnSpPr>
            <a:cxnSpLocks/>
            <a:stCxn id="224" idx="5"/>
            <a:endCxn id="225" idx="2"/>
          </p:cNvCxnSpPr>
          <p:nvPr/>
        </p:nvCxnSpPr>
        <p:spPr>
          <a:xfrm>
            <a:off x="5740673" y="8423446"/>
            <a:ext cx="379169" cy="61839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6FBD2E39-AE38-4939-8F15-5530DA7804BB}"/>
              </a:ext>
            </a:extLst>
          </p:cNvPr>
          <p:cNvCxnSpPr>
            <a:cxnSpLocks/>
            <a:stCxn id="227" idx="4"/>
          </p:cNvCxnSpPr>
          <p:nvPr/>
        </p:nvCxnSpPr>
        <p:spPr>
          <a:xfrm>
            <a:off x="5152162" y="7894476"/>
            <a:ext cx="0" cy="60014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72E9316F-B60B-F379-55B6-40074FAFFC81}"/>
              </a:ext>
            </a:extLst>
          </p:cNvPr>
          <p:cNvCxnSpPr>
            <a:cxnSpLocks/>
          </p:cNvCxnSpPr>
          <p:nvPr/>
        </p:nvCxnSpPr>
        <p:spPr>
          <a:xfrm flipH="1">
            <a:off x="5148148" y="8498297"/>
            <a:ext cx="985085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ectangle 249">
            <a:extLst>
              <a:ext uri="{FF2B5EF4-FFF2-40B4-BE49-F238E27FC236}">
                <a16:creationId xmlns:a16="http://schemas.microsoft.com/office/drawing/2014/main" id="{CD90FC7B-2F5A-8E60-C05D-FE9F882D7505}"/>
              </a:ext>
            </a:extLst>
          </p:cNvPr>
          <p:cNvSpPr/>
          <p:nvPr/>
        </p:nvSpPr>
        <p:spPr>
          <a:xfrm>
            <a:off x="5113966" y="8446463"/>
            <a:ext cx="91440" cy="804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47ECE2F2-3D17-500C-A047-2275A6AC8958}"/>
              </a:ext>
            </a:extLst>
          </p:cNvPr>
          <p:cNvCxnSpPr>
            <a:cxnSpLocks/>
          </p:cNvCxnSpPr>
          <p:nvPr/>
        </p:nvCxnSpPr>
        <p:spPr>
          <a:xfrm flipH="1">
            <a:off x="5246217" y="8156503"/>
            <a:ext cx="202098" cy="289342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Star: 5 Points 257">
            <a:extLst>
              <a:ext uri="{FF2B5EF4-FFF2-40B4-BE49-F238E27FC236}">
                <a16:creationId xmlns:a16="http://schemas.microsoft.com/office/drawing/2014/main" id="{9F671CAA-5D5E-A22D-463A-8DC5BFCCB74A}"/>
              </a:ext>
            </a:extLst>
          </p:cNvPr>
          <p:cNvSpPr/>
          <p:nvPr/>
        </p:nvSpPr>
        <p:spPr>
          <a:xfrm>
            <a:off x="5343678" y="7548372"/>
            <a:ext cx="64008" cy="6400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D06BF034-ADAF-72C6-E6F3-EE54BDA11D0A}"/>
              </a:ext>
            </a:extLst>
          </p:cNvPr>
          <p:cNvSpPr/>
          <p:nvPr/>
        </p:nvSpPr>
        <p:spPr>
          <a:xfrm>
            <a:off x="5302843" y="7510696"/>
            <a:ext cx="1127037" cy="158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D34EED71-7ACB-D51A-F316-4261DD0FC52D}"/>
              </a:ext>
            </a:extLst>
          </p:cNvPr>
          <p:cNvSpPr/>
          <p:nvPr/>
        </p:nvSpPr>
        <p:spPr>
          <a:xfrm>
            <a:off x="5427487" y="8087736"/>
            <a:ext cx="91440" cy="9144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Star: 5 Points 262">
            <a:extLst>
              <a:ext uri="{FF2B5EF4-FFF2-40B4-BE49-F238E27FC236}">
                <a16:creationId xmlns:a16="http://schemas.microsoft.com/office/drawing/2014/main" id="{FCE15E39-91B3-C06E-9886-A22857AAFF77}"/>
              </a:ext>
            </a:extLst>
          </p:cNvPr>
          <p:cNvSpPr/>
          <p:nvPr/>
        </p:nvSpPr>
        <p:spPr>
          <a:xfrm>
            <a:off x="5440550" y="8101043"/>
            <a:ext cx="64008" cy="64008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03BE004F-7215-DA16-0F5F-F783E7774A16}"/>
              </a:ext>
            </a:extLst>
          </p:cNvPr>
          <p:cNvCxnSpPr>
            <a:cxnSpLocks/>
          </p:cNvCxnSpPr>
          <p:nvPr/>
        </p:nvCxnSpPr>
        <p:spPr>
          <a:xfrm>
            <a:off x="4018642" y="8512263"/>
            <a:ext cx="70574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: Curved 270">
            <a:extLst>
              <a:ext uri="{FF2B5EF4-FFF2-40B4-BE49-F238E27FC236}">
                <a16:creationId xmlns:a16="http://schemas.microsoft.com/office/drawing/2014/main" id="{7664AF70-DFB8-C5BC-C316-5550CE56E4B5}"/>
              </a:ext>
            </a:extLst>
          </p:cNvPr>
          <p:cNvCxnSpPr>
            <a:cxnSpLocks/>
            <a:stCxn id="179" idx="3"/>
            <a:endCxn id="182" idx="0"/>
          </p:cNvCxnSpPr>
          <p:nvPr/>
        </p:nvCxnSpPr>
        <p:spPr>
          <a:xfrm flipV="1">
            <a:off x="2404469" y="7143263"/>
            <a:ext cx="667011" cy="17896"/>
          </a:xfrm>
          <a:prstGeom prst="curvedConnector4">
            <a:avLst>
              <a:gd name="adj1" fmla="val -493"/>
              <a:gd name="adj2" fmla="val 7361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70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449</TotalTime>
  <Words>600</Words>
  <Application>Microsoft Office PowerPoint</Application>
  <PresentationFormat>Letter Paper (8.5x11 in)</PresentationFormat>
  <Paragraphs>94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Structured Decision Making (SDM) 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Thompson, Brielle</dc:creator>
  <cp:lastModifiedBy>Thompson, Brielle</cp:lastModifiedBy>
  <cp:revision>8</cp:revision>
  <dcterms:created xsi:type="dcterms:W3CDTF">2024-09-26T22:12:28Z</dcterms:created>
  <dcterms:modified xsi:type="dcterms:W3CDTF">2024-10-02T15:31:12Z</dcterms:modified>
</cp:coreProperties>
</file>